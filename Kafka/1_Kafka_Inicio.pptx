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72"/>
  </p:notesMasterIdLst>
  <p:handoutMasterIdLst>
    <p:handoutMasterId r:id="rId73"/>
  </p:handoutMasterIdLst>
  <p:sldIdLst>
    <p:sldId id="260" r:id="rId5"/>
    <p:sldId id="257" r:id="rId6"/>
    <p:sldId id="293" r:id="rId7"/>
    <p:sldId id="294" r:id="rId8"/>
    <p:sldId id="295" r:id="rId9"/>
    <p:sldId id="296" r:id="rId10"/>
    <p:sldId id="297" r:id="rId11"/>
    <p:sldId id="298" r:id="rId12"/>
    <p:sldId id="299" r:id="rId13"/>
    <p:sldId id="300" r:id="rId14"/>
    <p:sldId id="301" r:id="rId15"/>
    <p:sldId id="302" r:id="rId16"/>
    <p:sldId id="303" r:id="rId17"/>
    <p:sldId id="304" r:id="rId18"/>
    <p:sldId id="262" r:id="rId19"/>
    <p:sldId id="292" r:id="rId20"/>
    <p:sldId id="263" r:id="rId21"/>
    <p:sldId id="264" r:id="rId22"/>
    <p:sldId id="268" r:id="rId23"/>
    <p:sldId id="265" r:id="rId24"/>
    <p:sldId id="266" r:id="rId25"/>
    <p:sldId id="267" r:id="rId26"/>
    <p:sldId id="309" r:id="rId27"/>
    <p:sldId id="321" r:id="rId28"/>
    <p:sldId id="322" r:id="rId29"/>
    <p:sldId id="273" r:id="rId30"/>
    <p:sldId id="269" r:id="rId31"/>
    <p:sldId id="270" r:id="rId32"/>
    <p:sldId id="271" r:id="rId33"/>
    <p:sldId id="272" r:id="rId34"/>
    <p:sldId id="323" r:id="rId35"/>
    <p:sldId id="324" r:id="rId36"/>
    <p:sldId id="325" r:id="rId37"/>
    <p:sldId id="274" r:id="rId38"/>
    <p:sldId id="326" r:id="rId39"/>
    <p:sldId id="275" r:id="rId40"/>
    <p:sldId id="276" r:id="rId41"/>
    <p:sldId id="327" r:id="rId42"/>
    <p:sldId id="277" r:id="rId43"/>
    <p:sldId id="278" r:id="rId44"/>
    <p:sldId id="307" r:id="rId45"/>
    <p:sldId id="306" r:id="rId46"/>
    <p:sldId id="308" r:id="rId47"/>
    <p:sldId id="279" r:id="rId48"/>
    <p:sldId id="280" r:id="rId49"/>
    <p:sldId id="281" r:id="rId50"/>
    <p:sldId id="282" r:id="rId51"/>
    <p:sldId id="284" r:id="rId52"/>
    <p:sldId id="285" r:id="rId53"/>
    <p:sldId id="287" r:id="rId54"/>
    <p:sldId id="286" r:id="rId55"/>
    <p:sldId id="289" r:id="rId56"/>
    <p:sldId id="288" r:id="rId57"/>
    <p:sldId id="290" r:id="rId58"/>
    <p:sldId id="291" r:id="rId59"/>
    <p:sldId id="305" r:id="rId60"/>
    <p:sldId id="311" r:id="rId61"/>
    <p:sldId id="310" r:id="rId62"/>
    <p:sldId id="312" r:id="rId63"/>
    <p:sldId id="313" r:id="rId64"/>
    <p:sldId id="314" r:id="rId65"/>
    <p:sldId id="316" r:id="rId66"/>
    <p:sldId id="315" r:id="rId67"/>
    <p:sldId id="317" r:id="rId68"/>
    <p:sldId id="318" r:id="rId69"/>
    <p:sldId id="319" r:id="rId70"/>
    <p:sldId id="320" r:id="rId71"/>
  </p:sldIdLst>
  <p:sldSz cx="12192000" cy="6858000"/>
  <p:notesSz cx="6858000" cy="9144000"/>
  <p:defaultTextStyle>
    <a:defPPr rtl="0">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5" d="100"/>
          <a:sy n="95" d="100"/>
        </p:scale>
        <p:origin x="163" y="72"/>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89" d="100"/>
          <a:sy n="89" d="100"/>
        </p:scale>
        <p:origin x="3786" y="8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theme" Target="theme/theme1.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33DAF324-58DB-41BD-9925-AF02ECE1BAD8}" type="datetime1">
              <a:rPr lang="es-ES" smtClean="0"/>
              <a:t>16/01/2026</a:t>
            </a:fld>
            <a:endParaRPr lang="es-ES"/>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a:p>
        </p:txBody>
      </p:sp>
      <p:sp>
        <p:nvSpPr>
          <p:cNvPr id="5" name="Marcador de posición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7A45484C-7992-44E9-9002-213D76072A08}" type="slidenum">
              <a:rPr lang="es-ES" smtClean="0"/>
              <a:t>‹Nº›</a:t>
            </a:fld>
            <a:endParaRPr lang="es-ES"/>
          </a:p>
        </p:txBody>
      </p:sp>
    </p:spTree>
    <p:extLst>
      <p:ext uri="{BB962C8B-B14F-4D97-AF65-F5344CB8AC3E}">
        <p14:creationId xmlns:p14="http://schemas.microsoft.com/office/powerpoint/2010/main" val="251592165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E04D53AE-2037-4E76-9C56-D930AC0CC471}" type="datetime1">
              <a:rPr lang="es-ES" noProof="0" smtClean="0"/>
              <a:t>16/01/2026</a:t>
            </a:fld>
            <a:endParaRPr lang="es-ES" noProof="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noProof="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B524A772-5D94-4F12-8B86-44D4FB26368F}" type="slidenum">
              <a:rPr lang="es-ES" noProof="0" smtClean="0"/>
              <a:t>‹Nº›</a:t>
            </a:fld>
            <a:endParaRPr lang="es-ES" noProof="0"/>
          </a:p>
        </p:txBody>
      </p:sp>
    </p:spTree>
    <p:extLst>
      <p:ext uri="{BB962C8B-B14F-4D97-AF65-F5344CB8AC3E}">
        <p14:creationId xmlns:p14="http://schemas.microsoft.com/office/powerpoint/2010/main" val="26884203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posición de número de diapositiva 3"/>
          <p:cNvSpPr>
            <a:spLocks noGrp="1"/>
          </p:cNvSpPr>
          <p:nvPr>
            <p:ph type="sldNum" sz="quarter" idx="10"/>
          </p:nvPr>
        </p:nvSpPr>
        <p:spPr/>
        <p:txBody>
          <a:bodyPr rtlCol="0"/>
          <a:lstStyle/>
          <a:p>
            <a:pPr rtl="0"/>
            <a:fld id="{B524A772-5D94-4F12-8B86-44D4FB26368F}" type="slidenum">
              <a:rPr lang="es-ES" smtClean="0"/>
              <a:t>1</a:t>
            </a:fld>
            <a:endParaRPr lang="es-ES"/>
          </a:p>
        </p:txBody>
      </p:sp>
    </p:spTree>
    <p:extLst>
      <p:ext uri="{BB962C8B-B14F-4D97-AF65-F5344CB8AC3E}">
        <p14:creationId xmlns:p14="http://schemas.microsoft.com/office/powerpoint/2010/main" val="5174109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posición de número de diapositiva 3"/>
          <p:cNvSpPr>
            <a:spLocks noGrp="1"/>
          </p:cNvSpPr>
          <p:nvPr>
            <p:ph type="sldNum" sz="quarter" idx="10"/>
          </p:nvPr>
        </p:nvSpPr>
        <p:spPr/>
        <p:txBody>
          <a:bodyPr rtlCol="0"/>
          <a:lstStyle/>
          <a:p>
            <a:pPr rtl="0"/>
            <a:fld id="{B524A772-5D94-4F12-8B86-44D4FB26368F}" type="slidenum">
              <a:rPr lang="es-ES" smtClean="0"/>
              <a:t>2</a:t>
            </a:fld>
            <a:endParaRPr lang="es-ES"/>
          </a:p>
        </p:txBody>
      </p:sp>
    </p:spTree>
    <p:extLst>
      <p:ext uri="{BB962C8B-B14F-4D97-AF65-F5344CB8AC3E}">
        <p14:creationId xmlns:p14="http://schemas.microsoft.com/office/powerpoint/2010/main" val="8016142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396C5-1882-0AEA-4A06-9D444C50AC7B}"/>
            </a:ext>
          </a:extLst>
        </p:cNvPr>
        <p:cNvGrpSpPr/>
        <p:nvPr/>
      </p:nvGrpSpPr>
      <p:grpSpPr>
        <a:xfrm>
          <a:off x="0" y="0"/>
          <a:ext cx="0" cy="0"/>
          <a:chOff x="0" y="0"/>
          <a:chExt cx="0" cy="0"/>
        </a:xfrm>
      </p:grpSpPr>
      <p:sp>
        <p:nvSpPr>
          <p:cNvPr id="2" name="Marcador de posición de imagen de diapositiva 1">
            <a:extLst>
              <a:ext uri="{FF2B5EF4-FFF2-40B4-BE49-F238E27FC236}">
                <a16:creationId xmlns:a16="http://schemas.microsoft.com/office/drawing/2014/main" id="{27165177-5244-2DC0-F15F-9461AF1BC2B0}"/>
              </a:ext>
            </a:extLst>
          </p:cNvPr>
          <p:cNvSpPr>
            <a:spLocks noGrp="1" noRot="1" noChangeAspect="1"/>
          </p:cNvSpPr>
          <p:nvPr>
            <p:ph type="sldImg"/>
          </p:nvPr>
        </p:nvSpPr>
        <p:spPr/>
      </p:sp>
      <p:sp>
        <p:nvSpPr>
          <p:cNvPr id="3" name="Marcador de posición de notas 2">
            <a:extLst>
              <a:ext uri="{FF2B5EF4-FFF2-40B4-BE49-F238E27FC236}">
                <a16:creationId xmlns:a16="http://schemas.microsoft.com/office/drawing/2014/main" id="{424BA142-1E40-4C4C-ED19-DD144CDEE6C2}"/>
              </a:ext>
            </a:extLst>
          </p:cNvPr>
          <p:cNvSpPr>
            <a:spLocks noGrp="1"/>
          </p:cNvSpPr>
          <p:nvPr>
            <p:ph type="body" idx="1"/>
          </p:nvPr>
        </p:nvSpPr>
        <p:spPr/>
        <p:txBody>
          <a:bodyPr rtlCol="0"/>
          <a:lstStyle/>
          <a:p>
            <a:pPr rtl="0"/>
            <a:endParaRPr lang="es-ES"/>
          </a:p>
        </p:txBody>
      </p:sp>
      <p:sp>
        <p:nvSpPr>
          <p:cNvPr id="4" name="Marcador de posición de número de diapositiva 3">
            <a:extLst>
              <a:ext uri="{FF2B5EF4-FFF2-40B4-BE49-F238E27FC236}">
                <a16:creationId xmlns:a16="http://schemas.microsoft.com/office/drawing/2014/main" id="{03A87127-36F9-E591-EE88-141F76B31CB1}"/>
              </a:ext>
            </a:extLst>
          </p:cNvPr>
          <p:cNvSpPr>
            <a:spLocks noGrp="1"/>
          </p:cNvSpPr>
          <p:nvPr>
            <p:ph type="sldNum" sz="quarter" idx="10"/>
          </p:nvPr>
        </p:nvSpPr>
        <p:spPr/>
        <p:txBody>
          <a:bodyPr rtlCol="0"/>
          <a:lstStyle/>
          <a:p>
            <a:pPr rtl="0"/>
            <a:fld id="{B524A772-5D94-4F12-8B86-44D4FB26368F}" type="slidenum">
              <a:rPr lang="es-ES" smtClean="0"/>
              <a:t>14</a:t>
            </a:fld>
            <a:endParaRPr lang="es-ES"/>
          </a:p>
        </p:txBody>
      </p:sp>
    </p:spTree>
    <p:extLst>
      <p:ext uri="{BB962C8B-B14F-4D97-AF65-F5344CB8AC3E}">
        <p14:creationId xmlns:p14="http://schemas.microsoft.com/office/powerpoint/2010/main" val="39169039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C1C35-0E66-9B91-DBB3-9690502E1F2F}"/>
            </a:ext>
          </a:extLst>
        </p:cNvPr>
        <p:cNvGrpSpPr/>
        <p:nvPr/>
      </p:nvGrpSpPr>
      <p:grpSpPr>
        <a:xfrm>
          <a:off x="0" y="0"/>
          <a:ext cx="0" cy="0"/>
          <a:chOff x="0" y="0"/>
          <a:chExt cx="0" cy="0"/>
        </a:xfrm>
      </p:grpSpPr>
      <p:sp>
        <p:nvSpPr>
          <p:cNvPr id="2" name="Marcador de posición de imagen de diapositiva 1">
            <a:extLst>
              <a:ext uri="{FF2B5EF4-FFF2-40B4-BE49-F238E27FC236}">
                <a16:creationId xmlns:a16="http://schemas.microsoft.com/office/drawing/2014/main" id="{83B73EF3-A0AB-5F5B-C42E-1506302EA285}"/>
              </a:ext>
            </a:extLst>
          </p:cNvPr>
          <p:cNvSpPr>
            <a:spLocks noGrp="1" noRot="1" noChangeAspect="1"/>
          </p:cNvSpPr>
          <p:nvPr>
            <p:ph type="sldImg"/>
          </p:nvPr>
        </p:nvSpPr>
        <p:spPr/>
      </p:sp>
      <p:sp>
        <p:nvSpPr>
          <p:cNvPr id="3" name="Marcador de posición de notas 2">
            <a:extLst>
              <a:ext uri="{FF2B5EF4-FFF2-40B4-BE49-F238E27FC236}">
                <a16:creationId xmlns:a16="http://schemas.microsoft.com/office/drawing/2014/main" id="{CB5BD89A-9209-673C-3778-3CB1F6CAC52A}"/>
              </a:ext>
            </a:extLst>
          </p:cNvPr>
          <p:cNvSpPr>
            <a:spLocks noGrp="1"/>
          </p:cNvSpPr>
          <p:nvPr>
            <p:ph type="body" idx="1"/>
          </p:nvPr>
        </p:nvSpPr>
        <p:spPr/>
        <p:txBody>
          <a:bodyPr rtlCol="0"/>
          <a:lstStyle/>
          <a:p>
            <a:pPr rtl="0"/>
            <a:endParaRPr lang="es-ES"/>
          </a:p>
        </p:txBody>
      </p:sp>
      <p:sp>
        <p:nvSpPr>
          <p:cNvPr id="4" name="Marcador de posición de número de diapositiva 3">
            <a:extLst>
              <a:ext uri="{FF2B5EF4-FFF2-40B4-BE49-F238E27FC236}">
                <a16:creationId xmlns:a16="http://schemas.microsoft.com/office/drawing/2014/main" id="{F08570EA-3DDA-0891-4520-E2C7DEBFAE5E}"/>
              </a:ext>
            </a:extLst>
          </p:cNvPr>
          <p:cNvSpPr>
            <a:spLocks noGrp="1"/>
          </p:cNvSpPr>
          <p:nvPr>
            <p:ph type="sldNum" sz="quarter" idx="10"/>
          </p:nvPr>
        </p:nvSpPr>
        <p:spPr/>
        <p:txBody>
          <a:bodyPr rtlCol="0"/>
          <a:lstStyle/>
          <a:p>
            <a:pPr rtl="0"/>
            <a:fld id="{B524A772-5D94-4F12-8B86-44D4FB26368F}" type="slidenum">
              <a:rPr lang="es-ES" smtClean="0"/>
              <a:t>19</a:t>
            </a:fld>
            <a:endParaRPr lang="es-ES"/>
          </a:p>
        </p:txBody>
      </p:sp>
    </p:spTree>
    <p:extLst>
      <p:ext uri="{BB962C8B-B14F-4D97-AF65-F5344CB8AC3E}">
        <p14:creationId xmlns:p14="http://schemas.microsoft.com/office/powerpoint/2010/main" val="26211429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AD94E-99FE-6341-39CD-6F3B155E884F}"/>
            </a:ext>
          </a:extLst>
        </p:cNvPr>
        <p:cNvGrpSpPr/>
        <p:nvPr/>
      </p:nvGrpSpPr>
      <p:grpSpPr>
        <a:xfrm>
          <a:off x="0" y="0"/>
          <a:ext cx="0" cy="0"/>
          <a:chOff x="0" y="0"/>
          <a:chExt cx="0" cy="0"/>
        </a:xfrm>
      </p:grpSpPr>
      <p:sp>
        <p:nvSpPr>
          <p:cNvPr id="2" name="Marcador de posición de imagen de diapositiva 1">
            <a:extLst>
              <a:ext uri="{FF2B5EF4-FFF2-40B4-BE49-F238E27FC236}">
                <a16:creationId xmlns:a16="http://schemas.microsoft.com/office/drawing/2014/main" id="{E669DBE1-C5F9-5696-0652-AD0E00403E7F}"/>
              </a:ext>
            </a:extLst>
          </p:cNvPr>
          <p:cNvSpPr>
            <a:spLocks noGrp="1" noRot="1" noChangeAspect="1"/>
          </p:cNvSpPr>
          <p:nvPr>
            <p:ph type="sldImg"/>
          </p:nvPr>
        </p:nvSpPr>
        <p:spPr/>
      </p:sp>
      <p:sp>
        <p:nvSpPr>
          <p:cNvPr id="3" name="Marcador de posición de notas 2">
            <a:extLst>
              <a:ext uri="{FF2B5EF4-FFF2-40B4-BE49-F238E27FC236}">
                <a16:creationId xmlns:a16="http://schemas.microsoft.com/office/drawing/2014/main" id="{7AE07B45-8565-8F3D-961A-A1C2BCB189E0}"/>
              </a:ext>
            </a:extLst>
          </p:cNvPr>
          <p:cNvSpPr>
            <a:spLocks noGrp="1"/>
          </p:cNvSpPr>
          <p:nvPr>
            <p:ph type="body" idx="1"/>
          </p:nvPr>
        </p:nvSpPr>
        <p:spPr/>
        <p:txBody>
          <a:bodyPr rtlCol="0"/>
          <a:lstStyle/>
          <a:p>
            <a:pPr rtl="0"/>
            <a:endParaRPr lang="es-ES"/>
          </a:p>
        </p:txBody>
      </p:sp>
      <p:sp>
        <p:nvSpPr>
          <p:cNvPr id="4" name="Marcador de posición de número de diapositiva 3">
            <a:extLst>
              <a:ext uri="{FF2B5EF4-FFF2-40B4-BE49-F238E27FC236}">
                <a16:creationId xmlns:a16="http://schemas.microsoft.com/office/drawing/2014/main" id="{24A9E4EA-7C35-DFFF-0D6C-F4A0401F69A8}"/>
              </a:ext>
            </a:extLst>
          </p:cNvPr>
          <p:cNvSpPr>
            <a:spLocks noGrp="1"/>
          </p:cNvSpPr>
          <p:nvPr>
            <p:ph type="sldNum" sz="quarter" idx="10"/>
          </p:nvPr>
        </p:nvSpPr>
        <p:spPr/>
        <p:txBody>
          <a:bodyPr rtlCol="0"/>
          <a:lstStyle/>
          <a:p>
            <a:pPr rtl="0"/>
            <a:fld id="{B524A772-5D94-4F12-8B86-44D4FB26368F}" type="slidenum">
              <a:rPr lang="es-ES" smtClean="0"/>
              <a:t>41</a:t>
            </a:fld>
            <a:endParaRPr lang="es-ES"/>
          </a:p>
        </p:txBody>
      </p:sp>
    </p:spTree>
    <p:extLst>
      <p:ext uri="{BB962C8B-B14F-4D97-AF65-F5344CB8AC3E}">
        <p14:creationId xmlns:p14="http://schemas.microsoft.com/office/powerpoint/2010/main" val="24480604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02978-3133-3C69-5FAC-9A7683373F8C}"/>
            </a:ext>
          </a:extLst>
        </p:cNvPr>
        <p:cNvGrpSpPr/>
        <p:nvPr/>
      </p:nvGrpSpPr>
      <p:grpSpPr>
        <a:xfrm>
          <a:off x="0" y="0"/>
          <a:ext cx="0" cy="0"/>
          <a:chOff x="0" y="0"/>
          <a:chExt cx="0" cy="0"/>
        </a:xfrm>
      </p:grpSpPr>
      <p:sp>
        <p:nvSpPr>
          <p:cNvPr id="2" name="Marcador de posición de imagen de diapositiva 1">
            <a:extLst>
              <a:ext uri="{FF2B5EF4-FFF2-40B4-BE49-F238E27FC236}">
                <a16:creationId xmlns:a16="http://schemas.microsoft.com/office/drawing/2014/main" id="{9AA20D66-6CA9-95C7-1CCE-D7B8A69A7646}"/>
              </a:ext>
            </a:extLst>
          </p:cNvPr>
          <p:cNvSpPr>
            <a:spLocks noGrp="1" noRot="1" noChangeAspect="1"/>
          </p:cNvSpPr>
          <p:nvPr>
            <p:ph type="sldImg"/>
          </p:nvPr>
        </p:nvSpPr>
        <p:spPr/>
      </p:sp>
      <p:sp>
        <p:nvSpPr>
          <p:cNvPr id="3" name="Marcador de posición de notas 2">
            <a:extLst>
              <a:ext uri="{FF2B5EF4-FFF2-40B4-BE49-F238E27FC236}">
                <a16:creationId xmlns:a16="http://schemas.microsoft.com/office/drawing/2014/main" id="{069912A1-E8E9-D723-8FD2-21C3929AAF9D}"/>
              </a:ext>
            </a:extLst>
          </p:cNvPr>
          <p:cNvSpPr>
            <a:spLocks noGrp="1"/>
          </p:cNvSpPr>
          <p:nvPr>
            <p:ph type="body" idx="1"/>
          </p:nvPr>
        </p:nvSpPr>
        <p:spPr/>
        <p:txBody>
          <a:bodyPr rtlCol="0"/>
          <a:lstStyle/>
          <a:p>
            <a:pPr rtl="0"/>
            <a:endParaRPr lang="es-ES"/>
          </a:p>
        </p:txBody>
      </p:sp>
      <p:sp>
        <p:nvSpPr>
          <p:cNvPr id="4" name="Marcador de posición de número de diapositiva 3">
            <a:extLst>
              <a:ext uri="{FF2B5EF4-FFF2-40B4-BE49-F238E27FC236}">
                <a16:creationId xmlns:a16="http://schemas.microsoft.com/office/drawing/2014/main" id="{71514A85-48CF-84E9-2961-A46C242CBE20}"/>
              </a:ext>
            </a:extLst>
          </p:cNvPr>
          <p:cNvSpPr>
            <a:spLocks noGrp="1"/>
          </p:cNvSpPr>
          <p:nvPr>
            <p:ph type="sldNum" sz="quarter" idx="10"/>
          </p:nvPr>
        </p:nvSpPr>
        <p:spPr/>
        <p:txBody>
          <a:bodyPr rtlCol="0"/>
          <a:lstStyle/>
          <a:p>
            <a:pPr rtl="0"/>
            <a:fld id="{B524A772-5D94-4F12-8B86-44D4FB26368F}" type="slidenum">
              <a:rPr lang="es-ES" smtClean="0"/>
              <a:t>44</a:t>
            </a:fld>
            <a:endParaRPr lang="es-ES"/>
          </a:p>
        </p:txBody>
      </p:sp>
    </p:spTree>
    <p:extLst>
      <p:ext uri="{BB962C8B-B14F-4D97-AF65-F5344CB8AC3E}">
        <p14:creationId xmlns:p14="http://schemas.microsoft.com/office/powerpoint/2010/main" val="7026556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FE34C-5EC5-EEEB-CF53-D28E9B2AFBBF}"/>
            </a:ext>
          </a:extLst>
        </p:cNvPr>
        <p:cNvGrpSpPr/>
        <p:nvPr/>
      </p:nvGrpSpPr>
      <p:grpSpPr>
        <a:xfrm>
          <a:off x="0" y="0"/>
          <a:ext cx="0" cy="0"/>
          <a:chOff x="0" y="0"/>
          <a:chExt cx="0" cy="0"/>
        </a:xfrm>
      </p:grpSpPr>
      <p:sp>
        <p:nvSpPr>
          <p:cNvPr id="2" name="Marcador de posición de imagen de diapositiva 1">
            <a:extLst>
              <a:ext uri="{FF2B5EF4-FFF2-40B4-BE49-F238E27FC236}">
                <a16:creationId xmlns:a16="http://schemas.microsoft.com/office/drawing/2014/main" id="{89A7E106-C1C2-F186-0112-D89002964623}"/>
              </a:ext>
            </a:extLst>
          </p:cNvPr>
          <p:cNvSpPr>
            <a:spLocks noGrp="1" noRot="1" noChangeAspect="1"/>
          </p:cNvSpPr>
          <p:nvPr>
            <p:ph type="sldImg"/>
          </p:nvPr>
        </p:nvSpPr>
        <p:spPr/>
      </p:sp>
      <p:sp>
        <p:nvSpPr>
          <p:cNvPr id="3" name="Marcador de posición de notas 2">
            <a:extLst>
              <a:ext uri="{FF2B5EF4-FFF2-40B4-BE49-F238E27FC236}">
                <a16:creationId xmlns:a16="http://schemas.microsoft.com/office/drawing/2014/main" id="{98E941DC-2820-FE41-313A-42BCFEAFCF63}"/>
              </a:ext>
            </a:extLst>
          </p:cNvPr>
          <p:cNvSpPr>
            <a:spLocks noGrp="1"/>
          </p:cNvSpPr>
          <p:nvPr>
            <p:ph type="body" idx="1"/>
          </p:nvPr>
        </p:nvSpPr>
        <p:spPr/>
        <p:txBody>
          <a:bodyPr rtlCol="0"/>
          <a:lstStyle/>
          <a:p>
            <a:pPr rtl="0"/>
            <a:endParaRPr lang="es-ES"/>
          </a:p>
        </p:txBody>
      </p:sp>
      <p:sp>
        <p:nvSpPr>
          <p:cNvPr id="4" name="Marcador de posición de número de diapositiva 3">
            <a:extLst>
              <a:ext uri="{FF2B5EF4-FFF2-40B4-BE49-F238E27FC236}">
                <a16:creationId xmlns:a16="http://schemas.microsoft.com/office/drawing/2014/main" id="{8A8A573A-4AF8-14FE-7073-1753FF361351}"/>
              </a:ext>
            </a:extLst>
          </p:cNvPr>
          <p:cNvSpPr>
            <a:spLocks noGrp="1"/>
          </p:cNvSpPr>
          <p:nvPr>
            <p:ph type="sldNum" sz="quarter" idx="10"/>
          </p:nvPr>
        </p:nvSpPr>
        <p:spPr/>
        <p:txBody>
          <a:bodyPr rtlCol="0"/>
          <a:lstStyle/>
          <a:p>
            <a:pPr rtl="0"/>
            <a:fld id="{B524A772-5D94-4F12-8B86-44D4FB26368F}" type="slidenum">
              <a:rPr lang="es-ES" smtClean="0"/>
              <a:t>52</a:t>
            </a:fld>
            <a:endParaRPr lang="es-ES"/>
          </a:p>
        </p:txBody>
      </p:sp>
    </p:spTree>
    <p:extLst>
      <p:ext uri="{BB962C8B-B14F-4D97-AF65-F5344CB8AC3E}">
        <p14:creationId xmlns:p14="http://schemas.microsoft.com/office/powerpoint/2010/main" val="37030503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49918-84DC-268C-1744-2907ABB031B4}"/>
            </a:ext>
          </a:extLst>
        </p:cNvPr>
        <p:cNvGrpSpPr/>
        <p:nvPr/>
      </p:nvGrpSpPr>
      <p:grpSpPr>
        <a:xfrm>
          <a:off x="0" y="0"/>
          <a:ext cx="0" cy="0"/>
          <a:chOff x="0" y="0"/>
          <a:chExt cx="0" cy="0"/>
        </a:xfrm>
      </p:grpSpPr>
      <p:sp>
        <p:nvSpPr>
          <p:cNvPr id="2" name="Marcador de posición de imagen de diapositiva 1">
            <a:extLst>
              <a:ext uri="{FF2B5EF4-FFF2-40B4-BE49-F238E27FC236}">
                <a16:creationId xmlns:a16="http://schemas.microsoft.com/office/drawing/2014/main" id="{80BCFFF1-9DB3-3823-36F6-805F84DD26C0}"/>
              </a:ext>
            </a:extLst>
          </p:cNvPr>
          <p:cNvSpPr>
            <a:spLocks noGrp="1" noRot="1" noChangeAspect="1"/>
          </p:cNvSpPr>
          <p:nvPr>
            <p:ph type="sldImg"/>
          </p:nvPr>
        </p:nvSpPr>
        <p:spPr/>
      </p:sp>
      <p:sp>
        <p:nvSpPr>
          <p:cNvPr id="3" name="Marcador de posición de notas 2">
            <a:extLst>
              <a:ext uri="{FF2B5EF4-FFF2-40B4-BE49-F238E27FC236}">
                <a16:creationId xmlns:a16="http://schemas.microsoft.com/office/drawing/2014/main" id="{1002F31C-AF58-4FB3-D896-C5CD3651C3A3}"/>
              </a:ext>
            </a:extLst>
          </p:cNvPr>
          <p:cNvSpPr>
            <a:spLocks noGrp="1"/>
          </p:cNvSpPr>
          <p:nvPr>
            <p:ph type="body" idx="1"/>
          </p:nvPr>
        </p:nvSpPr>
        <p:spPr/>
        <p:txBody>
          <a:bodyPr rtlCol="0"/>
          <a:lstStyle/>
          <a:p>
            <a:pPr rtl="0"/>
            <a:endParaRPr lang="es-ES"/>
          </a:p>
        </p:txBody>
      </p:sp>
      <p:sp>
        <p:nvSpPr>
          <p:cNvPr id="4" name="Marcador de posición de número de diapositiva 3">
            <a:extLst>
              <a:ext uri="{FF2B5EF4-FFF2-40B4-BE49-F238E27FC236}">
                <a16:creationId xmlns:a16="http://schemas.microsoft.com/office/drawing/2014/main" id="{A9E0C508-1C5E-3818-4274-1AE4587D8003}"/>
              </a:ext>
            </a:extLst>
          </p:cNvPr>
          <p:cNvSpPr>
            <a:spLocks noGrp="1"/>
          </p:cNvSpPr>
          <p:nvPr>
            <p:ph type="sldNum" sz="quarter" idx="10"/>
          </p:nvPr>
        </p:nvSpPr>
        <p:spPr/>
        <p:txBody>
          <a:bodyPr rtlCol="0"/>
          <a:lstStyle/>
          <a:p>
            <a:pPr rtl="0"/>
            <a:fld id="{B524A772-5D94-4F12-8B86-44D4FB26368F}" type="slidenum">
              <a:rPr lang="es-ES" smtClean="0"/>
              <a:t>57</a:t>
            </a:fld>
            <a:endParaRPr lang="es-ES"/>
          </a:p>
        </p:txBody>
      </p:sp>
    </p:spTree>
    <p:extLst>
      <p:ext uri="{BB962C8B-B14F-4D97-AF65-F5344CB8AC3E}">
        <p14:creationId xmlns:p14="http://schemas.microsoft.com/office/powerpoint/2010/main" val="40333157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19" name="Grupo 18"/>
          <p:cNvGrpSpPr/>
          <p:nvPr/>
        </p:nvGrpSpPr>
        <p:grpSpPr>
          <a:xfrm>
            <a:off x="546100" y="-4763"/>
            <a:ext cx="5014912" cy="6862763"/>
            <a:chOff x="2928938" y="-4763"/>
            <a:chExt cx="5014912" cy="6862763"/>
          </a:xfrm>
        </p:grpSpPr>
        <p:sp>
          <p:nvSpPr>
            <p:cNvPr id="22" name="Forma libre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s-ES"/>
            </a:p>
          </p:txBody>
        </p:sp>
        <p:sp>
          <p:nvSpPr>
            <p:cNvPr id="23" name="Forma libre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s-ES"/>
            </a:p>
          </p:txBody>
        </p:sp>
        <p:sp>
          <p:nvSpPr>
            <p:cNvPr id="24" name="Forma libre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s-ES"/>
            </a:p>
          </p:txBody>
        </p:sp>
        <p:sp>
          <p:nvSpPr>
            <p:cNvPr id="25" name="Forma libre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s-ES"/>
            </a:p>
          </p:txBody>
        </p:sp>
        <p:sp>
          <p:nvSpPr>
            <p:cNvPr id="26" name="Forma libre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s-ES"/>
            </a:p>
          </p:txBody>
        </p:sp>
        <p:sp>
          <p:nvSpPr>
            <p:cNvPr id="27" name="Forma libre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s-ES"/>
            </a:p>
          </p:txBody>
        </p:sp>
      </p:grpSp>
      <p:sp>
        <p:nvSpPr>
          <p:cNvPr id="2" name="Título 1"/>
          <p:cNvSpPr>
            <a:spLocks noGrp="1"/>
          </p:cNvSpPr>
          <p:nvPr>
            <p:ph type="ctrTitle"/>
          </p:nvPr>
        </p:nvSpPr>
        <p:spPr>
          <a:xfrm>
            <a:off x="2928401" y="1380068"/>
            <a:ext cx="8574622" cy="2616199"/>
          </a:xfrm>
        </p:spPr>
        <p:txBody>
          <a:bodyPr rtlCol="0" anchor="b">
            <a:normAutofit/>
          </a:bodyPr>
          <a:lstStyle>
            <a:lvl1pPr algn="r">
              <a:defRPr sz="6000">
                <a:effectLst/>
              </a:defRPr>
            </a:lvl1pPr>
          </a:lstStyle>
          <a:p>
            <a:pPr rtl="0"/>
            <a:r>
              <a:rPr lang="es-ES" noProof="0"/>
              <a:t>Haga clic para modificar el estilo de título del patrón</a:t>
            </a:r>
          </a:p>
        </p:txBody>
      </p:sp>
      <p:sp>
        <p:nvSpPr>
          <p:cNvPr id="3" name="Subtítulo 2"/>
          <p:cNvSpPr>
            <a:spLocks noGrp="1"/>
          </p:cNvSpPr>
          <p:nvPr>
            <p:ph type="subTitle" idx="1" hasCustomPrompt="1"/>
          </p:nvPr>
        </p:nvSpPr>
        <p:spPr>
          <a:xfrm>
            <a:off x="4515377" y="3996267"/>
            <a:ext cx="6987645" cy="1388534"/>
          </a:xfrm>
        </p:spPr>
        <p:txBody>
          <a:bodyPr rtlCol="0"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es-ES" noProof="0"/>
              <a:t>Haga clic para editar el estilo de subtítulo del patrón</a:t>
            </a:r>
          </a:p>
        </p:txBody>
      </p:sp>
      <p:sp>
        <p:nvSpPr>
          <p:cNvPr id="4" name="Marcador de fecha 3"/>
          <p:cNvSpPr>
            <a:spLocks noGrp="1"/>
          </p:cNvSpPr>
          <p:nvPr>
            <p:ph type="dt" sz="half" idx="10"/>
          </p:nvPr>
        </p:nvSpPr>
        <p:spPr/>
        <p:txBody>
          <a:bodyPr rtlCol="0"/>
          <a:lstStyle/>
          <a:p>
            <a:pPr rtl="0"/>
            <a:fld id="{16916062-716F-4BB4-A997-8E8BEE4C9025}" type="datetime1">
              <a:rPr lang="es-ES" noProof="0" smtClean="0"/>
              <a:t>16/01/2026</a:t>
            </a:fld>
            <a:endParaRPr lang="es-ES" noProof="0"/>
          </a:p>
        </p:txBody>
      </p:sp>
      <p:sp>
        <p:nvSpPr>
          <p:cNvPr id="5" name="Marcador de posición de pie de página 4"/>
          <p:cNvSpPr>
            <a:spLocks noGrp="1"/>
          </p:cNvSpPr>
          <p:nvPr>
            <p:ph type="ftr" sz="quarter" idx="11"/>
          </p:nvPr>
        </p:nvSpPr>
        <p:spPr>
          <a:xfrm>
            <a:off x="5332412" y="5883275"/>
            <a:ext cx="4324044" cy="365125"/>
          </a:xfrm>
        </p:spPr>
        <p:txBody>
          <a:bodyPr rtlCol="0"/>
          <a:lstStyle/>
          <a:p>
            <a:pPr rtl="0"/>
            <a:endParaRPr lang="es-ES" noProof="0"/>
          </a:p>
        </p:txBody>
      </p:sp>
      <p:sp>
        <p:nvSpPr>
          <p:cNvPr id="6" name="Marcador de número de diapositiva 5"/>
          <p:cNvSpPr>
            <a:spLocks noGrp="1"/>
          </p:cNvSpPr>
          <p:nvPr>
            <p:ph type="sldNum" sz="quarter" idx="12"/>
          </p:nvPr>
        </p:nvSpPr>
        <p:spPr/>
        <p:txBody>
          <a:bodyPr rtlCol="0"/>
          <a:lstStyle/>
          <a:p>
            <a:pPr rtl="0"/>
            <a:fld id="{D57F1E4F-1CFF-5643-939E-217C01CDF565}" type="slidenum">
              <a:rPr lang="es-ES" noProof="0" smtClean="0"/>
              <a:pPr rtl="0"/>
              <a:t>‹Nº›</a:t>
            </a:fld>
            <a:endParaRPr lang="es-ES" noProof="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a:t>Haga clic para modificar el estilo de título del patrón</a:t>
            </a:r>
          </a:p>
        </p:txBody>
      </p:sp>
      <p:sp>
        <p:nvSpPr>
          <p:cNvPr id="3" name="Marcador de posición de contenido 2"/>
          <p:cNvSpPr>
            <a:spLocks noGrp="1"/>
          </p:cNvSpPr>
          <p:nvPr>
            <p:ph idx="1"/>
          </p:nvPr>
        </p:nvSpPr>
        <p:spPr/>
        <p:txBody>
          <a:bodyPr rtlCol="0" anchor="ct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10"/>
          </p:nvPr>
        </p:nvSpPr>
        <p:spPr/>
        <p:txBody>
          <a:bodyPr rtlCol="0"/>
          <a:lstStyle/>
          <a:p>
            <a:pPr rtl="0"/>
            <a:fld id="{EC97F429-668E-40BD-833F-582534829C3D}" type="datetime1">
              <a:rPr lang="es-ES" noProof="0" smtClean="0"/>
              <a:t>16/01/2026</a:t>
            </a:fld>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posición de número de diapositiva 5"/>
          <p:cNvSpPr>
            <a:spLocks noGrp="1"/>
          </p:cNvSpPr>
          <p:nvPr>
            <p:ph type="sldNum" sz="quarter" idx="12"/>
          </p:nvPr>
        </p:nvSpPr>
        <p:spPr>
          <a:xfrm>
            <a:off x="10951856" y="5867131"/>
            <a:ext cx="551167" cy="365125"/>
          </a:xfrm>
        </p:spPr>
        <p:txBody>
          <a:bodyPr rtlCol="0"/>
          <a:lstStyle/>
          <a:p>
            <a:pPr rtl="0"/>
            <a:fld id="{D57F1E4F-1CFF-5643-939E-217C01CDF565}" type="slidenum">
              <a:rPr lang="es-ES" noProof="0" smtClean="0"/>
              <a:pPr rtl="0"/>
              <a:t>‹Nº›</a:t>
            </a:fld>
            <a:endParaRPr lang="es-ES" noProof="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2572279" y="2666999"/>
            <a:ext cx="8930747" cy="2110382"/>
          </a:xfrm>
        </p:spPr>
        <p:txBody>
          <a:bodyPr rtlCol="0" anchor="b"/>
          <a:lstStyle>
            <a:lvl1pPr algn="r">
              <a:defRPr sz="4000" b="0" cap="none"/>
            </a:lvl1pPr>
          </a:lstStyle>
          <a:p>
            <a:pPr rtl="0"/>
            <a:r>
              <a:rPr lang="es-ES" noProof="0"/>
              <a:t>Haga clic para modificar el estilo de título del patrón</a:t>
            </a:r>
          </a:p>
        </p:txBody>
      </p:sp>
      <p:sp>
        <p:nvSpPr>
          <p:cNvPr id="3" name="Marcador de posición de texto 2"/>
          <p:cNvSpPr>
            <a:spLocks noGrp="1"/>
          </p:cNvSpPr>
          <p:nvPr>
            <p:ph type="body" idx="1"/>
          </p:nvPr>
        </p:nvSpPr>
        <p:spPr>
          <a:xfrm>
            <a:off x="2572278" y="4777381"/>
            <a:ext cx="8930748" cy="860400"/>
          </a:xfrm>
        </p:spPr>
        <p:txBody>
          <a:bodyPr rtlCol="0"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s-ES" noProof="0"/>
              <a:t>Haga clic para modificar los estilos de texto del patrón</a:t>
            </a:r>
          </a:p>
        </p:txBody>
      </p:sp>
      <p:sp>
        <p:nvSpPr>
          <p:cNvPr id="4" name="Marcador de fecha 3"/>
          <p:cNvSpPr>
            <a:spLocks noGrp="1"/>
          </p:cNvSpPr>
          <p:nvPr>
            <p:ph type="dt" sz="half" idx="10"/>
          </p:nvPr>
        </p:nvSpPr>
        <p:spPr/>
        <p:txBody>
          <a:bodyPr rtlCol="0"/>
          <a:lstStyle/>
          <a:p>
            <a:pPr rtl="0"/>
            <a:fld id="{36DEBA0E-06BE-4B5A-80C3-062E849A7D60}" type="datetime1">
              <a:rPr lang="es-ES" noProof="0" smtClean="0"/>
              <a:t>16/01/2026</a:t>
            </a:fld>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posición de número de diapositiva 5"/>
          <p:cNvSpPr>
            <a:spLocks noGrp="1"/>
          </p:cNvSpPr>
          <p:nvPr>
            <p:ph type="sldNum" sz="quarter" idx="12"/>
          </p:nvPr>
        </p:nvSpPr>
        <p:spPr/>
        <p:txBody>
          <a:bodyPr rtlCol="0"/>
          <a:lstStyle/>
          <a:p>
            <a:pPr rtl="0"/>
            <a:fld id="{D57F1E4F-1CFF-5643-939E-217C01CDF565}" type="slidenum">
              <a:rPr lang="es-ES" noProof="0" smtClean="0"/>
              <a:pPr rtl="0"/>
              <a:t>‹Nº›</a:t>
            </a:fld>
            <a:endParaRPr lang="es-ES" noProof="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a:xfrm>
            <a:off x="1484311" y="685800"/>
            <a:ext cx="10018713" cy="1752599"/>
          </a:xfrm>
        </p:spPr>
        <p:txBody>
          <a:bodyPr rtlCol="0"/>
          <a:lstStyle/>
          <a:p>
            <a:pPr rtl="0"/>
            <a:r>
              <a:rPr lang="es-ES" noProof="0"/>
              <a:t>Haga clic para modificar el estilo de título del patrón</a:t>
            </a:r>
          </a:p>
        </p:txBody>
      </p:sp>
      <p:sp>
        <p:nvSpPr>
          <p:cNvPr id="3" name="Marcador de posición de contenido 2"/>
          <p:cNvSpPr>
            <a:spLocks noGrp="1"/>
          </p:cNvSpPr>
          <p:nvPr>
            <p:ph sz="half" idx="1"/>
          </p:nvPr>
        </p:nvSpPr>
        <p:spPr>
          <a:xfrm>
            <a:off x="1484312" y="2666999"/>
            <a:ext cx="4895055" cy="3124201"/>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posición de contenido 3"/>
          <p:cNvSpPr>
            <a:spLocks noGrp="1"/>
          </p:cNvSpPr>
          <p:nvPr>
            <p:ph sz="half" idx="2"/>
          </p:nvPr>
        </p:nvSpPr>
        <p:spPr>
          <a:xfrm>
            <a:off x="6607967" y="2667000"/>
            <a:ext cx="4895056" cy="3124200"/>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fecha 4"/>
          <p:cNvSpPr>
            <a:spLocks noGrp="1"/>
          </p:cNvSpPr>
          <p:nvPr>
            <p:ph type="dt" sz="half" idx="10"/>
          </p:nvPr>
        </p:nvSpPr>
        <p:spPr/>
        <p:txBody>
          <a:bodyPr rtlCol="0"/>
          <a:lstStyle/>
          <a:p>
            <a:pPr rtl="0"/>
            <a:fld id="{7E5FA2DA-5733-427A-A6E4-F93987852D46}" type="datetime1">
              <a:rPr lang="es-ES" noProof="0" smtClean="0"/>
              <a:t>16/01/2026</a:t>
            </a:fld>
            <a:endParaRPr lang="es-ES" noProof="0"/>
          </a:p>
        </p:txBody>
      </p:sp>
      <p:sp>
        <p:nvSpPr>
          <p:cNvPr id="6" name="Marcador de pie de página 5"/>
          <p:cNvSpPr>
            <a:spLocks noGrp="1"/>
          </p:cNvSpPr>
          <p:nvPr>
            <p:ph type="ftr" sz="quarter" idx="11"/>
          </p:nvPr>
        </p:nvSpPr>
        <p:spPr/>
        <p:txBody>
          <a:bodyPr rtlCol="0"/>
          <a:lstStyle/>
          <a:p>
            <a:pPr rtl="0"/>
            <a:endParaRPr lang="es-ES" noProof="0"/>
          </a:p>
        </p:txBody>
      </p:sp>
      <p:sp>
        <p:nvSpPr>
          <p:cNvPr id="7" name="Marcador de posición de número de diapositiva 6"/>
          <p:cNvSpPr>
            <a:spLocks noGrp="1"/>
          </p:cNvSpPr>
          <p:nvPr>
            <p:ph type="sldNum" sz="quarter" idx="12"/>
          </p:nvPr>
        </p:nvSpPr>
        <p:spPr/>
        <p:txBody>
          <a:bodyPr rtlCol="0"/>
          <a:lstStyle/>
          <a:p>
            <a:pPr rtl="0"/>
            <a:fld id="{D57F1E4F-1CFF-5643-939E-217C01CDF565}" type="slidenum">
              <a:rPr lang="es-ES" noProof="0" smtClean="0"/>
              <a:pPr rtl="0"/>
              <a:t>‹Nº›</a:t>
            </a:fld>
            <a:endParaRPr lang="es-ES" noProof="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lvl1pPr>
              <a:defRPr/>
            </a:lvl1pPr>
          </a:lstStyle>
          <a:p>
            <a:pPr rtl="0"/>
            <a:r>
              <a:rPr lang="es-ES" noProof="0"/>
              <a:t>Haga clic para modificar el estilo de título del patrón</a:t>
            </a:r>
          </a:p>
        </p:txBody>
      </p:sp>
      <p:sp>
        <p:nvSpPr>
          <p:cNvPr id="3" name="Marcador de posición de texto 2"/>
          <p:cNvSpPr>
            <a:spLocks noGrp="1"/>
          </p:cNvSpPr>
          <p:nvPr>
            <p:ph type="body" idx="1"/>
          </p:nvPr>
        </p:nvSpPr>
        <p:spPr>
          <a:xfrm>
            <a:off x="1772179" y="2658533"/>
            <a:ext cx="4607188" cy="576262"/>
          </a:xfrm>
        </p:spPr>
        <p:txBody>
          <a:bodyPr rtlCol="0"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4" name="Marcador de posición de contenido 3"/>
          <p:cNvSpPr>
            <a:spLocks noGrp="1"/>
          </p:cNvSpPr>
          <p:nvPr>
            <p:ph sz="half" idx="2"/>
          </p:nvPr>
        </p:nvSpPr>
        <p:spPr>
          <a:xfrm>
            <a:off x="1484311" y="3335337"/>
            <a:ext cx="4895056" cy="2455862"/>
          </a:xfrm>
        </p:spPr>
        <p:txBody>
          <a:bodyPr rtlCol="0"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posición de texto 4"/>
          <p:cNvSpPr>
            <a:spLocks noGrp="1"/>
          </p:cNvSpPr>
          <p:nvPr>
            <p:ph type="body" sz="quarter" idx="3"/>
          </p:nvPr>
        </p:nvSpPr>
        <p:spPr>
          <a:xfrm>
            <a:off x="6880487" y="2667000"/>
            <a:ext cx="4622537" cy="576262"/>
          </a:xfrm>
        </p:spPr>
        <p:txBody>
          <a:bodyPr rtlCol="0"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6" name="Marcador de posición de contenido 5"/>
          <p:cNvSpPr>
            <a:spLocks noGrp="1"/>
          </p:cNvSpPr>
          <p:nvPr>
            <p:ph sz="quarter" idx="4"/>
          </p:nvPr>
        </p:nvSpPr>
        <p:spPr>
          <a:xfrm>
            <a:off x="6607967" y="3335337"/>
            <a:ext cx="4895056" cy="2455862"/>
          </a:xfrm>
        </p:spPr>
        <p:txBody>
          <a:bodyPr rtlCol="0"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7" name="Marcador de fecha 6"/>
          <p:cNvSpPr>
            <a:spLocks noGrp="1"/>
          </p:cNvSpPr>
          <p:nvPr>
            <p:ph type="dt" sz="half" idx="10"/>
          </p:nvPr>
        </p:nvSpPr>
        <p:spPr/>
        <p:txBody>
          <a:bodyPr rtlCol="0"/>
          <a:lstStyle/>
          <a:p>
            <a:pPr rtl="0"/>
            <a:fld id="{D5CE9E3D-3ADE-4DF1-A1D9-7E7CC02E5192}" type="datetime1">
              <a:rPr lang="es-ES" noProof="0" smtClean="0"/>
              <a:t>16/01/2026</a:t>
            </a:fld>
            <a:endParaRPr lang="es-ES" noProof="0"/>
          </a:p>
        </p:txBody>
      </p:sp>
      <p:sp>
        <p:nvSpPr>
          <p:cNvPr id="8" name="Marcador de pie de página 7"/>
          <p:cNvSpPr>
            <a:spLocks noGrp="1"/>
          </p:cNvSpPr>
          <p:nvPr>
            <p:ph type="ftr" sz="quarter" idx="11"/>
          </p:nvPr>
        </p:nvSpPr>
        <p:spPr/>
        <p:txBody>
          <a:bodyPr rtlCol="0"/>
          <a:lstStyle/>
          <a:p>
            <a:pPr rtl="0"/>
            <a:endParaRPr lang="es-ES" noProof="0"/>
          </a:p>
        </p:txBody>
      </p:sp>
      <p:sp>
        <p:nvSpPr>
          <p:cNvPr id="9" name="Marcador de número de diapositiva 8"/>
          <p:cNvSpPr>
            <a:spLocks noGrp="1"/>
          </p:cNvSpPr>
          <p:nvPr>
            <p:ph type="sldNum" sz="quarter" idx="12"/>
          </p:nvPr>
        </p:nvSpPr>
        <p:spPr/>
        <p:txBody>
          <a:bodyPr rtlCol="0"/>
          <a:lstStyle/>
          <a:p>
            <a:pPr rtl="0"/>
            <a:fld id="{D57F1E4F-1CFF-5643-939E-217C01CDF565}" type="slidenum">
              <a:rPr lang="es-ES" noProof="0" smtClean="0"/>
              <a:pPr rtl="0"/>
              <a:t>‹Nº›</a:t>
            </a:fld>
            <a:endParaRPr lang="es-ES" noProof="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a:t>Haga clic para modificar el estilo de título del patrón</a:t>
            </a:r>
          </a:p>
        </p:txBody>
      </p:sp>
      <p:sp>
        <p:nvSpPr>
          <p:cNvPr id="3" name="Marcador de fecha 2"/>
          <p:cNvSpPr>
            <a:spLocks noGrp="1"/>
          </p:cNvSpPr>
          <p:nvPr>
            <p:ph type="dt" sz="half" idx="10"/>
          </p:nvPr>
        </p:nvSpPr>
        <p:spPr/>
        <p:txBody>
          <a:bodyPr rtlCol="0"/>
          <a:lstStyle/>
          <a:p>
            <a:pPr rtl="0"/>
            <a:fld id="{44FC9326-D335-4482-B422-8C82941CA4B0}" type="datetime1">
              <a:rPr lang="es-ES" noProof="0" smtClean="0"/>
              <a:t>16/01/2026</a:t>
            </a:fld>
            <a:endParaRPr lang="es-ES" noProof="0"/>
          </a:p>
        </p:txBody>
      </p:sp>
      <p:sp>
        <p:nvSpPr>
          <p:cNvPr id="4" name="Marcador de pie de página 3"/>
          <p:cNvSpPr>
            <a:spLocks noGrp="1"/>
          </p:cNvSpPr>
          <p:nvPr>
            <p:ph type="ftr" sz="quarter" idx="11"/>
          </p:nvPr>
        </p:nvSpPr>
        <p:spPr/>
        <p:txBody>
          <a:bodyPr rtlCol="0"/>
          <a:lstStyle/>
          <a:p>
            <a:pPr rtl="0"/>
            <a:endParaRPr lang="es-ES" noProof="0"/>
          </a:p>
        </p:txBody>
      </p:sp>
      <p:sp>
        <p:nvSpPr>
          <p:cNvPr id="5" name="Marcador de posición de número de diapositiva 4"/>
          <p:cNvSpPr>
            <a:spLocks noGrp="1"/>
          </p:cNvSpPr>
          <p:nvPr>
            <p:ph type="sldNum" sz="quarter" idx="12"/>
          </p:nvPr>
        </p:nvSpPr>
        <p:spPr/>
        <p:txBody>
          <a:bodyPr rtlCol="0"/>
          <a:lstStyle/>
          <a:p>
            <a:pPr rtl="0"/>
            <a:fld id="{D57F1E4F-1CFF-5643-939E-217C01CDF565}" type="slidenum">
              <a:rPr lang="es-ES" noProof="0" smtClean="0"/>
              <a:pPr rtl="0"/>
              <a:t>‹Nº›</a:t>
            </a:fld>
            <a:endParaRPr lang="es-ES" noProof="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rtlCol="0"/>
          <a:lstStyle/>
          <a:p>
            <a:pPr rtl="0"/>
            <a:fld id="{D30E5112-B9D9-4E8F-BE71-92429ABF0518}" type="datetime1">
              <a:rPr lang="es-ES" noProof="0" smtClean="0"/>
              <a:t>16/01/2026</a:t>
            </a:fld>
            <a:endParaRPr lang="es-ES" noProof="0"/>
          </a:p>
        </p:txBody>
      </p:sp>
      <p:sp>
        <p:nvSpPr>
          <p:cNvPr id="3" name="Marcador de pie de página 2"/>
          <p:cNvSpPr>
            <a:spLocks noGrp="1"/>
          </p:cNvSpPr>
          <p:nvPr>
            <p:ph type="ftr" sz="quarter" idx="11"/>
          </p:nvPr>
        </p:nvSpPr>
        <p:spPr/>
        <p:txBody>
          <a:bodyPr rtlCol="0"/>
          <a:lstStyle/>
          <a:p>
            <a:pPr rtl="0"/>
            <a:endParaRPr lang="es-ES" noProof="0"/>
          </a:p>
        </p:txBody>
      </p:sp>
      <p:sp>
        <p:nvSpPr>
          <p:cNvPr id="4" name="Marcador de número de diapositiva 3"/>
          <p:cNvSpPr>
            <a:spLocks noGrp="1"/>
          </p:cNvSpPr>
          <p:nvPr>
            <p:ph type="sldNum" sz="quarter" idx="12"/>
          </p:nvPr>
        </p:nvSpPr>
        <p:spPr/>
        <p:txBody>
          <a:bodyPr rtlCol="0"/>
          <a:lstStyle/>
          <a:p>
            <a:pPr rtl="0"/>
            <a:fld id="{D57F1E4F-1CFF-5643-939E-217C01CDF565}" type="slidenum">
              <a:rPr lang="es-ES" noProof="0" smtClean="0"/>
              <a:pPr rtl="0"/>
              <a:t>‹Nº›</a:t>
            </a:fld>
            <a:endParaRPr lang="es-ES" noProof="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1484312" y="1600200"/>
            <a:ext cx="3549121" cy="1371600"/>
          </a:xfrm>
        </p:spPr>
        <p:txBody>
          <a:bodyPr rtlCol="0" anchor="b">
            <a:normAutofit/>
          </a:bodyPr>
          <a:lstStyle>
            <a:lvl1pPr algn="ctr">
              <a:defRPr sz="2400" b="0"/>
            </a:lvl1pPr>
          </a:lstStyle>
          <a:p>
            <a:pPr rtl="0"/>
            <a:r>
              <a:rPr lang="es-ES" noProof="0"/>
              <a:t>Haga clic para modificar el estilo de título del patrón</a:t>
            </a:r>
          </a:p>
        </p:txBody>
      </p:sp>
      <p:sp>
        <p:nvSpPr>
          <p:cNvPr id="3" name="Marcador de posición de contenido 2"/>
          <p:cNvSpPr>
            <a:spLocks noGrp="1"/>
          </p:cNvSpPr>
          <p:nvPr>
            <p:ph idx="1"/>
          </p:nvPr>
        </p:nvSpPr>
        <p:spPr>
          <a:xfrm>
            <a:off x="5262033" y="685799"/>
            <a:ext cx="6240990" cy="5105401"/>
          </a:xfrm>
        </p:spPr>
        <p:txBody>
          <a:bodyPr rtlCol="0"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posición de texto 3"/>
          <p:cNvSpPr>
            <a:spLocks noGrp="1"/>
          </p:cNvSpPr>
          <p:nvPr>
            <p:ph type="body" sz="half" idx="2"/>
          </p:nvPr>
        </p:nvSpPr>
        <p:spPr>
          <a:xfrm>
            <a:off x="1484312" y="2971800"/>
            <a:ext cx="3549121" cy="1828800"/>
          </a:xfrm>
        </p:spPr>
        <p:txBody>
          <a:bodyPr rtlCol="0">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Haga clic para modificar los estilos de texto del patrón</a:t>
            </a:r>
          </a:p>
        </p:txBody>
      </p:sp>
      <p:sp>
        <p:nvSpPr>
          <p:cNvPr id="5" name="Marcador de fecha 4"/>
          <p:cNvSpPr>
            <a:spLocks noGrp="1"/>
          </p:cNvSpPr>
          <p:nvPr>
            <p:ph type="dt" sz="half" idx="10"/>
          </p:nvPr>
        </p:nvSpPr>
        <p:spPr/>
        <p:txBody>
          <a:bodyPr rtlCol="0"/>
          <a:lstStyle/>
          <a:p>
            <a:pPr rtl="0"/>
            <a:fld id="{2D0F5DBD-C903-46D8-AEC6-8BE95F985FF8}" type="datetime1">
              <a:rPr lang="es-ES" noProof="0" smtClean="0"/>
              <a:t>16/01/2026</a:t>
            </a:fld>
            <a:endParaRPr lang="es-ES" noProof="0"/>
          </a:p>
        </p:txBody>
      </p:sp>
      <p:sp>
        <p:nvSpPr>
          <p:cNvPr id="6" name="Marcador de pie de página 5"/>
          <p:cNvSpPr>
            <a:spLocks noGrp="1"/>
          </p:cNvSpPr>
          <p:nvPr>
            <p:ph type="ftr" sz="quarter" idx="11"/>
          </p:nvPr>
        </p:nvSpPr>
        <p:spPr/>
        <p:txBody>
          <a:bodyPr rtlCol="0"/>
          <a:lstStyle/>
          <a:p>
            <a:pPr rtl="0"/>
            <a:endParaRPr lang="es-ES" noProof="0"/>
          </a:p>
        </p:txBody>
      </p:sp>
      <p:sp>
        <p:nvSpPr>
          <p:cNvPr id="7" name="Marcador de posición de número de diapositiva 6"/>
          <p:cNvSpPr>
            <a:spLocks noGrp="1"/>
          </p:cNvSpPr>
          <p:nvPr>
            <p:ph type="sldNum" sz="quarter" idx="12"/>
          </p:nvPr>
        </p:nvSpPr>
        <p:spPr/>
        <p:txBody>
          <a:bodyPr rtlCol="0"/>
          <a:lstStyle/>
          <a:p>
            <a:pPr rtl="0"/>
            <a:fld id="{D57F1E4F-1CFF-5643-939E-217C01CDF565}" type="slidenum">
              <a:rPr lang="es-ES" noProof="0" smtClean="0"/>
              <a:pPr rtl="0"/>
              <a:t>‹Nº›</a:t>
            </a:fld>
            <a:endParaRPr lang="es-ES" noProof="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1482724" y="1752599"/>
            <a:ext cx="5426158" cy="1371600"/>
          </a:xfrm>
        </p:spPr>
        <p:txBody>
          <a:bodyPr rtlCol="0" anchor="b">
            <a:normAutofit/>
          </a:bodyPr>
          <a:lstStyle>
            <a:lvl1pPr algn="ctr">
              <a:defRPr sz="2800" b="0"/>
            </a:lvl1pPr>
          </a:lstStyle>
          <a:p>
            <a:pPr rtl="0"/>
            <a:r>
              <a:rPr lang="es-ES" noProof="0"/>
              <a:t>Haga clic para modificar el estilo de título del patrón</a:t>
            </a:r>
          </a:p>
        </p:txBody>
      </p:sp>
      <p:sp>
        <p:nvSpPr>
          <p:cNvPr id="14" name="Marcador de posición de imagen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es-ES" noProof="0"/>
              <a:t>Haga clic en el icono para agregar una imagen</a:t>
            </a:r>
          </a:p>
        </p:txBody>
      </p:sp>
      <p:sp>
        <p:nvSpPr>
          <p:cNvPr id="4" name="Marcador de posición de texto 3"/>
          <p:cNvSpPr>
            <a:spLocks noGrp="1"/>
          </p:cNvSpPr>
          <p:nvPr>
            <p:ph type="body" sz="half" idx="2"/>
          </p:nvPr>
        </p:nvSpPr>
        <p:spPr>
          <a:xfrm>
            <a:off x="1482724" y="3124199"/>
            <a:ext cx="5426158" cy="1828800"/>
          </a:xfrm>
        </p:spPr>
        <p:txBody>
          <a:bodyPr rtlCol="0">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Haga clic para modificar los estilos de texto del patrón</a:t>
            </a:r>
          </a:p>
        </p:txBody>
      </p:sp>
      <p:sp>
        <p:nvSpPr>
          <p:cNvPr id="5" name="Marcador de fecha 4"/>
          <p:cNvSpPr>
            <a:spLocks noGrp="1"/>
          </p:cNvSpPr>
          <p:nvPr>
            <p:ph type="dt" sz="half" idx="10"/>
          </p:nvPr>
        </p:nvSpPr>
        <p:spPr/>
        <p:txBody>
          <a:bodyPr rtlCol="0"/>
          <a:lstStyle/>
          <a:p>
            <a:pPr rtl="0"/>
            <a:fld id="{C22FBBBA-83D3-498E-95D4-92B773A35EDB}" type="datetime1">
              <a:rPr lang="es-ES" noProof="0" smtClean="0"/>
              <a:t>16/01/2026</a:t>
            </a:fld>
            <a:endParaRPr lang="es-ES" noProof="0"/>
          </a:p>
        </p:txBody>
      </p:sp>
      <p:sp>
        <p:nvSpPr>
          <p:cNvPr id="6" name="Marcador de pie de página 5"/>
          <p:cNvSpPr>
            <a:spLocks noGrp="1"/>
          </p:cNvSpPr>
          <p:nvPr>
            <p:ph type="ftr" sz="quarter" idx="11"/>
          </p:nvPr>
        </p:nvSpPr>
        <p:spPr/>
        <p:txBody>
          <a:bodyPr rtlCol="0"/>
          <a:lstStyle/>
          <a:p>
            <a:pPr rtl="0"/>
            <a:endParaRPr lang="es-ES" noProof="0"/>
          </a:p>
        </p:txBody>
      </p:sp>
      <p:sp>
        <p:nvSpPr>
          <p:cNvPr id="7" name="Marcador de posición de número de diapositiva 6"/>
          <p:cNvSpPr>
            <a:spLocks noGrp="1"/>
          </p:cNvSpPr>
          <p:nvPr>
            <p:ph type="sldNum" sz="quarter" idx="12"/>
          </p:nvPr>
        </p:nvSpPr>
        <p:spPr/>
        <p:txBody>
          <a:bodyPr rtlCol="0"/>
          <a:lstStyle/>
          <a:p>
            <a:pPr rtl="0"/>
            <a:fld id="{D57F1E4F-1CFF-5643-939E-217C01CDF565}" type="slidenum">
              <a:rPr lang="es-ES" noProof="0" smtClean="0"/>
              <a:pPr rtl="0"/>
              <a:t>‹Nº›</a:t>
            </a:fld>
            <a:endParaRPr lang="es-ES" noProof="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leyenda">
    <p:spTree>
      <p:nvGrpSpPr>
        <p:cNvPr id="1" name=""/>
        <p:cNvGrpSpPr/>
        <p:nvPr/>
      </p:nvGrpSpPr>
      <p:grpSpPr>
        <a:xfrm>
          <a:off x="0" y="0"/>
          <a:ext cx="0" cy="0"/>
          <a:chOff x="0" y="0"/>
          <a:chExt cx="0" cy="0"/>
        </a:xfrm>
      </p:grpSpPr>
      <p:sp>
        <p:nvSpPr>
          <p:cNvPr id="2" name="Título 1"/>
          <p:cNvSpPr>
            <a:spLocks noGrp="1"/>
          </p:cNvSpPr>
          <p:nvPr>
            <p:ph type="title"/>
          </p:nvPr>
        </p:nvSpPr>
        <p:spPr>
          <a:xfrm>
            <a:off x="1484311" y="4732865"/>
            <a:ext cx="10018711" cy="566738"/>
          </a:xfrm>
        </p:spPr>
        <p:txBody>
          <a:bodyPr rtlCol="0" anchor="b">
            <a:normAutofit/>
          </a:bodyPr>
          <a:lstStyle>
            <a:lvl1pPr algn="ctr">
              <a:defRPr sz="2400" b="0"/>
            </a:lvl1pPr>
          </a:lstStyle>
          <a:p>
            <a:pPr rtl="0"/>
            <a:r>
              <a:rPr lang="es-ES" noProof="0"/>
              <a:t>Haga clic para modificar el estilo de título del patrón</a:t>
            </a:r>
          </a:p>
        </p:txBody>
      </p:sp>
      <p:sp>
        <p:nvSpPr>
          <p:cNvPr id="3" name="Marcador de posición de imagen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es-ES" noProof="0"/>
              <a:t>Haga clic en el icono para agregar una imagen</a:t>
            </a:r>
          </a:p>
        </p:txBody>
      </p:sp>
      <p:sp>
        <p:nvSpPr>
          <p:cNvPr id="4" name="Marcador de posición de texto 3"/>
          <p:cNvSpPr>
            <a:spLocks noGrp="1"/>
          </p:cNvSpPr>
          <p:nvPr>
            <p:ph type="body" sz="half" idx="2"/>
          </p:nvPr>
        </p:nvSpPr>
        <p:spPr>
          <a:xfrm>
            <a:off x="1484311" y="5299603"/>
            <a:ext cx="10018711" cy="493712"/>
          </a:xfrm>
        </p:spPr>
        <p:txBody>
          <a:bodyPr rtlCol="0">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Haga clic para modificar los estilos de texto del patrón</a:t>
            </a:r>
          </a:p>
        </p:txBody>
      </p:sp>
      <p:sp>
        <p:nvSpPr>
          <p:cNvPr id="5" name="Marcador de fecha 4"/>
          <p:cNvSpPr>
            <a:spLocks noGrp="1"/>
          </p:cNvSpPr>
          <p:nvPr>
            <p:ph type="dt" sz="half" idx="10"/>
          </p:nvPr>
        </p:nvSpPr>
        <p:spPr/>
        <p:txBody>
          <a:bodyPr rtlCol="0"/>
          <a:lstStyle/>
          <a:p>
            <a:pPr rtl="0"/>
            <a:fld id="{F3E46B2F-44CC-45B7-A010-EBA83946A11A}" type="datetime1">
              <a:rPr lang="es-ES" noProof="0" smtClean="0"/>
              <a:t>16/01/2026</a:t>
            </a:fld>
            <a:endParaRPr lang="es-ES" noProof="0"/>
          </a:p>
        </p:txBody>
      </p:sp>
      <p:sp>
        <p:nvSpPr>
          <p:cNvPr id="6" name="Marcador de pie de página 5"/>
          <p:cNvSpPr>
            <a:spLocks noGrp="1"/>
          </p:cNvSpPr>
          <p:nvPr>
            <p:ph type="ftr" sz="quarter" idx="11"/>
          </p:nvPr>
        </p:nvSpPr>
        <p:spPr/>
        <p:txBody>
          <a:bodyPr rtlCol="0"/>
          <a:lstStyle/>
          <a:p>
            <a:pPr rtl="0"/>
            <a:endParaRPr lang="es-ES" noProof="0"/>
          </a:p>
        </p:txBody>
      </p:sp>
      <p:sp>
        <p:nvSpPr>
          <p:cNvPr id="7" name="Marcador de posición de número de diapositiva 6"/>
          <p:cNvSpPr>
            <a:spLocks noGrp="1"/>
          </p:cNvSpPr>
          <p:nvPr>
            <p:ph type="sldNum" sz="quarter" idx="12"/>
          </p:nvPr>
        </p:nvSpPr>
        <p:spPr/>
        <p:txBody>
          <a:bodyPr rtlCol="0"/>
          <a:lstStyle/>
          <a:p>
            <a:pPr rtl="0"/>
            <a:fld id="{D57F1E4F-1CFF-5643-939E-217C01CDF565}" type="slidenum">
              <a:rPr lang="es-ES" noProof="0" smtClean="0"/>
              <a:pPr rtl="0"/>
              <a:t>‹Nº›</a:t>
            </a:fld>
            <a:endParaRPr lang="es-ES" noProof="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leyenda">
    <p:spTree>
      <p:nvGrpSpPr>
        <p:cNvPr id="1" name=""/>
        <p:cNvGrpSpPr/>
        <p:nvPr/>
      </p:nvGrpSpPr>
      <p:grpSpPr>
        <a:xfrm>
          <a:off x="0" y="0"/>
          <a:ext cx="0" cy="0"/>
          <a:chOff x="0" y="0"/>
          <a:chExt cx="0" cy="0"/>
        </a:xfrm>
      </p:grpSpPr>
      <p:sp>
        <p:nvSpPr>
          <p:cNvPr id="2" name="Título 1"/>
          <p:cNvSpPr>
            <a:spLocks noGrp="1"/>
          </p:cNvSpPr>
          <p:nvPr>
            <p:ph type="title"/>
          </p:nvPr>
        </p:nvSpPr>
        <p:spPr>
          <a:xfrm>
            <a:off x="1484312" y="685800"/>
            <a:ext cx="10018711" cy="3048000"/>
          </a:xfrm>
        </p:spPr>
        <p:txBody>
          <a:bodyPr rtlCol="0" anchor="ctr">
            <a:normAutofit/>
          </a:bodyPr>
          <a:lstStyle>
            <a:lvl1pPr algn="ctr">
              <a:defRPr sz="3200" b="0" cap="none"/>
            </a:lvl1pPr>
          </a:lstStyle>
          <a:p>
            <a:pPr rtl="0"/>
            <a:r>
              <a:rPr lang="es-ES" noProof="0"/>
              <a:t>Haga clic para modificar el estilo de título del patrón</a:t>
            </a:r>
          </a:p>
        </p:txBody>
      </p:sp>
      <p:sp>
        <p:nvSpPr>
          <p:cNvPr id="3" name="Marcador de posición de texto 2"/>
          <p:cNvSpPr>
            <a:spLocks noGrp="1"/>
          </p:cNvSpPr>
          <p:nvPr>
            <p:ph type="body" idx="1"/>
          </p:nvPr>
        </p:nvSpPr>
        <p:spPr>
          <a:xfrm>
            <a:off x="1484312" y="4343400"/>
            <a:ext cx="10018713" cy="1447800"/>
          </a:xfrm>
        </p:spPr>
        <p:txBody>
          <a:bodyPr rtlCol="0"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s-ES" noProof="0"/>
              <a:t>Haga clic para modificar los estilos de texto del patrón</a:t>
            </a:r>
          </a:p>
        </p:txBody>
      </p:sp>
      <p:sp>
        <p:nvSpPr>
          <p:cNvPr id="4" name="Marcador de fecha 3"/>
          <p:cNvSpPr>
            <a:spLocks noGrp="1"/>
          </p:cNvSpPr>
          <p:nvPr>
            <p:ph type="dt" sz="half" idx="10"/>
          </p:nvPr>
        </p:nvSpPr>
        <p:spPr/>
        <p:txBody>
          <a:bodyPr rtlCol="0"/>
          <a:lstStyle/>
          <a:p>
            <a:pPr rtl="0"/>
            <a:fld id="{FA1C52FD-27AB-44ED-9F0F-96861A2F5FC0}" type="datetime1">
              <a:rPr lang="es-ES" noProof="0" smtClean="0"/>
              <a:t>16/01/2026</a:t>
            </a:fld>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posición de número de diapositiva 5"/>
          <p:cNvSpPr>
            <a:spLocks noGrp="1"/>
          </p:cNvSpPr>
          <p:nvPr>
            <p:ph type="sldNum" sz="quarter" idx="12"/>
          </p:nvPr>
        </p:nvSpPr>
        <p:spPr/>
        <p:txBody>
          <a:bodyPr rtlCol="0"/>
          <a:lstStyle/>
          <a:p>
            <a:pPr rtl="0"/>
            <a:fld id="{D57F1E4F-1CFF-5643-939E-217C01CDF565}" type="slidenum">
              <a:rPr lang="es-ES" noProof="0" smtClean="0"/>
              <a:pPr rtl="0"/>
              <a:t>‹Nº›</a:t>
            </a:fld>
            <a:endParaRPr lang="es-ES" noProof="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leyenda">
    <p:spTree>
      <p:nvGrpSpPr>
        <p:cNvPr id="1" name=""/>
        <p:cNvGrpSpPr/>
        <p:nvPr/>
      </p:nvGrpSpPr>
      <p:grpSpPr>
        <a:xfrm>
          <a:off x="0" y="0"/>
          <a:ext cx="0" cy="0"/>
          <a:chOff x="0" y="0"/>
          <a:chExt cx="0" cy="0"/>
        </a:xfrm>
      </p:grpSpPr>
      <p:sp>
        <p:nvSpPr>
          <p:cNvPr id="14" name="Cuadro de texto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rtl="0"/>
            <a:r>
              <a:rPr lang="es-ES" sz="8000" noProof="0">
                <a:solidFill>
                  <a:schemeClr val="tx1"/>
                </a:solidFill>
                <a:effectLst/>
              </a:rPr>
              <a:t>“</a:t>
            </a:r>
          </a:p>
        </p:txBody>
      </p:sp>
      <p:sp>
        <p:nvSpPr>
          <p:cNvPr id="15" name="Cuadro de texto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es-ES" sz="8000" noProof="0">
                <a:solidFill>
                  <a:schemeClr val="tx1"/>
                </a:solidFill>
                <a:effectLst/>
              </a:rPr>
              <a:t>”</a:t>
            </a:r>
          </a:p>
        </p:txBody>
      </p:sp>
      <p:sp>
        <p:nvSpPr>
          <p:cNvPr id="2" name="Título 1"/>
          <p:cNvSpPr>
            <a:spLocks noGrp="1"/>
          </p:cNvSpPr>
          <p:nvPr>
            <p:ph type="title"/>
          </p:nvPr>
        </p:nvSpPr>
        <p:spPr>
          <a:xfrm>
            <a:off x="2208212" y="685800"/>
            <a:ext cx="8990012" cy="2743199"/>
          </a:xfrm>
        </p:spPr>
        <p:txBody>
          <a:bodyPr rtlCol="0" anchor="ctr">
            <a:normAutofit/>
          </a:bodyPr>
          <a:lstStyle>
            <a:lvl1pPr algn="ctr">
              <a:defRPr sz="3200" b="0" cap="none">
                <a:solidFill>
                  <a:schemeClr val="tx1"/>
                </a:solidFill>
              </a:defRPr>
            </a:lvl1pPr>
          </a:lstStyle>
          <a:p>
            <a:pPr rtl="0"/>
            <a:r>
              <a:rPr lang="es-ES" noProof="0"/>
              <a:t>Haga clic para modificar el estilo de título del patrón</a:t>
            </a:r>
          </a:p>
        </p:txBody>
      </p:sp>
      <p:sp>
        <p:nvSpPr>
          <p:cNvPr id="10" name="Marcador de texto 9"/>
          <p:cNvSpPr>
            <a:spLocks noGrp="1"/>
          </p:cNvSpPr>
          <p:nvPr>
            <p:ph type="body" sz="quarter" idx="13"/>
          </p:nvPr>
        </p:nvSpPr>
        <p:spPr>
          <a:xfrm>
            <a:off x="2436811" y="3428999"/>
            <a:ext cx="8532815" cy="381000"/>
          </a:xfrm>
        </p:spPr>
        <p:txBody>
          <a:bodyPr rtlCol="0"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rtl="0"/>
            <a:r>
              <a:rPr lang="es-ES" noProof="0"/>
              <a:t>Haga clic para modificar los estilos de texto del patrón</a:t>
            </a:r>
          </a:p>
        </p:txBody>
      </p:sp>
      <p:sp>
        <p:nvSpPr>
          <p:cNvPr id="3" name="Marcador de texto 2"/>
          <p:cNvSpPr>
            <a:spLocks noGrp="1"/>
          </p:cNvSpPr>
          <p:nvPr>
            <p:ph type="body" idx="1"/>
          </p:nvPr>
        </p:nvSpPr>
        <p:spPr>
          <a:xfrm>
            <a:off x="1484311" y="4343400"/>
            <a:ext cx="10018711" cy="1447800"/>
          </a:xfrm>
        </p:spPr>
        <p:txBody>
          <a:bodyPr rtlCol="0"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s-ES" noProof="0"/>
              <a:t>Haga clic para modificar los estilos de texto del patrón</a:t>
            </a:r>
          </a:p>
        </p:txBody>
      </p:sp>
      <p:sp>
        <p:nvSpPr>
          <p:cNvPr id="4" name="Marcador de fecha 3"/>
          <p:cNvSpPr>
            <a:spLocks noGrp="1"/>
          </p:cNvSpPr>
          <p:nvPr>
            <p:ph type="dt" sz="half" idx="10"/>
          </p:nvPr>
        </p:nvSpPr>
        <p:spPr/>
        <p:txBody>
          <a:bodyPr rtlCol="0"/>
          <a:lstStyle/>
          <a:p>
            <a:pPr rtl="0"/>
            <a:fld id="{CAB0581F-BA4D-4D6C-8817-63F49DB97D30}" type="datetime1">
              <a:rPr lang="es-ES" noProof="0" smtClean="0"/>
              <a:t>16/01/2026</a:t>
            </a:fld>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posición de número de diapositiva 5"/>
          <p:cNvSpPr>
            <a:spLocks noGrp="1"/>
          </p:cNvSpPr>
          <p:nvPr>
            <p:ph type="sldNum" sz="quarter" idx="12"/>
          </p:nvPr>
        </p:nvSpPr>
        <p:spPr/>
        <p:txBody>
          <a:bodyPr rtlCol="0"/>
          <a:lstStyle/>
          <a:p>
            <a:pPr rtl="0"/>
            <a:fld id="{D57F1E4F-1CFF-5643-939E-217C01CDF565}" type="slidenum">
              <a:rPr lang="es-ES" noProof="0" smtClean="0"/>
              <a:pPr rtl="0"/>
              <a:t>‹Nº›</a:t>
            </a:fld>
            <a:endParaRPr lang="es-ES" noProof="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ítulo 1"/>
          <p:cNvSpPr>
            <a:spLocks noGrp="1"/>
          </p:cNvSpPr>
          <p:nvPr>
            <p:ph type="title"/>
          </p:nvPr>
        </p:nvSpPr>
        <p:spPr>
          <a:xfrm>
            <a:off x="1484313" y="3308581"/>
            <a:ext cx="10018709" cy="1468800"/>
          </a:xfrm>
        </p:spPr>
        <p:txBody>
          <a:bodyPr rtlCol="0" anchor="b">
            <a:normAutofit/>
          </a:bodyPr>
          <a:lstStyle>
            <a:lvl1pPr algn="r">
              <a:defRPr sz="3200" b="0" cap="none"/>
            </a:lvl1pPr>
          </a:lstStyle>
          <a:p>
            <a:pPr rtl="0"/>
            <a:r>
              <a:rPr lang="es-ES" noProof="0"/>
              <a:t>Haga clic para modificar el estilo de título del patrón</a:t>
            </a:r>
          </a:p>
        </p:txBody>
      </p:sp>
      <p:sp>
        <p:nvSpPr>
          <p:cNvPr id="3" name="Marcador de posición de texto 2"/>
          <p:cNvSpPr>
            <a:spLocks noGrp="1"/>
          </p:cNvSpPr>
          <p:nvPr>
            <p:ph type="body" idx="1"/>
          </p:nvPr>
        </p:nvSpPr>
        <p:spPr>
          <a:xfrm>
            <a:off x="1484312" y="4777381"/>
            <a:ext cx="10018710" cy="860400"/>
          </a:xfrm>
        </p:spPr>
        <p:txBody>
          <a:bodyPr rtlCol="0"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s-ES" noProof="0"/>
              <a:t>Haga clic para modificar los estilos de texto del patrón</a:t>
            </a:r>
          </a:p>
        </p:txBody>
      </p:sp>
      <p:sp>
        <p:nvSpPr>
          <p:cNvPr id="4" name="Marcador de fecha 3"/>
          <p:cNvSpPr>
            <a:spLocks noGrp="1"/>
          </p:cNvSpPr>
          <p:nvPr>
            <p:ph type="dt" sz="half" idx="10"/>
          </p:nvPr>
        </p:nvSpPr>
        <p:spPr/>
        <p:txBody>
          <a:bodyPr rtlCol="0"/>
          <a:lstStyle/>
          <a:p>
            <a:pPr rtl="0"/>
            <a:fld id="{9C6117B6-5DD5-4008-9779-20B2335D040C}" type="datetime1">
              <a:rPr lang="es-ES" noProof="0" smtClean="0"/>
              <a:t>16/01/2026</a:t>
            </a:fld>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posición de número de diapositiva 5"/>
          <p:cNvSpPr>
            <a:spLocks noGrp="1"/>
          </p:cNvSpPr>
          <p:nvPr>
            <p:ph type="sldNum" sz="quarter" idx="12"/>
          </p:nvPr>
        </p:nvSpPr>
        <p:spPr/>
        <p:txBody>
          <a:bodyPr rtlCol="0"/>
          <a:lstStyle/>
          <a:p>
            <a:pPr rtl="0"/>
            <a:fld id="{D57F1E4F-1CFF-5643-939E-217C01CDF565}" type="slidenum">
              <a:rPr lang="es-ES" noProof="0" smtClean="0"/>
              <a:pPr rtl="0"/>
              <a:t>‹Nº›</a:t>
            </a:fld>
            <a:endParaRPr lang="es-ES" noProof="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arjeta de nombre con cita">
    <p:spTree>
      <p:nvGrpSpPr>
        <p:cNvPr id="1" name=""/>
        <p:cNvGrpSpPr/>
        <p:nvPr/>
      </p:nvGrpSpPr>
      <p:grpSpPr>
        <a:xfrm>
          <a:off x="0" y="0"/>
          <a:ext cx="0" cy="0"/>
          <a:chOff x="0" y="0"/>
          <a:chExt cx="0" cy="0"/>
        </a:xfrm>
      </p:grpSpPr>
      <p:sp>
        <p:nvSpPr>
          <p:cNvPr id="14" name="Cuadro de texto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rtl="0"/>
            <a:r>
              <a:rPr lang="es-ES" sz="8000" noProof="0">
                <a:solidFill>
                  <a:schemeClr val="tx1"/>
                </a:solidFill>
                <a:effectLst/>
              </a:rPr>
              <a:t>“</a:t>
            </a:r>
          </a:p>
        </p:txBody>
      </p:sp>
      <p:sp>
        <p:nvSpPr>
          <p:cNvPr id="15" name="Cuadro de texto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es-ES" sz="8000" noProof="0">
                <a:solidFill>
                  <a:schemeClr val="tx1"/>
                </a:solidFill>
                <a:effectLst/>
              </a:rPr>
              <a:t>”</a:t>
            </a:r>
          </a:p>
        </p:txBody>
      </p:sp>
      <p:sp>
        <p:nvSpPr>
          <p:cNvPr id="2" name="Título 1"/>
          <p:cNvSpPr>
            <a:spLocks noGrp="1"/>
          </p:cNvSpPr>
          <p:nvPr>
            <p:ph type="title"/>
          </p:nvPr>
        </p:nvSpPr>
        <p:spPr>
          <a:xfrm>
            <a:off x="2208212" y="685800"/>
            <a:ext cx="8990012" cy="2743199"/>
          </a:xfrm>
        </p:spPr>
        <p:txBody>
          <a:bodyPr rtlCol="0" anchor="ctr">
            <a:normAutofit/>
          </a:bodyPr>
          <a:lstStyle>
            <a:lvl1pPr algn="ctr">
              <a:defRPr sz="3200" b="0" cap="none">
                <a:solidFill>
                  <a:schemeClr val="tx1"/>
                </a:solidFill>
              </a:defRPr>
            </a:lvl1pPr>
          </a:lstStyle>
          <a:p>
            <a:pPr rtl="0"/>
            <a:r>
              <a:rPr lang="es-ES" noProof="0"/>
              <a:t>Haga clic para modificar el estilo de título del patrón</a:t>
            </a:r>
          </a:p>
        </p:txBody>
      </p:sp>
      <p:sp>
        <p:nvSpPr>
          <p:cNvPr id="10" name="Marcador de texto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rtl="0">
              <a:spcBef>
                <a:spcPct val="0"/>
              </a:spcBef>
              <a:buNone/>
            </a:pPr>
            <a:r>
              <a:rPr lang="es-ES" noProof="0"/>
              <a:t>Haga clic para modificar los estilos de texto del patrón</a:t>
            </a:r>
          </a:p>
        </p:txBody>
      </p:sp>
      <p:sp>
        <p:nvSpPr>
          <p:cNvPr id="3" name="Marcador de texto 2"/>
          <p:cNvSpPr>
            <a:spLocks noGrp="1"/>
          </p:cNvSpPr>
          <p:nvPr>
            <p:ph type="body" idx="1"/>
          </p:nvPr>
        </p:nvSpPr>
        <p:spPr>
          <a:xfrm>
            <a:off x="1484312" y="4775200"/>
            <a:ext cx="10018710" cy="1016000"/>
          </a:xfrm>
        </p:spPr>
        <p:txBody>
          <a:bodyPr rtlCol="0"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s-ES" noProof="0"/>
              <a:t>Haga clic para modificar los estilos de texto del patrón</a:t>
            </a:r>
          </a:p>
        </p:txBody>
      </p:sp>
      <p:sp>
        <p:nvSpPr>
          <p:cNvPr id="4" name="Marcador de fecha 3"/>
          <p:cNvSpPr>
            <a:spLocks noGrp="1"/>
          </p:cNvSpPr>
          <p:nvPr>
            <p:ph type="dt" sz="half" idx="10"/>
          </p:nvPr>
        </p:nvSpPr>
        <p:spPr/>
        <p:txBody>
          <a:bodyPr rtlCol="0"/>
          <a:lstStyle/>
          <a:p>
            <a:pPr rtl="0"/>
            <a:fld id="{F597C378-A184-4DC4-836F-7BB804AB90B5}" type="datetime1">
              <a:rPr lang="es-ES" noProof="0" smtClean="0"/>
              <a:t>16/01/2026</a:t>
            </a:fld>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posición de número de diapositiva 5"/>
          <p:cNvSpPr>
            <a:spLocks noGrp="1"/>
          </p:cNvSpPr>
          <p:nvPr>
            <p:ph type="sldNum" sz="quarter" idx="12"/>
          </p:nvPr>
        </p:nvSpPr>
        <p:spPr/>
        <p:txBody>
          <a:bodyPr rtlCol="0"/>
          <a:lstStyle/>
          <a:p>
            <a:pPr rtl="0"/>
            <a:fld id="{D57F1E4F-1CFF-5643-939E-217C01CDF565}" type="slidenum">
              <a:rPr lang="es-ES" noProof="0" smtClean="0"/>
              <a:pPr rtl="0"/>
              <a:t>‹Nº›</a:t>
            </a:fld>
            <a:endParaRPr lang="es-ES" noProof="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ítulo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rtl="0"/>
            <a:r>
              <a:rPr lang="es-ES" noProof="0"/>
              <a:t>Haga clic para modificar el estilo de título del patrón</a:t>
            </a:r>
          </a:p>
        </p:txBody>
      </p:sp>
      <p:sp>
        <p:nvSpPr>
          <p:cNvPr id="10" name="Marcador de texto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rtl="0">
              <a:spcBef>
                <a:spcPct val="0"/>
              </a:spcBef>
              <a:buNone/>
            </a:pPr>
            <a:r>
              <a:rPr lang="es-ES" noProof="0"/>
              <a:t>Haga clic para modificar los estilos de texto del patrón</a:t>
            </a:r>
          </a:p>
        </p:txBody>
      </p:sp>
      <p:sp>
        <p:nvSpPr>
          <p:cNvPr id="3" name="Marcador de texto 2"/>
          <p:cNvSpPr>
            <a:spLocks noGrp="1"/>
          </p:cNvSpPr>
          <p:nvPr>
            <p:ph type="body" idx="1"/>
          </p:nvPr>
        </p:nvSpPr>
        <p:spPr>
          <a:xfrm>
            <a:off x="1484311" y="4343400"/>
            <a:ext cx="10018713" cy="1447800"/>
          </a:xfrm>
        </p:spPr>
        <p:txBody>
          <a:bodyPr rtlCol="0"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s-ES" noProof="0"/>
              <a:t>Haga clic para modificar los estilos de texto del patrón</a:t>
            </a:r>
          </a:p>
        </p:txBody>
      </p:sp>
      <p:sp>
        <p:nvSpPr>
          <p:cNvPr id="4" name="Marcador de fecha 3"/>
          <p:cNvSpPr>
            <a:spLocks noGrp="1"/>
          </p:cNvSpPr>
          <p:nvPr>
            <p:ph type="dt" sz="half" idx="10"/>
          </p:nvPr>
        </p:nvSpPr>
        <p:spPr/>
        <p:txBody>
          <a:bodyPr rtlCol="0"/>
          <a:lstStyle/>
          <a:p>
            <a:pPr rtl="0"/>
            <a:fld id="{0AA4CDDF-B480-41AC-8B62-ED5C73E838DF}" type="datetime1">
              <a:rPr lang="es-ES" noProof="0" smtClean="0"/>
              <a:t>16/01/2026</a:t>
            </a:fld>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posición de número de diapositiva 5"/>
          <p:cNvSpPr>
            <a:spLocks noGrp="1"/>
          </p:cNvSpPr>
          <p:nvPr>
            <p:ph type="sldNum" sz="quarter" idx="12"/>
          </p:nvPr>
        </p:nvSpPr>
        <p:spPr/>
        <p:txBody>
          <a:bodyPr rtlCol="0"/>
          <a:lstStyle/>
          <a:p>
            <a:pPr rtl="0"/>
            <a:fld id="{D57F1E4F-1CFF-5643-939E-217C01CDF565}" type="slidenum">
              <a:rPr lang="es-ES" noProof="0" smtClean="0"/>
              <a:pPr rtl="0"/>
              <a:t>‹Nº›</a:t>
            </a:fld>
            <a:endParaRPr lang="es-ES" noProof="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lvl1pPr algn="ctr">
              <a:defRPr/>
            </a:lvl1pPr>
          </a:lstStyle>
          <a:p>
            <a:pPr rtl="0"/>
            <a:r>
              <a:rPr lang="es-ES" noProof="0"/>
              <a:t>Haga clic para modificar el estilo de título del patrón</a:t>
            </a:r>
          </a:p>
        </p:txBody>
      </p:sp>
      <p:sp>
        <p:nvSpPr>
          <p:cNvPr id="3" name="Marcador de posición de texto vertical 2"/>
          <p:cNvSpPr>
            <a:spLocks noGrp="1"/>
          </p:cNvSpPr>
          <p:nvPr>
            <p:ph type="body" orient="vert" idx="1"/>
          </p:nvPr>
        </p:nvSpPr>
        <p:spPr/>
        <p:txBody>
          <a:bodyPr vert="eaVert" rtlCol="0" anchor="t"/>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10"/>
          </p:nvPr>
        </p:nvSpPr>
        <p:spPr/>
        <p:txBody>
          <a:bodyPr rtlCol="0"/>
          <a:lstStyle/>
          <a:p>
            <a:pPr rtl="0"/>
            <a:fld id="{FD5A940A-6C10-45AF-87CA-D1B8D38048A9}" type="datetime1">
              <a:rPr lang="es-ES" noProof="0" smtClean="0"/>
              <a:t>16/01/2026</a:t>
            </a:fld>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posición de número de diapositiva 5"/>
          <p:cNvSpPr>
            <a:spLocks noGrp="1"/>
          </p:cNvSpPr>
          <p:nvPr>
            <p:ph type="sldNum" sz="quarter" idx="12"/>
          </p:nvPr>
        </p:nvSpPr>
        <p:spPr/>
        <p:txBody>
          <a:bodyPr rtlCol="0"/>
          <a:lstStyle/>
          <a:p>
            <a:pPr rtl="0"/>
            <a:fld id="{D57F1E4F-1CFF-5643-939E-217C01CDF565}" type="slidenum">
              <a:rPr lang="es-ES" noProof="0" smtClean="0"/>
              <a:pPr rtl="0"/>
              <a:t>‹Nº›</a:t>
            </a:fld>
            <a:endParaRPr lang="es-ES" noProof="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9732655" y="685800"/>
            <a:ext cx="1770369" cy="5105400"/>
          </a:xfrm>
        </p:spPr>
        <p:txBody>
          <a:bodyPr vert="eaVert" rtlCol="0"/>
          <a:lstStyle/>
          <a:p>
            <a:pPr rtl="0"/>
            <a:r>
              <a:rPr lang="es-ES" noProof="0"/>
              <a:t>Haga clic para modificar el estilo de título del patrón</a:t>
            </a:r>
          </a:p>
        </p:txBody>
      </p:sp>
      <p:sp>
        <p:nvSpPr>
          <p:cNvPr id="3" name="Marcador de posición de texto vertical 2"/>
          <p:cNvSpPr>
            <a:spLocks noGrp="1"/>
          </p:cNvSpPr>
          <p:nvPr>
            <p:ph type="body" orient="vert" idx="1"/>
          </p:nvPr>
        </p:nvSpPr>
        <p:spPr>
          <a:xfrm>
            <a:off x="1484312" y="685800"/>
            <a:ext cx="8019742" cy="5105400"/>
          </a:xfrm>
        </p:spPr>
        <p:txBody>
          <a:bodyPr vert="eaVert" rtlCol="0" anchor="t"/>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10"/>
          </p:nvPr>
        </p:nvSpPr>
        <p:spPr/>
        <p:txBody>
          <a:bodyPr rtlCol="0"/>
          <a:lstStyle/>
          <a:p>
            <a:pPr rtl="0"/>
            <a:fld id="{CCA7AE49-BFB5-4636-863B-91BF70286D45}" type="datetime1">
              <a:rPr lang="es-ES" noProof="0" smtClean="0"/>
              <a:t>16/01/2026</a:t>
            </a:fld>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posición de número de diapositiva 5"/>
          <p:cNvSpPr>
            <a:spLocks noGrp="1"/>
          </p:cNvSpPr>
          <p:nvPr>
            <p:ph type="sldNum" sz="quarter" idx="12"/>
          </p:nvPr>
        </p:nvSpPr>
        <p:spPr/>
        <p:txBody>
          <a:bodyPr rtlCol="0"/>
          <a:lstStyle/>
          <a:p>
            <a:pPr rtl="0"/>
            <a:fld id="{D57F1E4F-1CFF-5643-939E-217C01CDF565}" type="slidenum">
              <a:rPr lang="es-ES" noProof="0" smtClean="0"/>
              <a:pPr rtl="0"/>
              <a:t>‹Nº›</a:t>
            </a:fld>
            <a:endParaRPr lang="es-ES" noProof="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upo 6"/>
          <p:cNvGrpSpPr/>
          <p:nvPr/>
        </p:nvGrpSpPr>
        <p:grpSpPr>
          <a:xfrm>
            <a:off x="150812" y="0"/>
            <a:ext cx="2436813" cy="6858001"/>
            <a:chOff x="1320800" y="0"/>
            <a:chExt cx="2436813" cy="6858001"/>
          </a:xfrm>
        </p:grpSpPr>
        <p:sp>
          <p:nvSpPr>
            <p:cNvPr id="8" name="Forma libre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s-ES"/>
            </a:p>
          </p:txBody>
        </p:sp>
        <p:sp>
          <p:nvSpPr>
            <p:cNvPr id="9" name="Forma libre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s-ES"/>
            </a:p>
          </p:txBody>
        </p:sp>
        <p:sp>
          <p:nvSpPr>
            <p:cNvPr id="10" name="Forma libre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s-ES"/>
            </a:p>
          </p:txBody>
        </p:sp>
        <p:sp>
          <p:nvSpPr>
            <p:cNvPr id="11" name="Forma libre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s-ES"/>
            </a:p>
          </p:txBody>
        </p:sp>
        <p:sp>
          <p:nvSpPr>
            <p:cNvPr id="12" name="Forma libre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s-ES"/>
            </a:p>
          </p:txBody>
        </p:sp>
        <p:sp>
          <p:nvSpPr>
            <p:cNvPr id="13" name="Forma libre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s-ES"/>
            </a:p>
          </p:txBody>
        </p:sp>
      </p:grpSp>
      <p:sp>
        <p:nvSpPr>
          <p:cNvPr id="2" name="Marcador de posición de título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pPr rtl="0"/>
            <a:r>
              <a:rPr lang="es-ES" noProof="0"/>
              <a:t>Haga clic para modificar el estilo de título del patrón</a:t>
            </a:r>
          </a:p>
        </p:txBody>
      </p:sp>
      <p:sp>
        <p:nvSpPr>
          <p:cNvPr id="3" name="Marcador de posición de texto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rtl="0"/>
            <a:fld id="{D09AD70A-8DAE-432E-8680-A855CCFA5BFA}" type="datetime1">
              <a:rPr lang="es-ES" noProof="0" smtClean="0"/>
              <a:t>16/01/2026</a:t>
            </a:fld>
            <a:endParaRPr lang="es-ES" noProof="0" dirty="0"/>
          </a:p>
        </p:txBody>
      </p:sp>
      <p:sp>
        <p:nvSpPr>
          <p:cNvPr id="5" name="Marcador de posición de pie de página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pPr rtl="0"/>
            <a:endParaRPr lang="es-ES" noProof="0"/>
          </a:p>
        </p:txBody>
      </p:sp>
      <p:sp>
        <p:nvSpPr>
          <p:cNvPr id="6" name="Marcador de número de diapositiva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rtl="0"/>
            <a:fld id="{D57F1E4F-1CFF-5643-939E-217C01CDF565}" type="slidenum">
              <a:rPr lang="es-ES" noProof="0" smtClean="0"/>
              <a:pPr rtl="0"/>
              <a:t>‹Nº›</a:t>
            </a:fld>
            <a:endParaRPr lang="es-ES" noProof="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hf sldNum="0" hdr="0" ft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oracle.com/java/technologies/downloads/#jdk25-linux" TargetMode="External"/><Relationship Id="rId2" Type="http://schemas.openxmlformats.org/officeDocument/2006/relationships/hyperlink" Target="https://kafka.apache.org/41/getting-started/compatibility/" TargetMode="Externa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kafka.apache.org/downloads" TargetMode="Externa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kafka.apache.org/documentation/#gettingStarted" TargetMode="Externa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kafka.apache.org/documentation/" TargetMode="External"/><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ángulo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a:p>
        </p:txBody>
      </p:sp>
      <p:grpSp>
        <p:nvGrpSpPr>
          <p:cNvPr id="23" name="Grupo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orma libre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s-ES"/>
            </a:p>
          </p:txBody>
        </p:sp>
        <p:sp>
          <p:nvSpPr>
            <p:cNvPr id="25" name="Forma libre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s-ES"/>
            </a:p>
          </p:txBody>
        </p:sp>
        <p:sp>
          <p:nvSpPr>
            <p:cNvPr id="26" name="Forma libre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s-ES"/>
            </a:p>
          </p:txBody>
        </p:sp>
        <p:sp>
          <p:nvSpPr>
            <p:cNvPr id="27" name="Forma libre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s-ES"/>
            </a:p>
          </p:txBody>
        </p:sp>
        <p:sp>
          <p:nvSpPr>
            <p:cNvPr id="28" name="Forma libre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s-ES"/>
            </a:p>
          </p:txBody>
        </p:sp>
        <p:sp>
          <p:nvSpPr>
            <p:cNvPr id="29" name="Forma libre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s-ES"/>
            </a:p>
          </p:txBody>
        </p:sp>
      </p:grpSp>
      <p:sp>
        <p:nvSpPr>
          <p:cNvPr id="2" name="Título 1">
            <a:extLst>
              <a:ext uri="{FF2B5EF4-FFF2-40B4-BE49-F238E27FC236}">
                <a16:creationId xmlns:a16="http://schemas.microsoft.com/office/drawing/2014/main" id="{652CD06E-EB43-4697-A9C1-290232C3BAD6}"/>
              </a:ext>
            </a:extLst>
          </p:cNvPr>
          <p:cNvSpPr>
            <a:spLocks noGrp="1"/>
          </p:cNvSpPr>
          <p:nvPr>
            <p:ph type="ctrTitle"/>
          </p:nvPr>
        </p:nvSpPr>
        <p:spPr>
          <a:xfrm>
            <a:off x="1018190" y="924232"/>
            <a:ext cx="8174971" cy="3285866"/>
          </a:xfrm>
        </p:spPr>
        <p:txBody>
          <a:bodyPr rtlCol="0">
            <a:normAutofit/>
          </a:bodyPr>
          <a:lstStyle/>
          <a:p>
            <a:pPr algn="l"/>
            <a:r>
              <a:rPr lang="es-ES" sz="6200" dirty="0"/>
              <a:t>KAFKA</a:t>
            </a:r>
          </a:p>
        </p:txBody>
      </p:sp>
      <p:sp>
        <p:nvSpPr>
          <p:cNvPr id="3" name="Subtítulo 2">
            <a:extLst>
              <a:ext uri="{FF2B5EF4-FFF2-40B4-BE49-F238E27FC236}">
                <a16:creationId xmlns:a16="http://schemas.microsoft.com/office/drawing/2014/main" id="{1FBBDE4E-FFA3-44D5-BA0B-7575E2214B7C}"/>
              </a:ext>
            </a:extLst>
          </p:cNvPr>
          <p:cNvSpPr>
            <a:spLocks noGrp="1"/>
          </p:cNvSpPr>
          <p:nvPr>
            <p:ph type="subTitle" idx="1"/>
          </p:nvPr>
        </p:nvSpPr>
        <p:spPr>
          <a:xfrm>
            <a:off x="1018190" y="4210098"/>
            <a:ext cx="7178070" cy="863348"/>
          </a:xfrm>
        </p:spPr>
        <p:txBody>
          <a:bodyPr rtlCol="0">
            <a:normAutofit/>
          </a:bodyPr>
          <a:lstStyle/>
          <a:p>
            <a:pPr algn="l" rtl="0"/>
            <a:r>
              <a:rPr lang="es-ES" dirty="0"/>
              <a:t>Instalación, puesta en marcha y primeros pasos</a:t>
            </a:r>
          </a:p>
        </p:txBody>
      </p:sp>
    </p:spTree>
    <p:extLst>
      <p:ext uri="{BB962C8B-B14F-4D97-AF65-F5344CB8AC3E}">
        <p14:creationId xmlns:p14="http://schemas.microsoft.com/office/powerpoint/2010/main" val="3884466951"/>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ángulo 20">
            <a:extLst>
              <a:ext uri="{FF2B5EF4-FFF2-40B4-BE49-F238E27FC236}">
                <a16:creationId xmlns:a16="http://schemas.microsoft.com/office/drawing/2014/main" id="{99CAC3B1-4879-424D-8F15-2062771961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a:p>
        </p:txBody>
      </p:sp>
      <p:grpSp>
        <p:nvGrpSpPr>
          <p:cNvPr id="23" name="Grupo 22">
            <a:extLst>
              <a:ext uri="{FF2B5EF4-FFF2-40B4-BE49-F238E27FC236}">
                <a16:creationId xmlns:a16="http://schemas.microsoft.com/office/drawing/2014/main" id="{4B8492CB-DFBA-4A82-9778-F21493DA36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0"/>
            <a:ext cx="5014912" cy="6862763"/>
            <a:chOff x="2928938" y="-4763"/>
            <a:chExt cx="5014912" cy="6862763"/>
          </a:xfrm>
        </p:grpSpPr>
        <p:sp>
          <p:nvSpPr>
            <p:cNvPr id="24" name="Forma libre 6">
              <a:extLst>
                <a:ext uri="{FF2B5EF4-FFF2-40B4-BE49-F238E27FC236}">
                  <a16:creationId xmlns:a16="http://schemas.microsoft.com/office/drawing/2014/main" id="{E34CC1C8-EBDD-4AEA-83E6-B27575B62E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s-ES"/>
            </a:p>
          </p:txBody>
        </p:sp>
        <p:sp>
          <p:nvSpPr>
            <p:cNvPr id="25" name="Forma libre 7">
              <a:extLst>
                <a:ext uri="{FF2B5EF4-FFF2-40B4-BE49-F238E27FC236}">
                  <a16:creationId xmlns:a16="http://schemas.microsoft.com/office/drawing/2014/main" id="{D6B38644-B85D-4211-9526-5B4C2A662B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s-ES"/>
            </a:p>
          </p:txBody>
        </p:sp>
        <p:sp>
          <p:nvSpPr>
            <p:cNvPr id="26" name="Forma libre 12">
              <a:extLst>
                <a:ext uri="{FF2B5EF4-FFF2-40B4-BE49-F238E27FC236}">
                  <a16:creationId xmlns:a16="http://schemas.microsoft.com/office/drawing/2014/main" id="{8A8B2820-6B8F-4C19-BFC5-D28EE44E54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s-ES"/>
            </a:p>
          </p:txBody>
        </p:sp>
        <p:sp>
          <p:nvSpPr>
            <p:cNvPr id="27" name="Forma libre 13">
              <a:extLst>
                <a:ext uri="{FF2B5EF4-FFF2-40B4-BE49-F238E27FC236}">
                  <a16:creationId xmlns:a16="http://schemas.microsoft.com/office/drawing/2014/main" id="{773528ED-4D37-4A77-A8CA-86B6221C5E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s-ES"/>
            </a:p>
          </p:txBody>
        </p:sp>
        <p:sp>
          <p:nvSpPr>
            <p:cNvPr id="28" name="Forma libre 14">
              <a:extLst>
                <a:ext uri="{FF2B5EF4-FFF2-40B4-BE49-F238E27FC236}">
                  <a16:creationId xmlns:a16="http://schemas.microsoft.com/office/drawing/2014/main" id="{8A58A902-E944-4399-9A93-A91A6A82B1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s-ES"/>
            </a:p>
          </p:txBody>
        </p:sp>
        <p:sp>
          <p:nvSpPr>
            <p:cNvPr id="29" name="Forma libre 15">
              <a:extLst>
                <a:ext uri="{FF2B5EF4-FFF2-40B4-BE49-F238E27FC236}">
                  <a16:creationId xmlns:a16="http://schemas.microsoft.com/office/drawing/2014/main" id="{4EDB1155-2E8E-4FB8-AD42-101FE43832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s-ES"/>
            </a:p>
          </p:txBody>
        </p:sp>
      </p:grpSp>
      <p:sp>
        <p:nvSpPr>
          <p:cNvPr id="2" name="Título 1">
            <a:extLst>
              <a:ext uri="{FF2B5EF4-FFF2-40B4-BE49-F238E27FC236}">
                <a16:creationId xmlns:a16="http://schemas.microsoft.com/office/drawing/2014/main" id="{C7492CCE-C435-464E-A19A-D4C606FDBE3D}"/>
              </a:ext>
            </a:extLst>
          </p:cNvPr>
          <p:cNvSpPr>
            <a:spLocks noGrp="1"/>
          </p:cNvSpPr>
          <p:nvPr>
            <p:ph type="title"/>
          </p:nvPr>
        </p:nvSpPr>
        <p:spPr>
          <a:xfrm>
            <a:off x="1018191" y="685800"/>
            <a:ext cx="7411825" cy="1752599"/>
          </a:xfrm>
        </p:spPr>
        <p:txBody>
          <a:bodyPr rtlCol="0">
            <a:normAutofit/>
          </a:bodyPr>
          <a:lstStyle/>
          <a:p>
            <a:pPr algn="l"/>
            <a:r>
              <a:rPr lang="es-ES" dirty="0"/>
              <a:t>Kafka – Conceptos básicos</a:t>
            </a:r>
          </a:p>
        </p:txBody>
      </p:sp>
    </p:spTree>
    <p:extLst>
      <p:ext uri="{BB962C8B-B14F-4D97-AF65-F5344CB8AC3E}">
        <p14:creationId xmlns:p14="http://schemas.microsoft.com/office/powerpoint/2010/main" val="990684553"/>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AB0B3-A096-99BA-8E9E-5EE2BFD6120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34AF26A-0A72-32CB-D00B-9B8B7FC1228B}"/>
              </a:ext>
            </a:extLst>
          </p:cNvPr>
          <p:cNvSpPr>
            <a:spLocks noGrp="1"/>
          </p:cNvSpPr>
          <p:nvPr>
            <p:ph type="title"/>
          </p:nvPr>
        </p:nvSpPr>
        <p:spPr>
          <a:xfrm>
            <a:off x="1484311" y="685800"/>
            <a:ext cx="10018713" cy="814137"/>
          </a:xfrm>
        </p:spPr>
        <p:txBody>
          <a:bodyPr/>
          <a:lstStyle/>
          <a:p>
            <a:r>
              <a:rPr lang="es-ES" dirty="0"/>
              <a:t>¿Qué es Apache Kafka?</a:t>
            </a:r>
          </a:p>
        </p:txBody>
      </p:sp>
      <p:sp>
        <p:nvSpPr>
          <p:cNvPr id="3" name="Marcador de contenido 2">
            <a:extLst>
              <a:ext uri="{FF2B5EF4-FFF2-40B4-BE49-F238E27FC236}">
                <a16:creationId xmlns:a16="http://schemas.microsoft.com/office/drawing/2014/main" id="{EB030470-7B5E-24B3-6E15-D577F855E817}"/>
              </a:ext>
            </a:extLst>
          </p:cNvPr>
          <p:cNvSpPr>
            <a:spLocks noGrp="1"/>
          </p:cNvSpPr>
          <p:nvPr>
            <p:ph idx="1"/>
          </p:nvPr>
        </p:nvSpPr>
        <p:spPr>
          <a:xfrm>
            <a:off x="1484310" y="1668379"/>
            <a:ext cx="6169557" cy="4122821"/>
          </a:xfrm>
        </p:spPr>
        <p:txBody>
          <a:bodyPr anchor="t">
            <a:normAutofit/>
          </a:bodyPr>
          <a:lstStyle/>
          <a:p>
            <a:r>
              <a:rPr lang="es-ES" sz="1600" dirty="0"/>
              <a:t>Plataforma de </a:t>
            </a:r>
            <a:r>
              <a:rPr lang="es-ES" sz="1600" b="1" dirty="0" err="1"/>
              <a:t>streaming</a:t>
            </a:r>
            <a:r>
              <a:rPr lang="es-ES" sz="1600" dirty="0"/>
              <a:t> distribuida de código abierto </a:t>
            </a:r>
          </a:p>
          <a:p>
            <a:r>
              <a:rPr lang="es-ES" sz="1600" dirty="0"/>
              <a:t>Desarrollada originalmente por LinkedIn, donada a Apache Software </a:t>
            </a:r>
            <a:r>
              <a:rPr lang="es-ES" sz="1600" dirty="0" err="1"/>
              <a:t>Foundation</a:t>
            </a:r>
            <a:r>
              <a:rPr lang="es-ES" sz="1600" dirty="0"/>
              <a:t>.</a:t>
            </a:r>
          </a:p>
          <a:p>
            <a:r>
              <a:rPr lang="es-ES" sz="1600" dirty="0"/>
              <a:t>Diseñada para manejar flujos de datos en tiempo real con alta velocidad </a:t>
            </a:r>
          </a:p>
          <a:p>
            <a:r>
              <a:rPr lang="es-ES" sz="1600" dirty="0"/>
              <a:t>Almacenamiento duradero de eventos para procesamiento posterior .</a:t>
            </a:r>
          </a:p>
          <a:p>
            <a:endParaRPr lang="es-ES" sz="1600" dirty="0"/>
          </a:p>
          <a:p>
            <a:endParaRPr lang="es-ES" sz="1600" dirty="0"/>
          </a:p>
          <a:p>
            <a:endParaRPr lang="es-ES" sz="1600" dirty="0"/>
          </a:p>
        </p:txBody>
      </p:sp>
      <p:pic>
        <p:nvPicPr>
          <p:cNvPr id="18" name="Imagen 17" descr="Imagen que contiene Logotipo&#10;&#10;El contenido generado por IA puede ser incorrecto.">
            <a:extLst>
              <a:ext uri="{FF2B5EF4-FFF2-40B4-BE49-F238E27FC236}">
                <a16:creationId xmlns:a16="http://schemas.microsoft.com/office/drawing/2014/main" id="{F5EC0D18-3E58-ED94-55B1-B070B6608DEE}"/>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863" b="89863" l="9341" r="89973">
                        <a14:foregroundMark x1="10027" y1="44932" x2="9341" y2="53973"/>
                        <a14:foregroundMark x1="40247" y1="51781" x2="42720" y2="52603"/>
                        <a14:foregroundMark x1="51648" y1="48493" x2="50824" y2="55616"/>
                        <a14:foregroundMark x1="65934" y1="44658" x2="65247" y2="50959"/>
                        <a14:foregroundMark x1="71429" y1="46301" x2="71429" y2="52329"/>
                        <a14:foregroundMark x1="82418" y1="47397" x2="81319" y2="53699"/>
                      </a14:backgroundRemoval>
                    </a14:imgEffect>
                  </a14:imgLayer>
                </a14:imgProps>
              </a:ext>
            </a:extLst>
          </a:blip>
          <a:stretch>
            <a:fillRect/>
          </a:stretch>
        </p:blipFill>
        <p:spPr>
          <a:xfrm>
            <a:off x="4830234" y="3640667"/>
            <a:ext cx="5189567" cy="2601912"/>
          </a:xfrm>
          <a:prstGeom prst="rect">
            <a:avLst/>
          </a:prstGeom>
        </p:spPr>
      </p:pic>
    </p:spTree>
    <p:extLst>
      <p:ext uri="{BB962C8B-B14F-4D97-AF65-F5344CB8AC3E}">
        <p14:creationId xmlns:p14="http://schemas.microsoft.com/office/powerpoint/2010/main" val="34275630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4688E-C0FB-A0F6-7560-06ED215E50A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66912AA-7BED-2A22-84F4-C5CB71BB5EA1}"/>
              </a:ext>
            </a:extLst>
          </p:cNvPr>
          <p:cNvSpPr>
            <a:spLocks noGrp="1"/>
          </p:cNvSpPr>
          <p:nvPr>
            <p:ph type="title"/>
          </p:nvPr>
        </p:nvSpPr>
        <p:spPr>
          <a:xfrm>
            <a:off x="1484311" y="685800"/>
            <a:ext cx="10018713" cy="814137"/>
          </a:xfrm>
        </p:spPr>
        <p:txBody>
          <a:bodyPr/>
          <a:lstStyle/>
          <a:p>
            <a:r>
              <a:rPr lang="es-ES" dirty="0"/>
              <a:t>Características Principales</a:t>
            </a:r>
          </a:p>
        </p:txBody>
      </p:sp>
      <p:sp>
        <p:nvSpPr>
          <p:cNvPr id="3" name="Marcador de contenido 2">
            <a:extLst>
              <a:ext uri="{FF2B5EF4-FFF2-40B4-BE49-F238E27FC236}">
                <a16:creationId xmlns:a16="http://schemas.microsoft.com/office/drawing/2014/main" id="{45FB7C6E-17A7-2AF1-6B4B-671C8EB0BE53}"/>
              </a:ext>
            </a:extLst>
          </p:cNvPr>
          <p:cNvSpPr>
            <a:spLocks noGrp="1"/>
          </p:cNvSpPr>
          <p:nvPr>
            <p:ph idx="1"/>
          </p:nvPr>
        </p:nvSpPr>
        <p:spPr>
          <a:xfrm>
            <a:off x="1484310" y="1668379"/>
            <a:ext cx="6169557" cy="4122821"/>
          </a:xfrm>
        </p:spPr>
        <p:txBody>
          <a:bodyPr anchor="t">
            <a:normAutofit/>
          </a:bodyPr>
          <a:lstStyle/>
          <a:p>
            <a:r>
              <a:rPr lang="es-ES" sz="1600" b="1" dirty="0"/>
              <a:t>Alto rendimiento</a:t>
            </a:r>
            <a:r>
              <a:rPr lang="es-ES" sz="1600" dirty="0"/>
              <a:t>: Maneja millones de eventos por segundo </a:t>
            </a:r>
          </a:p>
          <a:p>
            <a:r>
              <a:rPr lang="es-ES" sz="1600" b="1" dirty="0"/>
              <a:t>Escalabilidad horizontal</a:t>
            </a:r>
            <a:r>
              <a:rPr lang="es-ES" sz="1600" dirty="0"/>
              <a:t>: Se distribuye en múltiples servidores. </a:t>
            </a:r>
          </a:p>
          <a:p>
            <a:r>
              <a:rPr lang="es-ES" sz="1600" b="1" dirty="0"/>
              <a:t>Tolerancia a fallos</a:t>
            </a:r>
            <a:r>
              <a:rPr lang="es-ES" sz="1600" dirty="0"/>
              <a:t>: Replicación automática de datos. </a:t>
            </a:r>
          </a:p>
          <a:p>
            <a:r>
              <a:rPr lang="es-ES" sz="1600" b="1" dirty="0"/>
              <a:t>Baja latencia</a:t>
            </a:r>
            <a:r>
              <a:rPr lang="es-ES" sz="1600" dirty="0"/>
              <a:t>: Procesamiento en tiempo real.</a:t>
            </a:r>
          </a:p>
          <a:p>
            <a:r>
              <a:rPr lang="es-ES" sz="1600" b="1" dirty="0"/>
              <a:t>Persistencia</a:t>
            </a:r>
            <a:r>
              <a:rPr lang="es-ES" sz="1600" dirty="0"/>
              <a:t>: Los datos se almacenan de forma durable.</a:t>
            </a:r>
          </a:p>
          <a:p>
            <a:endParaRPr lang="es-ES" sz="1600" dirty="0"/>
          </a:p>
          <a:p>
            <a:endParaRPr lang="es-ES" sz="1600" dirty="0"/>
          </a:p>
        </p:txBody>
      </p:sp>
    </p:spTree>
    <p:extLst>
      <p:ext uri="{BB962C8B-B14F-4D97-AF65-F5344CB8AC3E}">
        <p14:creationId xmlns:p14="http://schemas.microsoft.com/office/powerpoint/2010/main" val="1591577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7AC9B-96DB-72B9-4E31-7753E85FFB9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5F229BC-90EE-E3EB-FF28-1182903F8C75}"/>
              </a:ext>
            </a:extLst>
          </p:cNvPr>
          <p:cNvSpPr>
            <a:spLocks noGrp="1"/>
          </p:cNvSpPr>
          <p:nvPr>
            <p:ph type="title"/>
          </p:nvPr>
        </p:nvSpPr>
        <p:spPr>
          <a:xfrm>
            <a:off x="1484311" y="685800"/>
            <a:ext cx="10018713" cy="814137"/>
          </a:xfrm>
        </p:spPr>
        <p:txBody>
          <a:bodyPr/>
          <a:lstStyle/>
          <a:p>
            <a:r>
              <a:rPr lang="es-ES" dirty="0"/>
              <a:t>Conceptos Fundamentales</a:t>
            </a:r>
          </a:p>
        </p:txBody>
      </p:sp>
      <p:sp>
        <p:nvSpPr>
          <p:cNvPr id="3" name="Marcador de contenido 2">
            <a:extLst>
              <a:ext uri="{FF2B5EF4-FFF2-40B4-BE49-F238E27FC236}">
                <a16:creationId xmlns:a16="http://schemas.microsoft.com/office/drawing/2014/main" id="{F2CC962A-BE4F-68D8-984D-C8D78DC14FCF}"/>
              </a:ext>
            </a:extLst>
          </p:cNvPr>
          <p:cNvSpPr>
            <a:spLocks noGrp="1"/>
          </p:cNvSpPr>
          <p:nvPr>
            <p:ph idx="1"/>
          </p:nvPr>
        </p:nvSpPr>
        <p:spPr>
          <a:xfrm>
            <a:off x="874710" y="1852863"/>
            <a:ext cx="4844301" cy="4122821"/>
          </a:xfrm>
        </p:spPr>
        <p:txBody>
          <a:bodyPr anchor="t">
            <a:normAutofit/>
          </a:bodyPr>
          <a:lstStyle/>
          <a:p>
            <a:pPr marL="0" indent="0">
              <a:buNone/>
            </a:pPr>
            <a:r>
              <a:rPr lang="es-ES" sz="1600" b="1" dirty="0" err="1"/>
              <a:t>Topic</a:t>
            </a:r>
            <a:r>
              <a:rPr lang="es-ES" sz="1600" b="1" dirty="0"/>
              <a:t> (Tema)</a:t>
            </a:r>
            <a:endParaRPr lang="es-ES" sz="1600" dirty="0"/>
          </a:p>
          <a:p>
            <a:r>
              <a:rPr lang="es-ES" sz="1600" dirty="0"/>
              <a:t>Canal lógico donde se publican los eventos</a:t>
            </a:r>
          </a:p>
          <a:p>
            <a:r>
              <a:rPr lang="es-ES" sz="1600" dirty="0"/>
              <a:t>Ejemplo: </a:t>
            </a:r>
            <a:r>
              <a:rPr lang="es-ES" sz="1600" dirty="0" err="1"/>
              <a:t>payments</a:t>
            </a:r>
            <a:r>
              <a:rPr lang="es-ES" sz="1600" dirty="0"/>
              <a:t>, </a:t>
            </a:r>
            <a:r>
              <a:rPr lang="es-ES" sz="1600" dirty="0" err="1"/>
              <a:t>user-activity</a:t>
            </a:r>
            <a:r>
              <a:rPr lang="es-ES" sz="1600" dirty="0"/>
              <a:t>, </a:t>
            </a:r>
            <a:r>
              <a:rPr lang="es-ES" sz="1600" dirty="0" err="1"/>
              <a:t>system</a:t>
            </a:r>
            <a:r>
              <a:rPr lang="es-ES" sz="1600" dirty="0"/>
              <a:t>-logs</a:t>
            </a:r>
          </a:p>
          <a:p>
            <a:pPr marL="0" indent="0">
              <a:buNone/>
            </a:pPr>
            <a:r>
              <a:rPr lang="es-ES" sz="1600" b="1" dirty="0" err="1"/>
              <a:t>Partition</a:t>
            </a:r>
            <a:r>
              <a:rPr lang="es-ES" sz="1600" b="1" dirty="0"/>
              <a:t> (Partición)</a:t>
            </a:r>
            <a:endParaRPr lang="es-ES" sz="1600" dirty="0"/>
          </a:p>
          <a:p>
            <a:r>
              <a:rPr lang="es-ES" sz="1600" dirty="0"/>
              <a:t>División de un </a:t>
            </a:r>
            <a:r>
              <a:rPr lang="es-ES" sz="1600" dirty="0" err="1"/>
              <a:t>topic</a:t>
            </a:r>
            <a:r>
              <a:rPr lang="es-ES" sz="1600" dirty="0"/>
              <a:t> para paralelización</a:t>
            </a:r>
          </a:p>
          <a:p>
            <a:r>
              <a:rPr lang="es-ES" sz="1600" dirty="0"/>
              <a:t>Cada partición es un log ordenado</a:t>
            </a:r>
          </a:p>
          <a:p>
            <a:pPr marL="0" indent="0">
              <a:buNone/>
            </a:pPr>
            <a:r>
              <a:rPr lang="es-ES" sz="1600" b="1" dirty="0" err="1"/>
              <a:t>Broker</a:t>
            </a:r>
            <a:endParaRPr lang="es-ES" sz="1600" dirty="0"/>
          </a:p>
          <a:p>
            <a:r>
              <a:rPr lang="es-ES" sz="1600" dirty="0"/>
              <a:t>Servidor que almacena y sirve los datos</a:t>
            </a:r>
          </a:p>
          <a:p>
            <a:r>
              <a:rPr lang="es-ES" sz="1600" dirty="0"/>
              <a:t>Kafka funciona como </a:t>
            </a:r>
            <a:r>
              <a:rPr lang="es-ES" sz="1600" dirty="0" err="1"/>
              <a:t>cluster</a:t>
            </a:r>
            <a:r>
              <a:rPr lang="es-ES" sz="1600" dirty="0"/>
              <a:t> de </a:t>
            </a:r>
            <a:r>
              <a:rPr lang="es-ES" sz="1600" dirty="0" err="1"/>
              <a:t>brokers</a:t>
            </a:r>
            <a:endParaRPr lang="es-ES" sz="1600" dirty="0"/>
          </a:p>
          <a:p>
            <a:endParaRPr lang="es-ES" sz="1600" dirty="0"/>
          </a:p>
          <a:p>
            <a:endParaRPr lang="es-ES" sz="1600" dirty="0"/>
          </a:p>
        </p:txBody>
      </p:sp>
      <p:sp>
        <p:nvSpPr>
          <p:cNvPr id="4" name="Marcador de contenido 2">
            <a:extLst>
              <a:ext uri="{FF2B5EF4-FFF2-40B4-BE49-F238E27FC236}">
                <a16:creationId xmlns:a16="http://schemas.microsoft.com/office/drawing/2014/main" id="{BAFBFDB2-EBCF-79A6-E895-D4E978470D7D}"/>
              </a:ext>
            </a:extLst>
          </p:cNvPr>
          <p:cNvSpPr txBox="1">
            <a:spLocks/>
          </p:cNvSpPr>
          <p:nvPr/>
        </p:nvSpPr>
        <p:spPr>
          <a:xfrm>
            <a:off x="6008184" y="1852862"/>
            <a:ext cx="4844301" cy="4122821"/>
          </a:xfrm>
          <a:prstGeom prst="rect">
            <a:avLst/>
          </a:prstGeom>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a:buNone/>
            </a:pPr>
            <a:r>
              <a:rPr lang="es-ES" sz="1600" b="1" dirty="0"/>
              <a:t>Producer (Productor)</a:t>
            </a:r>
            <a:endParaRPr lang="es-ES" sz="1600" dirty="0"/>
          </a:p>
          <a:p>
            <a:r>
              <a:rPr lang="es-ES" sz="1600" dirty="0"/>
              <a:t>Aplicación que publica eventos a </a:t>
            </a:r>
            <a:r>
              <a:rPr lang="es-ES" sz="1600" dirty="0" err="1"/>
              <a:t>topics</a:t>
            </a:r>
            <a:endParaRPr lang="es-ES" sz="1600" dirty="0"/>
          </a:p>
          <a:p>
            <a:r>
              <a:rPr lang="es-ES" sz="1600" dirty="0"/>
              <a:t>Envía datos a Kafka</a:t>
            </a:r>
          </a:p>
          <a:p>
            <a:pPr marL="0" indent="0">
              <a:buNone/>
            </a:pPr>
            <a:r>
              <a:rPr lang="es-ES" sz="1600" b="1" dirty="0" err="1"/>
              <a:t>Consumer</a:t>
            </a:r>
            <a:r>
              <a:rPr lang="es-ES" sz="1600" b="1" dirty="0"/>
              <a:t> (Consumidor)</a:t>
            </a:r>
            <a:endParaRPr lang="es-ES" sz="1600" dirty="0"/>
          </a:p>
          <a:p>
            <a:r>
              <a:rPr lang="es-ES" sz="1600" dirty="0"/>
              <a:t>Aplicación que lee eventos de </a:t>
            </a:r>
            <a:r>
              <a:rPr lang="es-ES" sz="1600" dirty="0" err="1"/>
              <a:t>topics</a:t>
            </a:r>
            <a:endParaRPr lang="es-ES" sz="1600" dirty="0"/>
          </a:p>
          <a:p>
            <a:r>
              <a:rPr lang="es-ES" sz="1600" dirty="0"/>
              <a:t>Procesa los datos de Kafka</a:t>
            </a:r>
          </a:p>
          <a:p>
            <a:pPr marL="0" indent="0">
              <a:buNone/>
            </a:pPr>
            <a:r>
              <a:rPr lang="es-ES" sz="1600" b="1" dirty="0" err="1"/>
              <a:t>Consumer</a:t>
            </a:r>
            <a:r>
              <a:rPr lang="es-ES" sz="1600" b="1" dirty="0"/>
              <a:t> </a:t>
            </a:r>
            <a:r>
              <a:rPr lang="es-ES" sz="1600" b="1" dirty="0" err="1"/>
              <a:t>Group</a:t>
            </a:r>
            <a:endParaRPr lang="es-ES" sz="1600" dirty="0"/>
          </a:p>
          <a:p>
            <a:r>
              <a:rPr lang="es-ES" sz="1600" dirty="0"/>
              <a:t>Grupo de consumidores que procesan en paralelo</a:t>
            </a:r>
          </a:p>
          <a:p>
            <a:r>
              <a:rPr lang="es-ES" sz="1600" dirty="0"/>
              <a:t>Balanceo automático de carga</a:t>
            </a:r>
          </a:p>
          <a:p>
            <a:endParaRPr lang="es-ES" sz="1600" dirty="0"/>
          </a:p>
        </p:txBody>
      </p:sp>
    </p:spTree>
    <p:extLst>
      <p:ext uri="{BB962C8B-B14F-4D97-AF65-F5344CB8AC3E}">
        <p14:creationId xmlns:p14="http://schemas.microsoft.com/office/powerpoint/2010/main" val="28479493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4935A-3CAB-D230-CE65-7A391C34881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55B38D5-6EB3-68DA-4487-F0BD7F078563}"/>
              </a:ext>
            </a:extLst>
          </p:cNvPr>
          <p:cNvSpPr>
            <a:spLocks noGrp="1"/>
          </p:cNvSpPr>
          <p:nvPr>
            <p:ph type="title"/>
          </p:nvPr>
        </p:nvSpPr>
        <p:spPr>
          <a:xfrm>
            <a:off x="1484311" y="685800"/>
            <a:ext cx="10018713" cy="814137"/>
          </a:xfrm>
        </p:spPr>
        <p:txBody>
          <a:bodyPr/>
          <a:lstStyle/>
          <a:p>
            <a:r>
              <a:rPr lang="es-ES" dirty="0"/>
              <a:t>Arquitectura Kafka</a:t>
            </a:r>
          </a:p>
        </p:txBody>
      </p:sp>
      <p:sp>
        <p:nvSpPr>
          <p:cNvPr id="3" name="Marcador de contenido 2">
            <a:extLst>
              <a:ext uri="{FF2B5EF4-FFF2-40B4-BE49-F238E27FC236}">
                <a16:creationId xmlns:a16="http://schemas.microsoft.com/office/drawing/2014/main" id="{B4C2DFD2-7A4F-3522-12DF-5492904CF0F9}"/>
              </a:ext>
            </a:extLst>
          </p:cNvPr>
          <p:cNvSpPr>
            <a:spLocks noGrp="1"/>
          </p:cNvSpPr>
          <p:nvPr>
            <p:ph idx="1"/>
          </p:nvPr>
        </p:nvSpPr>
        <p:spPr>
          <a:xfrm>
            <a:off x="1484310" y="1668379"/>
            <a:ext cx="6169557" cy="4122821"/>
          </a:xfrm>
        </p:spPr>
        <p:txBody>
          <a:bodyPr anchor="t">
            <a:normAutofit/>
          </a:bodyPr>
          <a:lstStyle/>
          <a:p>
            <a:endParaRPr lang="es-ES" sz="1600" dirty="0"/>
          </a:p>
          <a:p>
            <a:r>
              <a:rPr lang="es-ES" sz="1600" dirty="0"/>
              <a:t>Modelo pub-sub desacoplado </a:t>
            </a:r>
          </a:p>
          <a:p>
            <a:r>
              <a:rPr lang="es-ES" sz="1600" dirty="0"/>
              <a:t>Persistencia configurable (horas, días, permanente) </a:t>
            </a:r>
          </a:p>
          <a:p>
            <a:r>
              <a:rPr lang="es-ES" sz="1600" dirty="0"/>
              <a:t>Replicación automática entre </a:t>
            </a:r>
            <a:r>
              <a:rPr lang="es-ES" sz="1600" dirty="0" err="1"/>
              <a:t>brokers</a:t>
            </a:r>
            <a:r>
              <a:rPr lang="es-ES" sz="1600" dirty="0"/>
              <a:t>.</a:t>
            </a:r>
          </a:p>
          <a:p>
            <a:endParaRPr lang="es-ES" sz="1600" dirty="0"/>
          </a:p>
          <a:p>
            <a:r>
              <a:rPr lang="es-ES" sz="1600" b="1" dirty="0"/>
              <a:t>Pub-Sub Desacoplado</a:t>
            </a:r>
          </a:p>
          <a:p>
            <a:pPr lvl="1"/>
            <a:r>
              <a:rPr lang="es-ES" sz="1400" b="1" dirty="0" err="1"/>
              <a:t>Publishers</a:t>
            </a:r>
            <a:r>
              <a:rPr lang="es-ES" sz="1400" dirty="0"/>
              <a:t> (productores) y </a:t>
            </a:r>
            <a:r>
              <a:rPr lang="es-ES" sz="1400" b="1" dirty="0" err="1"/>
              <a:t>subscribers</a:t>
            </a:r>
            <a:r>
              <a:rPr lang="es-ES" sz="1400" dirty="0"/>
              <a:t> (consumidores) no se conocen entre sí</a:t>
            </a:r>
          </a:p>
          <a:p>
            <a:pPr lvl="1"/>
            <a:r>
              <a:rPr lang="es-ES" sz="1400" dirty="0"/>
              <a:t>Los productores publican a </a:t>
            </a:r>
            <a:r>
              <a:rPr lang="es-ES" sz="1400" dirty="0" err="1"/>
              <a:t>topics</a:t>
            </a:r>
            <a:r>
              <a:rPr lang="es-ES" sz="1400" dirty="0"/>
              <a:t>, no directamente a consumidores</a:t>
            </a:r>
          </a:p>
          <a:p>
            <a:pPr lvl="1"/>
            <a:r>
              <a:rPr lang="es-ES" sz="1400" dirty="0"/>
              <a:t>Los consumidores leen de </a:t>
            </a:r>
            <a:r>
              <a:rPr lang="es-ES" sz="1400" dirty="0" err="1"/>
              <a:t>topics</a:t>
            </a:r>
            <a:r>
              <a:rPr lang="es-ES" sz="1400" dirty="0"/>
              <a:t> cuando quieren</a:t>
            </a:r>
          </a:p>
          <a:p>
            <a:pPr lvl="1"/>
            <a:r>
              <a:rPr lang="es-ES" sz="1400" b="1" dirty="0"/>
              <a:t>Ventaja</a:t>
            </a:r>
            <a:r>
              <a:rPr lang="es-ES" sz="1400" dirty="0"/>
              <a:t>: Agregar/quitar productores o consumidores sin afectar al sistema</a:t>
            </a:r>
          </a:p>
          <a:p>
            <a:endParaRPr lang="es-ES" sz="1600" dirty="0"/>
          </a:p>
          <a:p>
            <a:endParaRPr lang="es-ES" sz="1600" dirty="0"/>
          </a:p>
        </p:txBody>
      </p:sp>
      <p:pic>
        <p:nvPicPr>
          <p:cNvPr id="7" name="Imagen 6">
            <a:extLst>
              <a:ext uri="{FF2B5EF4-FFF2-40B4-BE49-F238E27FC236}">
                <a16:creationId xmlns:a16="http://schemas.microsoft.com/office/drawing/2014/main" id="{766959AF-03AB-3AA4-C844-787D19D62173}"/>
              </a:ext>
            </a:extLst>
          </p:cNvPr>
          <p:cNvPicPr>
            <a:picLocks noChangeAspect="1"/>
          </p:cNvPicPr>
          <p:nvPr/>
        </p:nvPicPr>
        <p:blipFill>
          <a:blip r:embed="rId2"/>
          <a:stretch>
            <a:fillRect/>
          </a:stretch>
        </p:blipFill>
        <p:spPr>
          <a:xfrm>
            <a:off x="6493667" y="1668379"/>
            <a:ext cx="5487166" cy="1819529"/>
          </a:xfrm>
          <a:prstGeom prst="rect">
            <a:avLst/>
          </a:prstGeom>
        </p:spPr>
      </p:pic>
    </p:spTree>
    <p:extLst>
      <p:ext uri="{BB962C8B-B14F-4D97-AF65-F5344CB8AC3E}">
        <p14:creationId xmlns:p14="http://schemas.microsoft.com/office/powerpoint/2010/main" val="3925418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0A81C-7ED7-FC7E-3A72-09517E6AFB1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E90C0A1-0FE5-6597-0323-E9153782CF5F}"/>
              </a:ext>
            </a:extLst>
          </p:cNvPr>
          <p:cNvSpPr>
            <a:spLocks noGrp="1"/>
          </p:cNvSpPr>
          <p:nvPr>
            <p:ph type="title"/>
          </p:nvPr>
        </p:nvSpPr>
        <p:spPr>
          <a:xfrm>
            <a:off x="1484311" y="685800"/>
            <a:ext cx="10018713" cy="814137"/>
          </a:xfrm>
        </p:spPr>
        <p:txBody>
          <a:bodyPr/>
          <a:lstStyle/>
          <a:p>
            <a:r>
              <a:rPr lang="es-ES" dirty="0"/>
              <a:t>Arquitectura Kafka</a:t>
            </a:r>
          </a:p>
        </p:txBody>
      </p:sp>
      <p:sp>
        <p:nvSpPr>
          <p:cNvPr id="3" name="Marcador de contenido 2">
            <a:extLst>
              <a:ext uri="{FF2B5EF4-FFF2-40B4-BE49-F238E27FC236}">
                <a16:creationId xmlns:a16="http://schemas.microsoft.com/office/drawing/2014/main" id="{F865EBA4-31D9-634F-A975-8C6C7398F298}"/>
              </a:ext>
            </a:extLst>
          </p:cNvPr>
          <p:cNvSpPr>
            <a:spLocks noGrp="1"/>
          </p:cNvSpPr>
          <p:nvPr>
            <p:ph idx="1"/>
          </p:nvPr>
        </p:nvSpPr>
        <p:spPr>
          <a:xfrm>
            <a:off x="1877342" y="1644316"/>
            <a:ext cx="6169557" cy="4973053"/>
          </a:xfrm>
        </p:spPr>
        <p:txBody>
          <a:bodyPr anchor="t">
            <a:normAutofit fontScale="92500" lnSpcReduction="20000"/>
          </a:bodyPr>
          <a:lstStyle/>
          <a:p>
            <a:pPr marL="0" indent="0">
              <a:buNone/>
            </a:pPr>
            <a:r>
              <a:rPr lang="es-ES" sz="1600" b="1" dirty="0"/>
              <a:t>Particiones - Cuándo y Cuántas</a:t>
            </a:r>
          </a:p>
          <a:p>
            <a:r>
              <a:rPr lang="es-ES" sz="1600" b="1" dirty="0"/>
              <a:t>¿Cuándo particionar?</a:t>
            </a:r>
            <a:endParaRPr lang="es-ES" sz="1600" dirty="0"/>
          </a:p>
          <a:p>
            <a:pPr lvl="1"/>
            <a:r>
              <a:rPr lang="es-ES" sz="1400" dirty="0"/>
              <a:t>Siempre - Kafka requiere al menos 1 partición por </a:t>
            </a:r>
            <a:r>
              <a:rPr lang="es-ES" sz="1400" dirty="0" err="1"/>
              <a:t>topic</a:t>
            </a:r>
            <a:endParaRPr lang="es-ES" sz="1400" dirty="0"/>
          </a:p>
          <a:p>
            <a:pPr lvl="1"/>
            <a:r>
              <a:rPr lang="es-ES" sz="1400" dirty="0"/>
              <a:t>Más particiones = más paralelismo</a:t>
            </a:r>
          </a:p>
          <a:p>
            <a:r>
              <a:rPr lang="es-ES" sz="1600" b="1" dirty="0"/>
              <a:t>¿Cuántas particiones?</a:t>
            </a:r>
            <a:r>
              <a:rPr lang="es-ES" sz="1600" dirty="0"/>
              <a:t> Depende de:</a:t>
            </a:r>
          </a:p>
          <a:p>
            <a:pPr lvl="1"/>
            <a:r>
              <a:rPr lang="es-ES" sz="1400" b="1" dirty="0" err="1"/>
              <a:t>Throughput</a:t>
            </a:r>
            <a:r>
              <a:rPr lang="es-ES" sz="1400" b="1" dirty="0"/>
              <a:t> objetivo</a:t>
            </a:r>
            <a:r>
              <a:rPr lang="es-ES" sz="1400" dirty="0"/>
              <a:t>: Más particiones = más rendimiento paralelo</a:t>
            </a:r>
          </a:p>
          <a:p>
            <a:pPr lvl="1"/>
            <a:r>
              <a:rPr lang="es-ES" sz="1400" b="1" dirty="0"/>
              <a:t>Número de consumidores</a:t>
            </a:r>
            <a:r>
              <a:rPr lang="es-ES" sz="1400" dirty="0"/>
              <a:t>: Max 1 consumidor por partición</a:t>
            </a:r>
          </a:p>
          <a:p>
            <a:pPr lvl="1"/>
            <a:r>
              <a:rPr lang="es-ES" sz="1400" b="1" dirty="0"/>
              <a:t>Tamaño del </a:t>
            </a:r>
            <a:r>
              <a:rPr lang="es-ES" sz="1400" b="1" dirty="0" err="1"/>
              <a:t>cluster</a:t>
            </a:r>
            <a:r>
              <a:rPr lang="es-ES" sz="1400" dirty="0"/>
              <a:t>: No más particiones que </a:t>
            </a:r>
            <a:r>
              <a:rPr lang="es-ES" sz="1400" dirty="0" err="1"/>
              <a:t>brokers</a:t>
            </a:r>
            <a:r>
              <a:rPr lang="es-ES" sz="1400" dirty="0"/>
              <a:t> disponibles</a:t>
            </a:r>
          </a:p>
          <a:p>
            <a:pPr lvl="1"/>
            <a:r>
              <a:rPr lang="es-ES" sz="1400" b="1" dirty="0"/>
              <a:t>Latencia vs </a:t>
            </a:r>
            <a:r>
              <a:rPr lang="es-ES" sz="1400" b="1" dirty="0" err="1"/>
              <a:t>throughput</a:t>
            </a:r>
            <a:r>
              <a:rPr lang="es-ES" sz="1400" dirty="0"/>
              <a:t>: Más particiones pueden aumentar latencia</a:t>
            </a:r>
          </a:p>
          <a:p>
            <a:pPr marL="0" indent="0">
              <a:buNone/>
            </a:pPr>
            <a:r>
              <a:rPr lang="es-ES" sz="1600" b="1" dirty="0" err="1"/>
              <a:t>Consumer</a:t>
            </a:r>
            <a:r>
              <a:rPr lang="es-ES" sz="1600" b="1" dirty="0"/>
              <a:t> </a:t>
            </a:r>
            <a:r>
              <a:rPr lang="es-ES" sz="1600" b="1" dirty="0" err="1"/>
              <a:t>Groups</a:t>
            </a:r>
            <a:r>
              <a:rPr lang="es-ES" sz="1600" b="1" dirty="0"/>
              <a:t> - De qué dependen</a:t>
            </a:r>
          </a:p>
          <a:p>
            <a:r>
              <a:rPr lang="es-ES" sz="1600" b="1" dirty="0"/>
              <a:t>Dependen de:</a:t>
            </a:r>
            <a:endParaRPr lang="es-ES" sz="1600" dirty="0"/>
          </a:p>
          <a:p>
            <a:pPr lvl="1"/>
            <a:r>
              <a:rPr lang="es-ES" sz="1500" b="1" dirty="0"/>
              <a:t>Carga de trabajo</a:t>
            </a:r>
            <a:r>
              <a:rPr lang="es-ES" sz="1500" dirty="0"/>
              <a:t>: Cuántos mensajes procesar simultáneamente</a:t>
            </a:r>
          </a:p>
          <a:p>
            <a:pPr lvl="1"/>
            <a:r>
              <a:rPr lang="es-ES" sz="1500" b="1" dirty="0"/>
              <a:t>Tolerancia a fallos</a:t>
            </a:r>
            <a:r>
              <a:rPr lang="es-ES" sz="1500" dirty="0"/>
              <a:t>: Más consumidores = mejor redundancia</a:t>
            </a:r>
          </a:p>
          <a:p>
            <a:pPr lvl="1"/>
            <a:r>
              <a:rPr lang="es-ES" sz="1500" b="1" dirty="0"/>
              <a:t>Particiones disponibles</a:t>
            </a:r>
            <a:r>
              <a:rPr lang="es-ES" sz="1500" dirty="0"/>
              <a:t>: Máximo 1 consumidor por partición</a:t>
            </a:r>
          </a:p>
          <a:p>
            <a:r>
              <a:rPr lang="es-ES" sz="1600" b="1" dirty="0"/>
              <a:t>Lógica de procesamiento</a:t>
            </a:r>
            <a:r>
              <a:rPr lang="es-ES" sz="1600" dirty="0"/>
              <a:t>: Si es CPU/IO intensivo, más consumidores</a:t>
            </a:r>
          </a:p>
          <a:p>
            <a:r>
              <a:rPr lang="es-ES" sz="1600" b="1" dirty="0"/>
              <a:t>Ejemplo</a:t>
            </a:r>
            <a:r>
              <a:rPr lang="es-ES" sz="1600" dirty="0"/>
              <a:t>: </a:t>
            </a:r>
            <a:r>
              <a:rPr lang="es-ES" sz="1600" dirty="0" err="1"/>
              <a:t>Topic</a:t>
            </a:r>
            <a:r>
              <a:rPr lang="es-ES" sz="1600" dirty="0"/>
              <a:t> con 6 particiones puede tener máximo 6 consumidores activos por grupo</a:t>
            </a:r>
          </a:p>
          <a:p>
            <a:endParaRPr lang="es-ES" sz="1600" dirty="0"/>
          </a:p>
          <a:p>
            <a:endParaRPr lang="es-ES" sz="1600" dirty="0"/>
          </a:p>
        </p:txBody>
      </p:sp>
    </p:spTree>
    <p:extLst>
      <p:ext uri="{BB962C8B-B14F-4D97-AF65-F5344CB8AC3E}">
        <p14:creationId xmlns:p14="http://schemas.microsoft.com/office/powerpoint/2010/main" val="1185428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59140-98C2-8542-D4E9-DC23D765DDC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3C8AC6F-053B-3427-5893-665694FF5FC8}"/>
              </a:ext>
            </a:extLst>
          </p:cNvPr>
          <p:cNvSpPr>
            <a:spLocks noGrp="1"/>
          </p:cNvSpPr>
          <p:nvPr>
            <p:ph type="title"/>
          </p:nvPr>
        </p:nvSpPr>
        <p:spPr>
          <a:xfrm>
            <a:off x="1484311" y="685800"/>
            <a:ext cx="10018713" cy="814137"/>
          </a:xfrm>
        </p:spPr>
        <p:txBody>
          <a:bodyPr/>
          <a:lstStyle/>
          <a:p>
            <a:r>
              <a:rPr lang="es-ES" dirty="0"/>
              <a:t>Casos de Uso Principales</a:t>
            </a:r>
          </a:p>
        </p:txBody>
      </p:sp>
      <p:sp>
        <p:nvSpPr>
          <p:cNvPr id="3" name="Marcador de contenido 2">
            <a:extLst>
              <a:ext uri="{FF2B5EF4-FFF2-40B4-BE49-F238E27FC236}">
                <a16:creationId xmlns:a16="http://schemas.microsoft.com/office/drawing/2014/main" id="{A21C42F0-8379-CE19-9E86-920DF46A2116}"/>
              </a:ext>
            </a:extLst>
          </p:cNvPr>
          <p:cNvSpPr>
            <a:spLocks noGrp="1"/>
          </p:cNvSpPr>
          <p:nvPr>
            <p:ph idx="1"/>
          </p:nvPr>
        </p:nvSpPr>
        <p:spPr>
          <a:xfrm>
            <a:off x="1484310" y="1668379"/>
            <a:ext cx="6169557" cy="4122821"/>
          </a:xfrm>
        </p:spPr>
        <p:txBody>
          <a:bodyPr anchor="t">
            <a:normAutofit/>
          </a:bodyPr>
          <a:lstStyle/>
          <a:p>
            <a:pPr marL="0" indent="0">
              <a:buNone/>
            </a:pPr>
            <a:r>
              <a:rPr lang="es-ES" sz="1600" b="1" dirty="0" err="1"/>
              <a:t>Messaging</a:t>
            </a:r>
            <a:endParaRPr lang="es-ES" sz="1600" dirty="0"/>
          </a:p>
          <a:p>
            <a:r>
              <a:rPr lang="es-ES" sz="1600" dirty="0"/>
              <a:t>Sustituto de sistemas tradicionales.</a:t>
            </a:r>
          </a:p>
          <a:p>
            <a:r>
              <a:rPr lang="es-ES" sz="1600" dirty="0"/>
              <a:t>Mayor rendimiento y tolerancia a fallos</a:t>
            </a:r>
          </a:p>
          <a:p>
            <a:pPr marL="0" indent="0">
              <a:buNone/>
            </a:pPr>
            <a:r>
              <a:rPr lang="es-ES" sz="1600" b="1" dirty="0" err="1"/>
              <a:t>Website</a:t>
            </a:r>
            <a:r>
              <a:rPr lang="es-ES" sz="1600" b="1" dirty="0"/>
              <a:t> </a:t>
            </a:r>
            <a:r>
              <a:rPr lang="es-ES" sz="1600" b="1" dirty="0" err="1"/>
              <a:t>Activity</a:t>
            </a:r>
            <a:r>
              <a:rPr lang="es-ES" sz="1600" b="1" dirty="0"/>
              <a:t> Tracking</a:t>
            </a:r>
            <a:endParaRPr lang="es-ES" sz="1600" dirty="0"/>
          </a:p>
          <a:p>
            <a:r>
              <a:rPr lang="es-ES" sz="1600" dirty="0"/>
              <a:t>Seguimiento de actividad web en tiempo real</a:t>
            </a:r>
          </a:p>
          <a:p>
            <a:r>
              <a:rPr lang="es-ES" sz="1600" dirty="0"/>
              <a:t>Análisis de comportamiento de usuarios</a:t>
            </a:r>
          </a:p>
          <a:p>
            <a:pPr marL="0" indent="0">
              <a:buNone/>
            </a:pPr>
            <a:r>
              <a:rPr lang="es-ES" sz="1600" b="1" dirty="0" err="1"/>
              <a:t>Metrics</a:t>
            </a:r>
            <a:r>
              <a:rPr lang="es-ES" sz="1600" b="1" dirty="0"/>
              <a:t> &amp; </a:t>
            </a:r>
            <a:r>
              <a:rPr lang="es-ES" sz="1600" b="1" dirty="0" err="1"/>
              <a:t>Monitoring</a:t>
            </a:r>
            <a:endParaRPr lang="es-ES" sz="1600" dirty="0"/>
          </a:p>
          <a:p>
            <a:r>
              <a:rPr lang="es-ES" sz="1600" dirty="0"/>
              <a:t>Agregación de métricas operacionales</a:t>
            </a:r>
          </a:p>
          <a:p>
            <a:r>
              <a:rPr lang="es-ES" sz="1600" dirty="0"/>
              <a:t>Monitoreo centralizado de aplicaciones</a:t>
            </a:r>
          </a:p>
          <a:p>
            <a:endParaRPr lang="es-ES" sz="1600" dirty="0"/>
          </a:p>
          <a:p>
            <a:endParaRPr lang="es-ES" sz="1600" dirty="0"/>
          </a:p>
        </p:txBody>
      </p:sp>
    </p:spTree>
    <p:extLst>
      <p:ext uri="{BB962C8B-B14F-4D97-AF65-F5344CB8AC3E}">
        <p14:creationId xmlns:p14="http://schemas.microsoft.com/office/powerpoint/2010/main" val="1398166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0E678-A383-8757-762B-DFCEF240CE2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B6D33C8-4891-BABE-C1F1-ACAE09D2CD5C}"/>
              </a:ext>
            </a:extLst>
          </p:cNvPr>
          <p:cNvSpPr>
            <a:spLocks noGrp="1"/>
          </p:cNvSpPr>
          <p:nvPr>
            <p:ph type="title"/>
          </p:nvPr>
        </p:nvSpPr>
        <p:spPr>
          <a:xfrm>
            <a:off x="1484311" y="685800"/>
            <a:ext cx="10018713" cy="814137"/>
          </a:xfrm>
        </p:spPr>
        <p:txBody>
          <a:bodyPr/>
          <a:lstStyle/>
          <a:p>
            <a:r>
              <a:rPr lang="es-ES" dirty="0" err="1"/>
              <a:t>KRaft</a:t>
            </a:r>
            <a:r>
              <a:rPr lang="es-ES" dirty="0"/>
              <a:t> vs </a:t>
            </a:r>
            <a:r>
              <a:rPr lang="es-ES" dirty="0" err="1"/>
              <a:t>ZooKeeper</a:t>
            </a:r>
            <a:endParaRPr lang="es-ES" dirty="0"/>
          </a:p>
        </p:txBody>
      </p:sp>
      <p:sp>
        <p:nvSpPr>
          <p:cNvPr id="3" name="Marcador de contenido 2">
            <a:extLst>
              <a:ext uri="{FF2B5EF4-FFF2-40B4-BE49-F238E27FC236}">
                <a16:creationId xmlns:a16="http://schemas.microsoft.com/office/drawing/2014/main" id="{8C63DDEB-A315-10E2-1562-CF3E37D6D7A3}"/>
              </a:ext>
            </a:extLst>
          </p:cNvPr>
          <p:cNvSpPr>
            <a:spLocks noGrp="1"/>
          </p:cNvSpPr>
          <p:nvPr>
            <p:ph idx="1"/>
          </p:nvPr>
        </p:nvSpPr>
        <p:spPr>
          <a:xfrm>
            <a:off x="1484310" y="1668379"/>
            <a:ext cx="6169557" cy="4122821"/>
          </a:xfrm>
        </p:spPr>
        <p:txBody>
          <a:bodyPr anchor="t">
            <a:normAutofit/>
          </a:bodyPr>
          <a:lstStyle/>
          <a:p>
            <a:pPr marL="0" indent="0">
              <a:buNone/>
            </a:pPr>
            <a:r>
              <a:rPr lang="es-ES" sz="1600" b="1" dirty="0" err="1"/>
              <a:t>KRaft</a:t>
            </a:r>
            <a:r>
              <a:rPr lang="es-ES" sz="1600" b="1" dirty="0"/>
              <a:t> </a:t>
            </a:r>
            <a:r>
              <a:rPr lang="es-ES" sz="1600" b="1" dirty="0" err="1"/>
              <a:t>Mode</a:t>
            </a:r>
            <a:r>
              <a:rPr lang="es-ES" sz="1600" b="1" dirty="0"/>
              <a:t> (Recomendado)</a:t>
            </a:r>
            <a:endParaRPr lang="es-ES" sz="1600" dirty="0"/>
          </a:p>
          <a:p>
            <a:r>
              <a:rPr lang="es-ES" sz="1600" dirty="0"/>
              <a:t>Modo nativo sin dependencias externas</a:t>
            </a:r>
          </a:p>
          <a:p>
            <a:r>
              <a:rPr lang="es-ES" sz="1600" b="1" dirty="0"/>
              <a:t>Simplificación</a:t>
            </a:r>
            <a:r>
              <a:rPr lang="es-ES" sz="1600" dirty="0"/>
              <a:t> de la arquitectura</a:t>
            </a:r>
          </a:p>
          <a:p>
            <a:r>
              <a:rPr lang="es-ES" sz="1600" b="1" dirty="0"/>
              <a:t>Mejor escalabilidad</a:t>
            </a:r>
            <a:endParaRPr lang="es-ES" sz="1600" dirty="0"/>
          </a:p>
          <a:p>
            <a:pPr marL="0" indent="0">
              <a:buNone/>
            </a:pPr>
            <a:r>
              <a:rPr lang="es-ES" sz="1600" b="1" dirty="0" err="1"/>
              <a:t>ZooKeeper</a:t>
            </a:r>
            <a:r>
              <a:rPr lang="es-ES" sz="1600" b="1" dirty="0"/>
              <a:t> </a:t>
            </a:r>
            <a:r>
              <a:rPr lang="es-ES" sz="1600" b="1" dirty="0" err="1"/>
              <a:t>Mode</a:t>
            </a:r>
            <a:r>
              <a:rPr lang="es-ES" sz="1600" b="1" dirty="0"/>
              <a:t> (</a:t>
            </a:r>
            <a:r>
              <a:rPr lang="es-ES" sz="1600" b="1" dirty="0" err="1"/>
              <a:t>Legacy</a:t>
            </a:r>
            <a:r>
              <a:rPr lang="es-ES" sz="1600" b="1" dirty="0"/>
              <a:t>)</a:t>
            </a:r>
            <a:endParaRPr lang="es-ES" sz="1600" dirty="0"/>
          </a:p>
          <a:p>
            <a:r>
              <a:rPr lang="es-ES" sz="1600" dirty="0"/>
              <a:t>Modo tradicional con </a:t>
            </a:r>
            <a:r>
              <a:rPr lang="es-ES" sz="1600" dirty="0" err="1"/>
              <a:t>ZooKeeper</a:t>
            </a:r>
            <a:endParaRPr lang="es-ES" sz="1600" dirty="0"/>
          </a:p>
          <a:p>
            <a:r>
              <a:rPr lang="es-ES" sz="1600" dirty="0"/>
              <a:t>En proceso de </a:t>
            </a:r>
            <a:r>
              <a:rPr lang="es-ES" sz="1600" b="1" dirty="0"/>
              <a:t>deprecación</a:t>
            </a:r>
            <a:endParaRPr lang="es-ES" sz="1600" dirty="0"/>
          </a:p>
          <a:p>
            <a:r>
              <a:rPr lang="es-ES" sz="1600" dirty="0"/>
              <a:t>Mayor complejidad operacional</a:t>
            </a:r>
          </a:p>
          <a:p>
            <a:endParaRPr lang="es-ES" sz="1600" dirty="0"/>
          </a:p>
          <a:p>
            <a:endParaRPr lang="es-ES" sz="1600" dirty="0"/>
          </a:p>
        </p:txBody>
      </p:sp>
    </p:spTree>
    <p:extLst>
      <p:ext uri="{BB962C8B-B14F-4D97-AF65-F5344CB8AC3E}">
        <p14:creationId xmlns:p14="http://schemas.microsoft.com/office/powerpoint/2010/main" val="4157493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4B13A-2A1C-8DBF-5FF3-C5C5FE8500D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7208540-C2D0-12EC-FC68-9258DB2E6FB0}"/>
              </a:ext>
            </a:extLst>
          </p:cNvPr>
          <p:cNvSpPr>
            <a:spLocks noGrp="1"/>
          </p:cNvSpPr>
          <p:nvPr>
            <p:ph type="title"/>
          </p:nvPr>
        </p:nvSpPr>
        <p:spPr>
          <a:xfrm>
            <a:off x="1484311" y="685800"/>
            <a:ext cx="10018713" cy="814137"/>
          </a:xfrm>
        </p:spPr>
        <p:txBody>
          <a:bodyPr/>
          <a:lstStyle/>
          <a:p>
            <a:r>
              <a:rPr lang="es-ES" dirty="0"/>
              <a:t>Ecosistema Kafka</a:t>
            </a:r>
          </a:p>
        </p:txBody>
      </p:sp>
      <p:sp>
        <p:nvSpPr>
          <p:cNvPr id="3" name="Marcador de contenido 2">
            <a:extLst>
              <a:ext uri="{FF2B5EF4-FFF2-40B4-BE49-F238E27FC236}">
                <a16:creationId xmlns:a16="http://schemas.microsoft.com/office/drawing/2014/main" id="{EFA9D3B3-5917-9DCB-DA24-1A322E9DA51D}"/>
              </a:ext>
            </a:extLst>
          </p:cNvPr>
          <p:cNvSpPr>
            <a:spLocks noGrp="1"/>
          </p:cNvSpPr>
          <p:nvPr>
            <p:ph idx="1"/>
          </p:nvPr>
        </p:nvSpPr>
        <p:spPr>
          <a:xfrm>
            <a:off x="1484310" y="1668379"/>
            <a:ext cx="6169557" cy="4122821"/>
          </a:xfrm>
        </p:spPr>
        <p:txBody>
          <a:bodyPr anchor="t">
            <a:normAutofit/>
          </a:bodyPr>
          <a:lstStyle/>
          <a:p>
            <a:pPr marL="0" indent="0">
              <a:buNone/>
            </a:pPr>
            <a:r>
              <a:rPr lang="es-ES" sz="1600" b="1" dirty="0"/>
              <a:t>Kafka </a:t>
            </a:r>
            <a:r>
              <a:rPr lang="es-ES" sz="1600" b="1" dirty="0" err="1"/>
              <a:t>Connect</a:t>
            </a:r>
            <a:endParaRPr lang="es-ES" sz="1600" dirty="0"/>
          </a:p>
          <a:p>
            <a:r>
              <a:rPr lang="es-ES" sz="1600" dirty="0"/>
              <a:t>Integración con bases de datos y sistemas externos</a:t>
            </a:r>
          </a:p>
          <a:p>
            <a:pPr marL="0" indent="0">
              <a:buNone/>
            </a:pPr>
            <a:r>
              <a:rPr lang="es-ES" sz="1600" b="1" dirty="0"/>
              <a:t>Kafka </a:t>
            </a:r>
            <a:r>
              <a:rPr lang="es-ES" sz="1600" b="1" dirty="0" err="1"/>
              <a:t>Streams</a:t>
            </a:r>
            <a:endParaRPr lang="es-ES" sz="1600" dirty="0"/>
          </a:p>
          <a:p>
            <a:r>
              <a:rPr lang="es-ES" sz="1600" dirty="0"/>
              <a:t>Librería para procesamiento de </a:t>
            </a:r>
            <a:r>
              <a:rPr lang="es-ES" sz="1600" dirty="0" err="1"/>
              <a:t>streams</a:t>
            </a:r>
            <a:endParaRPr lang="es-ES" sz="1600" dirty="0"/>
          </a:p>
          <a:p>
            <a:pPr marL="0" indent="0">
              <a:buNone/>
            </a:pPr>
            <a:r>
              <a:rPr lang="es-ES" sz="1600" b="1" dirty="0" err="1"/>
              <a:t>Schema</a:t>
            </a:r>
            <a:r>
              <a:rPr lang="es-ES" sz="1600" b="1" dirty="0"/>
              <a:t> </a:t>
            </a:r>
            <a:r>
              <a:rPr lang="es-ES" sz="1600" b="1" dirty="0" err="1"/>
              <a:t>Registry</a:t>
            </a:r>
            <a:endParaRPr lang="es-ES" sz="1600" dirty="0"/>
          </a:p>
          <a:p>
            <a:r>
              <a:rPr lang="es-ES" sz="1600" dirty="0"/>
              <a:t>Gestión de esquemas de datos</a:t>
            </a:r>
          </a:p>
          <a:p>
            <a:pPr marL="0" indent="0">
              <a:buNone/>
            </a:pPr>
            <a:r>
              <a:rPr lang="es-ES" sz="1600" b="1" dirty="0"/>
              <a:t>Herramientas de Monitoreo</a:t>
            </a:r>
            <a:endParaRPr lang="es-ES" sz="1600" dirty="0"/>
          </a:p>
          <a:p>
            <a:r>
              <a:rPr lang="es-ES" sz="1600" dirty="0"/>
              <a:t>Kafka Manager, </a:t>
            </a:r>
            <a:r>
              <a:rPr lang="es-ES" sz="1600" dirty="0" err="1"/>
              <a:t>Confluent</a:t>
            </a:r>
            <a:r>
              <a:rPr lang="es-ES" sz="1600" dirty="0"/>
              <a:t> Control Center</a:t>
            </a:r>
          </a:p>
          <a:p>
            <a:endParaRPr lang="es-ES" sz="1600" dirty="0"/>
          </a:p>
          <a:p>
            <a:endParaRPr lang="es-ES" sz="1600" dirty="0"/>
          </a:p>
        </p:txBody>
      </p:sp>
    </p:spTree>
    <p:extLst>
      <p:ext uri="{BB962C8B-B14F-4D97-AF65-F5344CB8AC3E}">
        <p14:creationId xmlns:p14="http://schemas.microsoft.com/office/powerpoint/2010/main" val="20748413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1D36F-4EC9-E8B9-62FC-1F612A92E2F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8A15008-0FAD-11C9-AB90-F0ECA4E69F6A}"/>
              </a:ext>
            </a:extLst>
          </p:cNvPr>
          <p:cNvSpPr>
            <a:spLocks noGrp="1"/>
          </p:cNvSpPr>
          <p:nvPr>
            <p:ph type="title"/>
          </p:nvPr>
        </p:nvSpPr>
        <p:spPr>
          <a:xfrm>
            <a:off x="1484311" y="685800"/>
            <a:ext cx="10018713" cy="814137"/>
          </a:xfrm>
        </p:spPr>
        <p:txBody>
          <a:bodyPr/>
          <a:lstStyle/>
          <a:p>
            <a:r>
              <a:rPr lang="es-ES" dirty="0"/>
              <a:t>Ventajas vs Sistemas Tradicionales</a:t>
            </a:r>
          </a:p>
        </p:txBody>
      </p:sp>
      <p:sp>
        <p:nvSpPr>
          <p:cNvPr id="3" name="Marcador de contenido 2">
            <a:extLst>
              <a:ext uri="{FF2B5EF4-FFF2-40B4-BE49-F238E27FC236}">
                <a16:creationId xmlns:a16="http://schemas.microsoft.com/office/drawing/2014/main" id="{AD3C77B9-CCBD-840F-50B2-D98D152CE8EE}"/>
              </a:ext>
            </a:extLst>
          </p:cNvPr>
          <p:cNvSpPr>
            <a:spLocks noGrp="1"/>
          </p:cNvSpPr>
          <p:nvPr>
            <p:ph idx="1"/>
          </p:nvPr>
        </p:nvSpPr>
        <p:spPr>
          <a:xfrm>
            <a:off x="1484310" y="1668379"/>
            <a:ext cx="6169557" cy="4122821"/>
          </a:xfrm>
        </p:spPr>
        <p:txBody>
          <a:bodyPr anchor="t">
            <a:normAutofit/>
          </a:bodyPr>
          <a:lstStyle/>
          <a:p>
            <a:endParaRPr lang="es-ES" sz="1600" dirty="0"/>
          </a:p>
          <a:p>
            <a:endParaRPr lang="es-ES" sz="1600" dirty="0"/>
          </a:p>
        </p:txBody>
      </p:sp>
      <p:graphicFrame>
        <p:nvGraphicFramePr>
          <p:cNvPr id="4" name="Tabla 3">
            <a:extLst>
              <a:ext uri="{FF2B5EF4-FFF2-40B4-BE49-F238E27FC236}">
                <a16:creationId xmlns:a16="http://schemas.microsoft.com/office/drawing/2014/main" id="{825C7A58-0F0E-9327-A57E-73210C2E78F8}"/>
              </a:ext>
            </a:extLst>
          </p:cNvPr>
          <p:cNvGraphicFramePr>
            <a:graphicFrameLocks noGrp="1"/>
          </p:cNvGraphicFramePr>
          <p:nvPr>
            <p:extLst>
              <p:ext uri="{D42A27DB-BD31-4B8C-83A1-F6EECF244321}">
                <p14:modId xmlns:p14="http://schemas.microsoft.com/office/powerpoint/2010/main" val="101705560"/>
              </p:ext>
            </p:extLst>
          </p:nvPr>
        </p:nvGraphicFramePr>
        <p:xfrm>
          <a:off x="1227639" y="2490135"/>
          <a:ext cx="10018713" cy="2194560"/>
        </p:xfrm>
        <a:graphic>
          <a:graphicData uri="http://schemas.openxmlformats.org/drawingml/2006/table">
            <a:tbl>
              <a:tblPr>
                <a:tableStyleId>{3C2FFA5D-87B4-456A-9821-1D502468CF0F}</a:tableStyleId>
              </a:tblPr>
              <a:tblGrid>
                <a:gridCol w="3339571">
                  <a:extLst>
                    <a:ext uri="{9D8B030D-6E8A-4147-A177-3AD203B41FA5}">
                      <a16:colId xmlns:a16="http://schemas.microsoft.com/office/drawing/2014/main" val="3629113009"/>
                    </a:ext>
                  </a:extLst>
                </a:gridCol>
                <a:gridCol w="3339571">
                  <a:extLst>
                    <a:ext uri="{9D8B030D-6E8A-4147-A177-3AD203B41FA5}">
                      <a16:colId xmlns:a16="http://schemas.microsoft.com/office/drawing/2014/main" val="177041522"/>
                    </a:ext>
                  </a:extLst>
                </a:gridCol>
                <a:gridCol w="3339571">
                  <a:extLst>
                    <a:ext uri="{9D8B030D-6E8A-4147-A177-3AD203B41FA5}">
                      <a16:colId xmlns:a16="http://schemas.microsoft.com/office/drawing/2014/main" val="1851866959"/>
                    </a:ext>
                  </a:extLst>
                </a:gridCol>
              </a:tblGrid>
              <a:tr h="365760">
                <a:tc>
                  <a:txBody>
                    <a:bodyPr/>
                    <a:lstStyle/>
                    <a:p>
                      <a:pPr>
                        <a:buNone/>
                      </a:pPr>
                      <a:r>
                        <a:rPr lang="es-ES" sz="1800" b="1" dirty="0"/>
                        <a:t>Característica</a:t>
                      </a:r>
                    </a:p>
                  </a:txBody>
                  <a:tcPr anchor="ctr"/>
                </a:tc>
                <a:tc>
                  <a:txBody>
                    <a:bodyPr/>
                    <a:lstStyle/>
                    <a:p>
                      <a:pPr>
                        <a:buNone/>
                      </a:pPr>
                      <a:r>
                        <a:rPr lang="es-ES" sz="1800" dirty="0"/>
                        <a:t>Kafka</a:t>
                      </a:r>
                    </a:p>
                  </a:txBody>
                  <a:tcPr anchor="ctr"/>
                </a:tc>
                <a:tc>
                  <a:txBody>
                    <a:bodyPr/>
                    <a:lstStyle/>
                    <a:p>
                      <a:pPr>
                        <a:buNone/>
                      </a:pPr>
                      <a:r>
                        <a:rPr lang="es-ES" sz="1800" dirty="0"/>
                        <a:t>Sistemas Tradicionales</a:t>
                      </a:r>
                    </a:p>
                  </a:txBody>
                  <a:tcPr anchor="ctr"/>
                </a:tc>
                <a:extLst>
                  <a:ext uri="{0D108BD9-81ED-4DB2-BD59-A6C34878D82A}">
                    <a16:rowId xmlns:a16="http://schemas.microsoft.com/office/drawing/2014/main" val="1695644635"/>
                  </a:ext>
                </a:extLst>
              </a:tr>
              <a:tr h="365760">
                <a:tc>
                  <a:txBody>
                    <a:bodyPr/>
                    <a:lstStyle/>
                    <a:p>
                      <a:pPr>
                        <a:buNone/>
                      </a:pPr>
                      <a:r>
                        <a:rPr lang="es-ES" sz="1800" b="1"/>
                        <a:t>Rendimiento</a:t>
                      </a:r>
                      <a:endParaRPr lang="es-ES" sz="1800"/>
                    </a:p>
                  </a:txBody>
                  <a:tcPr anchor="ctr"/>
                </a:tc>
                <a:tc>
                  <a:txBody>
                    <a:bodyPr/>
                    <a:lstStyle/>
                    <a:p>
                      <a:pPr>
                        <a:buNone/>
                      </a:pPr>
                      <a:r>
                        <a:rPr lang="es-ES" sz="1800" dirty="0"/>
                        <a:t>Millones </a:t>
                      </a:r>
                      <a:r>
                        <a:rPr lang="es-ES" sz="1800" dirty="0" err="1"/>
                        <a:t>msg</a:t>
                      </a:r>
                      <a:r>
                        <a:rPr lang="es-ES" sz="1800" dirty="0"/>
                        <a:t>/</a:t>
                      </a:r>
                      <a:r>
                        <a:rPr lang="es-ES" sz="1800" dirty="0" err="1"/>
                        <a:t>sec</a:t>
                      </a:r>
                      <a:endParaRPr lang="es-ES" sz="1800" dirty="0"/>
                    </a:p>
                  </a:txBody>
                  <a:tcPr anchor="ctr">
                    <a:solidFill>
                      <a:schemeClr val="bg1"/>
                    </a:solidFill>
                  </a:tcPr>
                </a:tc>
                <a:tc>
                  <a:txBody>
                    <a:bodyPr/>
                    <a:lstStyle/>
                    <a:p>
                      <a:pPr>
                        <a:buNone/>
                      </a:pPr>
                      <a:r>
                        <a:rPr lang="es-ES" sz="1800" dirty="0"/>
                        <a:t>Miles </a:t>
                      </a:r>
                      <a:r>
                        <a:rPr lang="es-ES" sz="1800" dirty="0" err="1"/>
                        <a:t>msg</a:t>
                      </a:r>
                      <a:r>
                        <a:rPr lang="es-ES" sz="1800" dirty="0"/>
                        <a:t>/</a:t>
                      </a:r>
                      <a:r>
                        <a:rPr lang="es-ES" sz="1800" dirty="0" err="1"/>
                        <a:t>sec</a:t>
                      </a:r>
                      <a:endParaRPr lang="es-ES" sz="1800" dirty="0"/>
                    </a:p>
                  </a:txBody>
                  <a:tcPr anchor="ctr">
                    <a:solidFill>
                      <a:schemeClr val="bg1"/>
                    </a:solidFill>
                  </a:tcPr>
                </a:tc>
                <a:extLst>
                  <a:ext uri="{0D108BD9-81ED-4DB2-BD59-A6C34878D82A}">
                    <a16:rowId xmlns:a16="http://schemas.microsoft.com/office/drawing/2014/main" val="1441308262"/>
                  </a:ext>
                </a:extLst>
              </a:tr>
              <a:tr h="365760">
                <a:tc>
                  <a:txBody>
                    <a:bodyPr/>
                    <a:lstStyle/>
                    <a:p>
                      <a:pPr>
                        <a:buNone/>
                      </a:pPr>
                      <a:r>
                        <a:rPr lang="es-ES" sz="1800" b="1"/>
                        <a:t>Persistencia</a:t>
                      </a:r>
                      <a:endParaRPr lang="es-ES" sz="1800"/>
                    </a:p>
                  </a:txBody>
                  <a:tcPr anchor="ctr"/>
                </a:tc>
                <a:tc>
                  <a:txBody>
                    <a:bodyPr/>
                    <a:lstStyle/>
                    <a:p>
                      <a:pPr>
                        <a:buNone/>
                      </a:pPr>
                      <a:r>
                        <a:rPr lang="es-ES" sz="1800" dirty="0"/>
                        <a:t>Configurable</a:t>
                      </a:r>
                    </a:p>
                  </a:txBody>
                  <a:tcPr anchor="ctr">
                    <a:solidFill>
                      <a:schemeClr val="bg1"/>
                    </a:solidFill>
                  </a:tcPr>
                </a:tc>
                <a:tc>
                  <a:txBody>
                    <a:bodyPr/>
                    <a:lstStyle/>
                    <a:p>
                      <a:pPr>
                        <a:buNone/>
                      </a:pPr>
                      <a:r>
                        <a:rPr lang="es-ES" sz="1800"/>
                        <a:t>Limitada</a:t>
                      </a:r>
                    </a:p>
                  </a:txBody>
                  <a:tcPr anchor="ctr">
                    <a:solidFill>
                      <a:schemeClr val="bg1"/>
                    </a:solidFill>
                  </a:tcPr>
                </a:tc>
                <a:extLst>
                  <a:ext uri="{0D108BD9-81ED-4DB2-BD59-A6C34878D82A}">
                    <a16:rowId xmlns:a16="http://schemas.microsoft.com/office/drawing/2014/main" val="132123247"/>
                  </a:ext>
                </a:extLst>
              </a:tr>
              <a:tr h="365760">
                <a:tc>
                  <a:txBody>
                    <a:bodyPr/>
                    <a:lstStyle/>
                    <a:p>
                      <a:pPr>
                        <a:buNone/>
                      </a:pPr>
                      <a:r>
                        <a:rPr lang="es-ES" sz="1800" b="1"/>
                        <a:t>Escalabilidad</a:t>
                      </a:r>
                      <a:endParaRPr lang="es-ES" sz="1800"/>
                    </a:p>
                  </a:txBody>
                  <a:tcPr anchor="ctr"/>
                </a:tc>
                <a:tc>
                  <a:txBody>
                    <a:bodyPr/>
                    <a:lstStyle/>
                    <a:p>
                      <a:pPr>
                        <a:buNone/>
                      </a:pPr>
                      <a:r>
                        <a:rPr lang="es-ES" sz="1800"/>
                        <a:t>Horizontal</a:t>
                      </a:r>
                    </a:p>
                  </a:txBody>
                  <a:tcPr anchor="ctr">
                    <a:solidFill>
                      <a:schemeClr val="bg1"/>
                    </a:solidFill>
                  </a:tcPr>
                </a:tc>
                <a:tc>
                  <a:txBody>
                    <a:bodyPr/>
                    <a:lstStyle/>
                    <a:p>
                      <a:pPr>
                        <a:buNone/>
                      </a:pPr>
                      <a:r>
                        <a:rPr lang="es-ES" sz="1800" dirty="0"/>
                        <a:t>Vertical</a:t>
                      </a:r>
                    </a:p>
                  </a:txBody>
                  <a:tcPr anchor="ctr">
                    <a:solidFill>
                      <a:schemeClr val="bg1"/>
                    </a:solidFill>
                  </a:tcPr>
                </a:tc>
                <a:extLst>
                  <a:ext uri="{0D108BD9-81ED-4DB2-BD59-A6C34878D82A}">
                    <a16:rowId xmlns:a16="http://schemas.microsoft.com/office/drawing/2014/main" val="3465630408"/>
                  </a:ext>
                </a:extLst>
              </a:tr>
              <a:tr h="365760">
                <a:tc>
                  <a:txBody>
                    <a:bodyPr/>
                    <a:lstStyle/>
                    <a:p>
                      <a:pPr>
                        <a:buNone/>
                      </a:pPr>
                      <a:r>
                        <a:rPr lang="es-ES" sz="1800" b="1" dirty="0"/>
                        <a:t>Latencia</a:t>
                      </a:r>
                      <a:endParaRPr lang="es-ES" sz="1800" dirty="0"/>
                    </a:p>
                  </a:txBody>
                  <a:tcPr anchor="ctr"/>
                </a:tc>
                <a:tc>
                  <a:txBody>
                    <a:bodyPr/>
                    <a:lstStyle/>
                    <a:p>
                      <a:pPr>
                        <a:buNone/>
                      </a:pPr>
                      <a:r>
                        <a:rPr lang="es-ES" sz="1800"/>
                        <a:t>Muy baja</a:t>
                      </a:r>
                    </a:p>
                  </a:txBody>
                  <a:tcPr anchor="ctr">
                    <a:solidFill>
                      <a:schemeClr val="bg1"/>
                    </a:solidFill>
                  </a:tcPr>
                </a:tc>
                <a:tc>
                  <a:txBody>
                    <a:bodyPr/>
                    <a:lstStyle/>
                    <a:p>
                      <a:pPr>
                        <a:buNone/>
                      </a:pPr>
                      <a:r>
                        <a:rPr lang="es-ES" sz="1800" dirty="0"/>
                        <a:t>Variable</a:t>
                      </a:r>
                    </a:p>
                  </a:txBody>
                  <a:tcPr anchor="ctr">
                    <a:solidFill>
                      <a:schemeClr val="bg1"/>
                    </a:solidFill>
                  </a:tcPr>
                </a:tc>
                <a:extLst>
                  <a:ext uri="{0D108BD9-81ED-4DB2-BD59-A6C34878D82A}">
                    <a16:rowId xmlns:a16="http://schemas.microsoft.com/office/drawing/2014/main" val="2419358298"/>
                  </a:ext>
                </a:extLst>
              </a:tr>
              <a:tr h="365760">
                <a:tc>
                  <a:txBody>
                    <a:bodyPr/>
                    <a:lstStyle/>
                    <a:p>
                      <a:pPr>
                        <a:buNone/>
                      </a:pPr>
                      <a:r>
                        <a:rPr lang="es-ES" sz="1800" b="1"/>
                        <a:t>Tolerancia a fallos</a:t>
                      </a:r>
                      <a:endParaRPr lang="es-ES" sz="1800"/>
                    </a:p>
                  </a:txBody>
                  <a:tcPr anchor="ctr"/>
                </a:tc>
                <a:tc>
                  <a:txBody>
                    <a:bodyPr/>
                    <a:lstStyle/>
                    <a:p>
                      <a:pPr>
                        <a:buNone/>
                      </a:pPr>
                      <a:r>
                        <a:rPr lang="es-ES" sz="1800"/>
                        <a:t>Automática</a:t>
                      </a:r>
                    </a:p>
                  </a:txBody>
                  <a:tcPr anchor="ctr">
                    <a:solidFill>
                      <a:schemeClr val="bg1"/>
                    </a:solidFill>
                  </a:tcPr>
                </a:tc>
                <a:tc>
                  <a:txBody>
                    <a:bodyPr/>
                    <a:lstStyle/>
                    <a:p>
                      <a:pPr>
                        <a:buNone/>
                      </a:pPr>
                      <a:r>
                        <a:rPr lang="es-ES" sz="1800" dirty="0"/>
                        <a:t>Manual</a:t>
                      </a:r>
                    </a:p>
                  </a:txBody>
                  <a:tcPr anchor="ctr">
                    <a:solidFill>
                      <a:schemeClr val="bg1"/>
                    </a:solidFill>
                  </a:tcPr>
                </a:tc>
                <a:extLst>
                  <a:ext uri="{0D108BD9-81ED-4DB2-BD59-A6C34878D82A}">
                    <a16:rowId xmlns:a16="http://schemas.microsoft.com/office/drawing/2014/main" val="165276524"/>
                  </a:ext>
                </a:extLst>
              </a:tr>
            </a:tbl>
          </a:graphicData>
        </a:graphic>
      </p:graphicFrame>
    </p:spTree>
    <p:extLst>
      <p:ext uri="{BB962C8B-B14F-4D97-AF65-F5344CB8AC3E}">
        <p14:creationId xmlns:p14="http://schemas.microsoft.com/office/powerpoint/2010/main" val="5676611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43F32-0CF3-8F6A-F622-7DEB7925794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9030985-F6C5-65BF-3114-4A21CF4602C6}"/>
              </a:ext>
            </a:extLst>
          </p:cNvPr>
          <p:cNvSpPr>
            <a:spLocks noGrp="1"/>
          </p:cNvSpPr>
          <p:nvPr>
            <p:ph type="title"/>
          </p:nvPr>
        </p:nvSpPr>
        <p:spPr>
          <a:xfrm>
            <a:off x="1484311" y="685800"/>
            <a:ext cx="10018713" cy="814137"/>
          </a:xfrm>
        </p:spPr>
        <p:txBody>
          <a:bodyPr/>
          <a:lstStyle/>
          <a:p>
            <a:r>
              <a:rPr lang="es-ES" dirty="0"/>
              <a:t>Empresas que usan Kafka</a:t>
            </a:r>
          </a:p>
        </p:txBody>
      </p:sp>
      <p:sp>
        <p:nvSpPr>
          <p:cNvPr id="3" name="Marcador de contenido 2">
            <a:extLst>
              <a:ext uri="{FF2B5EF4-FFF2-40B4-BE49-F238E27FC236}">
                <a16:creationId xmlns:a16="http://schemas.microsoft.com/office/drawing/2014/main" id="{B5F9A1BF-BAA7-947E-D2DE-0CCB7D4BF90D}"/>
              </a:ext>
            </a:extLst>
          </p:cNvPr>
          <p:cNvSpPr>
            <a:spLocks noGrp="1"/>
          </p:cNvSpPr>
          <p:nvPr>
            <p:ph idx="1"/>
          </p:nvPr>
        </p:nvSpPr>
        <p:spPr>
          <a:xfrm>
            <a:off x="2090583" y="1588168"/>
            <a:ext cx="6169557" cy="4122821"/>
          </a:xfrm>
        </p:spPr>
        <p:txBody>
          <a:bodyPr anchor="t">
            <a:normAutofit/>
          </a:bodyPr>
          <a:lstStyle/>
          <a:p>
            <a:r>
              <a:rPr lang="es-ES" sz="1600" dirty="0"/>
              <a:t>LinkedIn (creador original) </a:t>
            </a:r>
          </a:p>
          <a:p>
            <a:r>
              <a:rPr lang="es-ES" sz="1600" dirty="0"/>
              <a:t>Netflix - </a:t>
            </a:r>
            <a:r>
              <a:rPr lang="es-ES" sz="1600" dirty="0" err="1"/>
              <a:t>Streaming</a:t>
            </a:r>
            <a:r>
              <a:rPr lang="es-ES" sz="1600" dirty="0"/>
              <a:t> de contenido </a:t>
            </a:r>
          </a:p>
          <a:p>
            <a:r>
              <a:rPr lang="es-ES" sz="1600" dirty="0"/>
              <a:t>Uber - Seguimiento en tiempo real </a:t>
            </a:r>
          </a:p>
          <a:p>
            <a:r>
              <a:rPr lang="es-ES" sz="1600" dirty="0"/>
              <a:t>Spotify - Análisis de reproducción </a:t>
            </a:r>
          </a:p>
          <a:p>
            <a:r>
              <a:rPr lang="es-ES" sz="1600" dirty="0"/>
              <a:t>Twitter - Procesamiento de tweets </a:t>
            </a:r>
          </a:p>
          <a:p>
            <a:r>
              <a:rPr lang="es-ES" sz="1600" dirty="0"/>
              <a:t>Airbnb - Análisis de reservas </a:t>
            </a:r>
          </a:p>
          <a:p>
            <a:r>
              <a:rPr lang="es-ES" sz="1600" dirty="0" err="1"/>
              <a:t>Gestamp</a:t>
            </a:r>
            <a:r>
              <a:rPr lang="es-ES" sz="1600" dirty="0"/>
              <a:t> – Comunicación entre “cerebro” y las distintas fábricas.</a:t>
            </a:r>
          </a:p>
          <a:p>
            <a:endParaRPr lang="es-ES" sz="1600" dirty="0"/>
          </a:p>
        </p:txBody>
      </p:sp>
    </p:spTree>
    <p:extLst>
      <p:ext uri="{BB962C8B-B14F-4D97-AF65-F5344CB8AC3E}">
        <p14:creationId xmlns:p14="http://schemas.microsoft.com/office/powerpoint/2010/main" val="22718583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A1769-C4B2-F2EF-FE73-296BF909696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7E07037-9413-FE3D-6414-AB958E34AA56}"/>
              </a:ext>
            </a:extLst>
          </p:cNvPr>
          <p:cNvSpPr>
            <a:spLocks noGrp="1"/>
          </p:cNvSpPr>
          <p:nvPr>
            <p:ph type="title"/>
          </p:nvPr>
        </p:nvSpPr>
        <p:spPr>
          <a:xfrm>
            <a:off x="1484311" y="685800"/>
            <a:ext cx="10018713" cy="814137"/>
          </a:xfrm>
        </p:spPr>
        <p:txBody>
          <a:bodyPr/>
          <a:lstStyle/>
          <a:p>
            <a:r>
              <a:rPr lang="es-ES" dirty="0"/>
              <a:t>Conclusiones</a:t>
            </a:r>
          </a:p>
        </p:txBody>
      </p:sp>
      <p:sp>
        <p:nvSpPr>
          <p:cNvPr id="3" name="Marcador de contenido 2">
            <a:extLst>
              <a:ext uri="{FF2B5EF4-FFF2-40B4-BE49-F238E27FC236}">
                <a16:creationId xmlns:a16="http://schemas.microsoft.com/office/drawing/2014/main" id="{35252908-957D-1C66-A8C7-A3E150C68A8C}"/>
              </a:ext>
            </a:extLst>
          </p:cNvPr>
          <p:cNvSpPr>
            <a:spLocks noGrp="1"/>
          </p:cNvSpPr>
          <p:nvPr>
            <p:ph idx="1"/>
          </p:nvPr>
        </p:nvSpPr>
        <p:spPr>
          <a:xfrm>
            <a:off x="2090583" y="1588168"/>
            <a:ext cx="6169557" cy="4122821"/>
          </a:xfrm>
        </p:spPr>
        <p:txBody>
          <a:bodyPr anchor="t">
            <a:normAutofit/>
          </a:bodyPr>
          <a:lstStyle/>
          <a:p>
            <a:pPr marL="0" indent="0">
              <a:buNone/>
            </a:pPr>
            <a:r>
              <a:rPr lang="es-ES" sz="1600" b="1" dirty="0"/>
              <a:t>Apache Kafka es ideal para:</a:t>
            </a:r>
            <a:endParaRPr lang="es-ES" sz="1600" dirty="0"/>
          </a:p>
          <a:p>
            <a:r>
              <a:rPr lang="es-ES" sz="1600" dirty="0"/>
              <a:t>Aplicaciones que requieren </a:t>
            </a:r>
            <a:r>
              <a:rPr lang="es-ES" sz="1600" b="1" dirty="0"/>
              <a:t>alta velocidad</a:t>
            </a:r>
            <a:endParaRPr lang="es-ES" sz="1600" dirty="0"/>
          </a:p>
          <a:p>
            <a:r>
              <a:rPr lang="es-ES" sz="1600" dirty="0"/>
              <a:t>Procesamiento de </a:t>
            </a:r>
            <a:r>
              <a:rPr lang="es-ES" sz="1600" b="1" dirty="0"/>
              <a:t>grandes volúmenes</a:t>
            </a:r>
            <a:r>
              <a:rPr lang="es-ES" sz="1600" dirty="0"/>
              <a:t> de datos</a:t>
            </a:r>
          </a:p>
          <a:p>
            <a:r>
              <a:rPr lang="es-ES" sz="1600" dirty="0"/>
              <a:t>Arquitecturas de </a:t>
            </a:r>
            <a:r>
              <a:rPr lang="es-ES" sz="1600" b="1" dirty="0"/>
              <a:t>microservicios</a:t>
            </a:r>
            <a:endParaRPr lang="es-ES" sz="1600" dirty="0"/>
          </a:p>
          <a:p>
            <a:r>
              <a:rPr lang="es-ES" sz="1600" b="1" dirty="0"/>
              <a:t>Análisis en tiempo real</a:t>
            </a:r>
            <a:endParaRPr lang="es-ES" sz="1600" dirty="0"/>
          </a:p>
          <a:p>
            <a:pPr marL="0" indent="0">
              <a:buNone/>
            </a:pPr>
            <a:r>
              <a:rPr lang="es-ES" sz="1600" b="1" dirty="0"/>
              <a:t>El futuro del </a:t>
            </a:r>
            <a:r>
              <a:rPr lang="es-ES" sz="1600" b="1" dirty="0" err="1"/>
              <a:t>streaming</a:t>
            </a:r>
            <a:r>
              <a:rPr lang="es-ES" sz="1600" b="1" dirty="0"/>
              <a:t> de datos</a:t>
            </a:r>
            <a:endParaRPr lang="es-ES" sz="1600" dirty="0"/>
          </a:p>
          <a:p>
            <a:r>
              <a:rPr lang="es-ES" sz="1600" dirty="0" err="1"/>
              <a:t>KRaft</a:t>
            </a:r>
            <a:r>
              <a:rPr lang="es-ES" sz="1600" dirty="0"/>
              <a:t> simplifica la operación</a:t>
            </a:r>
          </a:p>
          <a:p>
            <a:r>
              <a:rPr lang="es-ES" sz="1600" dirty="0"/>
              <a:t>Ecosistema rico y en crecimiento</a:t>
            </a:r>
          </a:p>
          <a:p>
            <a:r>
              <a:rPr lang="es-ES" sz="1600" dirty="0"/>
              <a:t>Estándar de la industria</a:t>
            </a:r>
          </a:p>
          <a:p>
            <a:endParaRPr lang="es-ES" sz="1600" dirty="0"/>
          </a:p>
        </p:txBody>
      </p:sp>
    </p:spTree>
    <p:extLst>
      <p:ext uri="{BB962C8B-B14F-4D97-AF65-F5344CB8AC3E}">
        <p14:creationId xmlns:p14="http://schemas.microsoft.com/office/powerpoint/2010/main" val="2390155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7DC2C63-537D-F132-BF80-6110CE978549}"/>
            </a:ext>
          </a:extLst>
        </p:cNvPr>
        <p:cNvGrpSpPr/>
        <p:nvPr/>
      </p:nvGrpSpPr>
      <p:grpSpPr>
        <a:xfrm>
          <a:off x="0" y="0"/>
          <a:ext cx="0" cy="0"/>
          <a:chOff x="0" y="0"/>
          <a:chExt cx="0" cy="0"/>
        </a:xfrm>
      </p:grpSpPr>
      <p:sp useBgFill="1">
        <p:nvSpPr>
          <p:cNvPr id="21" name="Rectángulo 20">
            <a:extLst>
              <a:ext uri="{FF2B5EF4-FFF2-40B4-BE49-F238E27FC236}">
                <a16:creationId xmlns:a16="http://schemas.microsoft.com/office/drawing/2014/main" id="{B00551CF-CB85-5857-7902-C614271F5B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a:p>
        </p:txBody>
      </p:sp>
      <p:grpSp>
        <p:nvGrpSpPr>
          <p:cNvPr id="23" name="Grupo 22">
            <a:extLst>
              <a:ext uri="{FF2B5EF4-FFF2-40B4-BE49-F238E27FC236}">
                <a16:creationId xmlns:a16="http://schemas.microsoft.com/office/drawing/2014/main" id="{2112538F-DB56-73CB-431F-D2105D99DCC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0"/>
            <a:ext cx="5014912" cy="6862763"/>
            <a:chOff x="2928938" y="-4763"/>
            <a:chExt cx="5014912" cy="6862763"/>
          </a:xfrm>
        </p:grpSpPr>
        <p:sp>
          <p:nvSpPr>
            <p:cNvPr id="24" name="Forma libre 6">
              <a:extLst>
                <a:ext uri="{FF2B5EF4-FFF2-40B4-BE49-F238E27FC236}">
                  <a16:creationId xmlns:a16="http://schemas.microsoft.com/office/drawing/2014/main" id="{1407A3CC-8E24-8204-4F5F-14D410ADE2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s-ES"/>
            </a:p>
          </p:txBody>
        </p:sp>
        <p:sp>
          <p:nvSpPr>
            <p:cNvPr id="25" name="Forma libre 7">
              <a:extLst>
                <a:ext uri="{FF2B5EF4-FFF2-40B4-BE49-F238E27FC236}">
                  <a16:creationId xmlns:a16="http://schemas.microsoft.com/office/drawing/2014/main" id="{6E76E752-5279-EF33-A1DA-7D408938D6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s-ES"/>
            </a:p>
          </p:txBody>
        </p:sp>
        <p:sp>
          <p:nvSpPr>
            <p:cNvPr id="26" name="Forma libre 12">
              <a:extLst>
                <a:ext uri="{FF2B5EF4-FFF2-40B4-BE49-F238E27FC236}">
                  <a16:creationId xmlns:a16="http://schemas.microsoft.com/office/drawing/2014/main" id="{E4F56A90-1488-34A9-D1C9-BB0B5129EA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s-ES"/>
            </a:p>
          </p:txBody>
        </p:sp>
        <p:sp>
          <p:nvSpPr>
            <p:cNvPr id="27" name="Forma libre 13">
              <a:extLst>
                <a:ext uri="{FF2B5EF4-FFF2-40B4-BE49-F238E27FC236}">
                  <a16:creationId xmlns:a16="http://schemas.microsoft.com/office/drawing/2014/main" id="{B59A1857-65D8-3CDE-B9A2-BA6D4C56CE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s-ES"/>
            </a:p>
          </p:txBody>
        </p:sp>
        <p:sp>
          <p:nvSpPr>
            <p:cNvPr id="28" name="Forma libre 14">
              <a:extLst>
                <a:ext uri="{FF2B5EF4-FFF2-40B4-BE49-F238E27FC236}">
                  <a16:creationId xmlns:a16="http://schemas.microsoft.com/office/drawing/2014/main" id="{46D25B4B-CAE6-8E8F-5F8A-109945B2B9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s-ES"/>
            </a:p>
          </p:txBody>
        </p:sp>
        <p:sp>
          <p:nvSpPr>
            <p:cNvPr id="29" name="Forma libre 15">
              <a:extLst>
                <a:ext uri="{FF2B5EF4-FFF2-40B4-BE49-F238E27FC236}">
                  <a16:creationId xmlns:a16="http://schemas.microsoft.com/office/drawing/2014/main" id="{D2CB40A5-6621-E0F3-48A8-BBC17F83D6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s-ES"/>
            </a:p>
          </p:txBody>
        </p:sp>
      </p:grpSp>
      <p:sp>
        <p:nvSpPr>
          <p:cNvPr id="2" name="Título 1">
            <a:extLst>
              <a:ext uri="{FF2B5EF4-FFF2-40B4-BE49-F238E27FC236}">
                <a16:creationId xmlns:a16="http://schemas.microsoft.com/office/drawing/2014/main" id="{49499881-91FC-17D8-2323-7C95EAD06C6C}"/>
              </a:ext>
            </a:extLst>
          </p:cNvPr>
          <p:cNvSpPr>
            <a:spLocks noGrp="1"/>
          </p:cNvSpPr>
          <p:nvPr>
            <p:ph type="title"/>
          </p:nvPr>
        </p:nvSpPr>
        <p:spPr>
          <a:xfrm>
            <a:off x="1018191" y="685800"/>
            <a:ext cx="7411825" cy="1752599"/>
          </a:xfrm>
        </p:spPr>
        <p:txBody>
          <a:bodyPr rtlCol="0">
            <a:normAutofit/>
          </a:bodyPr>
          <a:lstStyle/>
          <a:p>
            <a:pPr algn="l"/>
            <a:r>
              <a:rPr lang="es-ES" dirty="0"/>
              <a:t>Kafka – Instalación</a:t>
            </a:r>
          </a:p>
        </p:txBody>
      </p:sp>
    </p:spTree>
    <p:extLst>
      <p:ext uri="{BB962C8B-B14F-4D97-AF65-F5344CB8AC3E}">
        <p14:creationId xmlns:p14="http://schemas.microsoft.com/office/powerpoint/2010/main" val="701069046"/>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BE8D16-3088-B209-FDB4-BBBDFEAA7993}"/>
              </a:ext>
            </a:extLst>
          </p:cNvPr>
          <p:cNvSpPr>
            <a:spLocks noGrp="1"/>
          </p:cNvSpPr>
          <p:nvPr>
            <p:ph type="title"/>
          </p:nvPr>
        </p:nvSpPr>
        <p:spPr>
          <a:xfrm>
            <a:off x="1484311" y="685800"/>
            <a:ext cx="10018713" cy="814137"/>
          </a:xfrm>
        </p:spPr>
        <p:txBody>
          <a:bodyPr/>
          <a:lstStyle/>
          <a:p>
            <a:r>
              <a:rPr lang="es-ES" dirty="0"/>
              <a:t>Instalación Java</a:t>
            </a:r>
          </a:p>
        </p:txBody>
      </p:sp>
      <p:sp>
        <p:nvSpPr>
          <p:cNvPr id="3" name="Marcador de contenido 2">
            <a:extLst>
              <a:ext uri="{FF2B5EF4-FFF2-40B4-BE49-F238E27FC236}">
                <a16:creationId xmlns:a16="http://schemas.microsoft.com/office/drawing/2014/main" id="{C958B18C-DBC7-BE28-DC93-DE5B78419A0F}"/>
              </a:ext>
            </a:extLst>
          </p:cNvPr>
          <p:cNvSpPr>
            <a:spLocks noGrp="1"/>
          </p:cNvSpPr>
          <p:nvPr>
            <p:ph idx="1"/>
          </p:nvPr>
        </p:nvSpPr>
        <p:spPr>
          <a:xfrm>
            <a:off x="1484310" y="1668379"/>
            <a:ext cx="10018713" cy="4122821"/>
          </a:xfrm>
        </p:spPr>
        <p:txBody>
          <a:bodyPr anchor="t">
            <a:normAutofit/>
          </a:bodyPr>
          <a:lstStyle/>
          <a:p>
            <a:r>
              <a:rPr lang="es-ES" sz="1600" dirty="0"/>
              <a:t>Asegurarnos que tenemos instalado java v23+ para la versión 4.x de Kafka.</a:t>
            </a:r>
          </a:p>
          <a:p>
            <a:r>
              <a:rPr lang="es-ES" sz="1600" dirty="0">
                <a:hlinkClick r:id="rId2"/>
              </a:rPr>
              <a:t>https://kafka.apache.org/41/getting-started/compatibility/</a:t>
            </a:r>
            <a:endParaRPr lang="es-ES" sz="1600" dirty="0"/>
          </a:p>
          <a:p>
            <a:endParaRPr lang="es-ES" sz="1600" dirty="0"/>
          </a:p>
          <a:p>
            <a:endParaRPr lang="es-ES" sz="1600" dirty="0"/>
          </a:p>
          <a:p>
            <a:endParaRPr lang="es-ES" sz="1600" dirty="0"/>
          </a:p>
          <a:p>
            <a:endParaRPr lang="es-ES" sz="1600" dirty="0"/>
          </a:p>
          <a:p>
            <a:endParaRPr lang="es-ES" sz="1600" dirty="0"/>
          </a:p>
          <a:p>
            <a:r>
              <a:rPr lang="es-ES" sz="1600" dirty="0">
                <a:hlinkClick r:id="rId3"/>
              </a:rPr>
              <a:t>https://www.oracle.com/java/technologies/downloads/#jdk25-linux</a:t>
            </a:r>
            <a:endParaRPr lang="es-ES" sz="1600" dirty="0"/>
          </a:p>
          <a:p>
            <a:endParaRPr lang="es-ES" sz="1600" dirty="0"/>
          </a:p>
          <a:p>
            <a:endParaRPr lang="es-ES" sz="1600" dirty="0"/>
          </a:p>
          <a:p>
            <a:endParaRPr lang="es-ES" sz="1600" dirty="0"/>
          </a:p>
          <a:p>
            <a:endParaRPr lang="es-ES" sz="1600" dirty="0"/>
          </a:p>
          <a:p>
            <a:endParaRPr lang="es-ES" sz="1600" dirty="0"/>
          </a:p>
          <a:p>
            <a:endParaRPr lang="es-ES" sz="1600" dirty="0"/>
          </a:p>
          <a:p>
            <a:endParaRPr lang="es-ES" sz="1600" dirty="0"/>
          </a:p>
          <a:p>
            <a:endParaRPr lang="es-ES" sz="1600" dirty="0"/>
          </a:p>
          <a:p>
            <a:endParaRPr lang="es-ES" sz="1600" dirty="0"/>
          </a:p>
          <a:p>
            <a:endParaRPr lang="es-ES" sz="1600" dirty="0"/>
          </a:p>
        </p:txBody>
      </p:sp>
      <p:pic>
        <p:nvPicPr>
          <p:cNvPr id="6" name="Imagen 5">
            <a:extLst>
              <a:ext uri="{FF2B5EF4-FFF2-40B4-BE49-F238E27FC236}">
                <a16:creationId xmlns:a16="http://schemas.microsoft.com/office/drawing/2014/main" id="{92937E9D-5993-63F2-5AC2-0BCE36103EB7}"/>
              </a:ext>
            </a:extLst>
          </p:cNvPr>
          <p:cNvPicPr>
            <a:picLocks noChangeAspect="1"/>
          </p:cNvPicPr>
          <p:nvPr/>
        </p:nvPicPr>
        <p:blipFill>
          <a:blip r:embed="rId4"/>
          <a:stretch>
            <a:fillRect/>
          </a:stretch>
        </p:blipFill>
        <p:spPr>
          <a:xfrm>
            <a:off x="1695004" y="2416468"/>
            <a:ext cx="5153100" cy="1749721"/>
          </a:xfrm>
          <a:prstGeom prst="rect">
            <a:avLst/>
          </a:prstGeom>
        </p:spPr>
      </p:pic>
      <p:pic>
        <p:nvPicPr>
          <p:cNvPr id="9" name="Imagen 8">
            <a:extLst>
              <a:ext uri="{FF2B5EF4-FFF2-40B4-BE49-F238E27FC236}">
                <a16:creationId xmlns:a16="http://schemas.microsoft.com/office/drawing/2014/main" id="{29E247B5-0D4C-B1D8-4729-5E8CD6F872D7}"/>
              </a:ext>
            </a:extLst>
          </p:cNvPr>
          <p:cNvPicPr>
            <a:picLocks noChangeAspect="1"/>
          </p:cNvPicPr>
          <p:nvPr/>
        </p:nvPicPr>
        <p:blipFill>
          <a:blip r:embed="rId5"/>
          <a:stretch>
            <a:fillRect/>
          </a:stretch>
        </p:blipFill>
        <p:spPr>
          <a:xfrm>
            <a:off x="1626920" y="4611583"/>
            <a:ext cx="5559366" cy="1712095"/>
          </a:xfrm>
          <a:prstGeom prst="rect">
            <a:avLst/>
          </a:prstGeom>
        </p:spPr>
      </p:pic>
      <p:sp>
        <p:nvSpPr>
          <p:cNvPr id="10" name="Rectángulo 9">
            <a:extLst>
              <a:ext uri="{FF2B5EF4-FFF2-40B4-BE49-F238E27FC236}">
                <a16:creationId xmlns:a16="http://schemas.microsoft.com/office/drawing/2014/main" id="{7886338A-DD8D-13F2-F1A6-29F691A8032F}"/>
              </a:ext>
            </a:extLst>
          </p:cNvPr>
          <p:cNvSpPr/>
          <p:nvPr/>
        </p:nvSpPr>
        <p:spPr>
          <a:xfrm>
            <a:off x="1733797" y="5842660"/>
            <a:ext cx="4579917" cy="205839"/>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2" name="Imagen 11">
            <a:extLst>
              <a:ext uri="{FF2B5EF4-FFF2-40B4-BE49-F238E27FC236}">
                <a16:creationId xmlns:a16="http://schemas.microsoft.com/office/drawing/2014/main" id="{05EE723D-2C91-5E01-BA34-E721E50B369E}"/>
              </a:ext>
            </a:extLst>
          </p:cNvPr>
          <p:cNvPicPr>
            <a:picLocks noChangeAspect="1"/>
          </p:cNvPicPr>
          <p:nvPr/>
        </p:nvPicPr>
        <p:blipFill>
          <a:blip r:embed="rId6"/>
          <a:stretch>
            <a:fillRect/>
          </a:stretch>
        </p:blipFill>
        <p:spPr>
          <a:xfrm>
            <a:off x="1803801" y="6424979"/>
            <a:ext cx="4823878" cy="228620"/>
          </a:xfrm>
          <a:prstGeom prst="rect">
            <a:avLst/>
          </a:prstGeom>
        </p:spPr>
      </p:pic>
    </p:spTree>
    <p:extLst>
      <p:ext uri="{BB962C8B-B14F-4D97-AF65-F5344CB8AC3E}">
        <p14:creationId xmlns:p14="http://schemas.microsoft.com/office/powerpoint/2010/main" val="17782197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01636-6C82-FA85-E5C4-DD35A024D7A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79F40C7-1A05-ACA3-FD9F-E0A5A754AD80}"/>
              </a:ext>
            </a:extLst>
          </p:cNvPr>
          <p:cNvSpPr>
            <a:spLocks noGrp="1"/>
          </p:cNvSpPr>
          <p:nvPr>
            <p:ph type="title"/>
          </p:nvPr>
        </p:nvSpPr>
        <p:spPr>
          <a:xfrm>
            <a:off x="1484311" y="685800"/>
            <a:ext cx="10018713" cy="814137"/>
          </a:xfrm>
        </p:spPr>
        <p:txBody>
          <a:bodyPr/>
          <a:lstStyle/>
          <a:p>
            <a:r>
              <a:rPr lang="es-ES" dirty="0"/>
              <a:t>Instalación Kafka</a:t>
            </a:r>
          </a:p>
        </p:txBody>
      </p:sp>
      <p:sp>
        <p:nvSpPr>
          <p:cNvPr id="3" name="Marcador de contenido 2">
            <a:extLst>
              <a:ext uri="{FF2B5EF4-FFF2-40B4-BE49-F238E27FC236}">
                <a16:creationId xmlns:a16="http://schemas.microsoft.com/office/drawing/2014/main" id="{2B9322F7-50E0-69E8-D372-382FD4BA251F}"/>
              </a:ext>
            </a:extLst>
          </p:cNvPr>
          <p:cNvSpPr>
            <a:spLocks noGrp="1"/>
          </p:cNvSpPr>
          <p:nvPr>
            <p:ph idx="1"/>
          </p:nvPr>
        </p:nvSpPr>
        <p:spPr>
          <a:xfrm>
            <a:off x="1484310" y="1668379"/>
            <a:ext cx="6295905" cy="4122821"/>
          </a:xfrm>
        </p:spPr>
        <p:txBody>
          <a:bodyPr anchor="t">
            <a:normAutofit/>
          </a:bodyPr>
          <a:lstStyle/>
          <a:p>
            <a:r>
              <a:rPr lang="es-ES" sz="1600" dirty="0"/>
              <a:t>Buscamos en </a:t>
            </a:r>
            <a:r>
              <a:rPr lang="es-ES" sz="1600" dirty="0">
                <a:hlinkClick r:id="rId2"/>
              </a:rPr>
              <a:t>https://kafka.apache.org/downloads</a:t>
            </a:r>
            <a:endParaRPr lang="es-ES" sz="1600" dirty="0"/>
          </a:p>
          <a:p>
            <a:r>
              <a:rPr lang="es-ES" sz="1600" dirty="0"/>
              <a:t>Descargamos la última versión de Kafka (mediante comando o desde la página).</a:t>
            </a:r>
          </a:p>
          <a:p>
            <a:r>
              <a:rPr lang="es-ES" sz="1600" dirty="0"/>
              <a:t>Creamos una carpeta Kafka y extraemos ahí el contenido.</a:t>
            </a:r>
          </a:p>
          <a:p>
            <a:pPr marL="0" indent="0">
              <a:buNone/>
            </a:pPr>
            <a:endParaRPr lang="es-ES" sz="1600" dirty="0"/>
          </a:p>
          <a:p>
            <a:endParaRPr lang="es-ES" sz="1600" dirty="0"/>
          </a:p>
        </p:txBody>
      </p:sp>
      <p:pic>
        <p:nvPicPr>
          <p:cNvPr id="5" name="Imagen 4">
            <a:extLst>
              <a:ext uri="{FF2B5EF4-FFF2-40B4-BE49-F238E27FC236}">
                <a16:creationId xmlns:a16="http://schemas.microsoft.com/office/drawing/2014/main" id="{2FBDB2AD-2C94-9636-E7CF-16754D4A46D3}"/>
              </a:ext>
            </a:extLst>
          </p:cNvPr>
          <p:cNvPicPr>
            <a:picLocks noChangeAspect="1"/>
          </p:cNvPicPr>
          <p:nvPr/>
        </p:nvPicPr>
        <p:blipFill>
          <a:blip r:embed="rId3"/>
          <a:stretch>
            <a:fillRect/>
          </a:stretch>
        </p:blipFill>
        <p:spPr>
          <a:xfrm>
            <a:off x="755401" y="4327156"/>
            <a:ext cx="10517068" cy="209579"/>
          </a:xfrm>
          <a:prstGeom prst="rect">
            <a:avLst/>
          </a:prstGeom>
        </p:spPr>
      </p:pic>
      <p:pic>
        <p:nvPicPr>
          <p:cNvPr id="7" name="Imagen 6">
            <a:extLst>
              <a:ext uri="{FF2B5EF4-FFF2-40B4-BE49-F238E27FC236}">
                <a16:creationId xmlns:a16="http://schemas.microsoft.com/office/drawing/2014/main" id="{E7D45226-230F-9C8A-BD4A-9AD627974D81}"/>
              </a:ext>
            </a:extLst>
          </p:cNvPr>
          <p:cNvPicPr>
            <a:picLocks noChangeAspect="1"/>
          </p:cNvPicPr>
          <p:nvPr/>
        </p:nvPicPr>
        <p:blipFill>
          <a:blip r:embed="rId4"/>
          <a:stretch>
            <a:fillRect/>
          </a:stretch>
        </p:blipFill>
        <p:spPr>
          <a:xfrm>
            <a:off x="755401" y="4757619"/>
            <a:ext cx="6192114" cy="285790"/>
          </a:xfrm>
          <a:prstGeom prst="rect">
            <a:avLst/>
          </a:prstGeom>
        </p:spPr>
      </p:pic>
      <p:pic>
        <p:nvPicPr>
          <p:cNvPr id="8" name="Imagen 7">
            <a:extLst>
              <a:ext uri="{FF2B5EF4-FFF2-40B4-BE49-F238E27FC236}">
                <a16:creationId xmlns:a16="http://schemas.microsoft.com/office/drawing/2014/main" id="{5C4D7FA7-DF6D-B60A-5E05-49B5CA8C0C99}"/>
              </a:ext>
            </a:extLst>
          </p:cNvPr>
          <p:cNvPicPr>
            <a:picLocks noChangeAspect="1"/>
          </p:cNvPicPr>
          <p:nvPr/>
        </p:nvPicPr>
        <p:blipFill>
          <a:blip r:embed="rId5"/>
          <a:stretch>
            <a:fillRect/>
          </a:stretch>
        </p:blipFill>
        <p:spPr>
          <a:xfrm>
            <a:off x="8057486" y="1414473"/>
            <a:ext cx="3365610" cy="2775673"/>
          </a:xfrm>
          <a:prstGeom prst="rect">
            <a:avLst/>
          </a:prstGeom>
        </p:spPr>
      </p:pic>
      <p:sp>
        <p:nvSpPr>
          <p:cNvPr id="9" name="Rectángulo 8">
            <a:extLst>
              <a:ext uri="{FF2B5EF4-FFF2-40B4-BE49-F238E27FC236}">
                <a16:creationId xmlns:a16="http://schemas.microsoft.com/office/drawing/2014/main" id="{5060283C-59D4-CC55-09F9-014C61D1CD0F}"/>
              </a:ext>
            </a:extLst>
          </p:cNvPr>
          <p:cNvSpPr/>
          <p:nvPr/>
        </p:nvSpPr>
        <p:spPr>
          <a:xfrm>
            <a:off x="8287692" y="3952875"/>
            <a:ext cx="2449066" cy="205839"/>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511414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5023B6-6A3E-4B21-AA90-EFD857D9561F}"/>
              </a:ext>
            </a:extLst>
          </p:cNvPr>
          <p:cNvSpPr>
            <a:spLocks noGrp="1"/>
          </p:cNvSpPr>
          <p:nvPr>
            <p:ph type="title"/>
          </p:nvPr>
        </p:nvSpPr>
        <p:spPr>
          <a:xfrm>
            <a:off x="1484311" y="685801"/>
            <a:ext cx="10018713" cy="838200"/>
          </a:xfrm>
        </p:spPr>
        <p:txBody>
          <a:bodyPr/>
          <a:lstStyle/>
          <a:p>
            <a:r>
              <a:rPr lang="es-ES" dirty="0"/>
              <a:t>Puesta en marcha </a:t>
            </a:r>
            <a:r>
              <a:rPr lang="es-ES" dirty="0" err="1"/>
              <a:t>kafka</a:t>
            </a:r>
            <a:endParaRPr lang="es-ES" dirty="0"/>
          </a:p>
        </p:txBody>
      </p:sp>
      <p:sp>
        <p:nvSpPr>
          <p:cNvPr id="3" name="Marcador de contenido 2">
            <a:extLst>
              <a:ext uri="{FF2B5EF4-FFF2-40B4-BE49-F238E27FC236}">
                <a16:creationId xmlns:a16="http://schemas.microsoft.com/office/drawing/2014/main" id="{A7D27D2E-95F2-E945-AEA7-E999F0162188}"/>
              </a:ext>
            </a:extLst>
          </p:cNvPr>
          <p:cNvSpPr>
            <a:spLocks noGrp="1"/>
          </p:cNvSpPr>
          <p:nvPr>
            <p:ph idx="1"/>
          </p:nvPr>
        </p:nvSpPr>
        <p:spPr>
          <a:xfrm>
            <a:off x="1484310" y="1708485"/>
            <a:ext cx="10018713" cy="4082716"/>
          </a:xfrm>
        </p:spPr>
        <p:txBody>
          <a:bodyPr anchor="t">
            <a:normAutofit/>
          </a:bodyPr>
          <a:lstStyle/>
          <a:p>
            <a:r>
              <a:rPr lang="es-ES" altLang="es-ES" sz="1600" dirty="0"/>
              <a:t>bin/kafka-storage.sh </a:t>
            </a:r>
            <a:r>
              <a:rPr lang="es-ES" altLang="es-ES" sz="1600" dirty="0" err="1"/>
              <a:t>random-uuid</a:t>
            </a:r>
            <a:r>
              <a:rPr lang="es-ES" altLang="es-ES" sz="1600" dirty="0"/>
              <a:t> </a:t>
            </a:r>
          </a:p>
          <a:p>
            <a:pPr lvl="1"/>
            <a:r>
              <a:rPr lang="es-ES" sz="1400" dirty="0"/>
              <a:t>Esto crea un ID para el </a:t>
            </a:r>
            <a:r>
              <a:rPr lang="es-ES" sz="1400" dirty="0" err="1"/>
              <a:t>broker</a:t>
            </a:r>
            <a:r>
              <a:rPr lang="es-ES" sz="1400" dirty="0"/>
              <a:t>(de manera aleatoria). Lo guardamos para el siguiente comando</a:t>
            </a:r>
          </a:p>
          <a:p>
            <a:r>
              <a:rPr lang="es-ES" sz="1600" dirty="0"/>
              <a:t>bin/kafka-storage.sh </a:t>
            </a:r>
            <a:r>
              <a:rPr lang="es-ES" sz="1600" dirty="0" err="1"/>
              <a:t>format</a:t>
            </a:r>
            <a:r>
              <a:rPr lang="es-ES" sz="1600" dirty="0"/>
              <a:t> --</a:t>
            </a:r>
            <a:r>
              <a:rPr lang="es-ES" sz="1600" dirty="0" err="1"/>
              <a:t>standalone</a:t>
            </a:r>
            <a:r>
              <a:rPr lang="es-ES" sz="1600" dirty="0"/>
              <a:t> -t </a:t>
            </a:r>
            <a:r>
              <a:rPr lang="es-ES" sz="1600" b="1" dirty="0"/>
              <a:t>FTDy81RNRFCHfGqq-FqfMA </a:t>
            </a:r>
            <a:r>
              <a:rPr lang="es-ES" sz="1600" dirty="0"/>
              <a:t>-c </a:t>
            </a:r>
            <a:r>
              <a:rPr lang="es-ES" sz="1600" dirty="0" err="1"/>
              <a:t>config</a:t>
            </a:r>
            <a:r>
              <a:rPr lang="es-ES" sz="1600" dirty="0"/>
              <a:t>/</a:t>
            </a:r>
            <a:r>
              <a:rPr lang="es-ES" sz="1600" dirty="0" err="1"/>
              <a:t>server.properties</a:t>
            </a:r>
            <a:endParaRPr lang="es-ES" sz="1600" dirty="0"/>
          </a:p>
          <a:p>
            <a:pPr lvl="1"/>
            <a:r>
              <a:rPr lang="es-ES" sz="1400" dirty="0"/>
              <a:t>Prepara el almacenamiento para el </a:t>
            </a:r>
            <a:r>
              <a:rPr lang="es-ES" sz="1400" dirty="0" err="1"/>
              <a:t>broker</a:t>
            </a:r>
            <a:r>
              <a:rPr lang="es-ES" sz="1400" dirty="0"/>
              <a:t> Kafka utilizando el </a:t>
            </a:r>
            <a:r>
              <a:rPr lang="es-ES" sz="1400" dirty="0" err="1"/>
              <a:t>broker</a:t>
            </a:r>
            <a:r>
              <a:rPr lang="es-ES" sz="1400" dirty="0"/>
              <a:t> ID. Sustituir lo que está en negrita por el ID que nos ha devuelto el primer comando.</a:t>
            </a:r>
          </a:p>
          <a:p>
            <a:r>
              <a:rPr lang="es-ES" sz="1600" dirty="0"/>
              <a:t>bin/kafka-server-start.sh </a:t>
            </a:r>
            <a:r>
              <a:rPr lang="es-ES" sz="1600" dirty="0" err="1"/>
              <a:t>config</a:t>
            </a:r>
            <a:r>
              <a:rPr lang="es-ES" sz="1600" dirty="0"/>
              <a:t>/</a:t>
            </a:r>
            <a:r>
              <a:rPr lang="es-ES" sz="1600" dirty="0" err="1"/>
              <a:t>server.properties</a:t>
            </a:r>
            <a:endParaRPr lang="es-ES" sz="1600" dirty="0"/>
          </a:p>
          <a:p>
            <a:pPr lvl="1"/>
            <a:r>
              <a:rPr lang="es-ES" sz="1400" dirty="0"/>
              <a:t>Lanzamos el servidor.</a:t>
            </a:r>
          </a:p>
        </p:txBody>
      </p:sp>
      <p:sp>
        <p:nvSpPr>
          <p:cNvPr id="7" name="CuadroTexto 6">
            <a:extLst>
              <a:ext uri="{FF2B5EF4-FFF2-40B4-BE49-F238E27FC236}">
                <a16:creationId xmlns:a16="http://schemas.microsoft.com/office/drawing/2014/main" id="{05D4C3E0-E2AF-C1FA-C33A-34E83C944D05}"/>
              </a:ext>
            </a:extLst>
          </p:cNvPr>
          <p:cNvSpPr txBox="1"/>
          <p:nvPr/>
        </p:nvSpPr>
        <p:spPr>
          <a:xfrm>
            <a:off x="1031018" y="4529810"/>
            <a:ext cx="10194759" cy="646331"/>
          </a:xfrm>
          <a:prstGeom prst="rect">
            <a:avLst/>
          </a:prstGeom>
          <a:noFill/>
        </p:spPr>
        <p:txBody>
          <a:bodyPr wrap="square">
            <a:spAutoFit/>
          </a:bodyPr>
          <a:lstStyle/>
          <a:p>
            <a:r>
              <a:rPr lang="es-ES" dirty="0">
                <a:hlinkClick r:id="rId2"/>
              </a:rPr>
              <a:t>https://kafka.apache.org/documentation/#gettingStarted</a:t>
            </a:r>
            <a:endParaRPr lang="es-ES" dirty="0"/>
          </a:p>
          <a:p>
            <a:r>
              <a:rPr lang="es-ES" dirty="0"/>
              <a:t>Referencia</a:t>
            </a:r>
          </a:p>
        </p:txBody>
      </p:sp>
      <p:pic>
        <p:nvPicPr>
          <p:cNvPr id="6" name="Imagen 5">
            <a:extLst>
              <a:ext uri="{FF2B5EF4-FFF2-40B4-BE49-F238E27FC236}">
                <a16:creationId xmlns:a16="http://schemas.microsoft.com/office/drawing/2014/main" id="{8948CC66-6F96-024F-4BDC-4C9F873A4822}"/>
              </a:ext>
            </a:extLst>
          </p:cNvPr>
          <p:cNvPicPr>
            <a:picLocks noChangeAspect="1"/>
          </p:cNvPicPr>
          <p:nvPr/>
        </p:nvPicPr>
        <p:blipFill>
          <a:blip r:embed="rId3"/>
          <a:stretch>
            <a:fillRect/>
          </a:stretch>
        </p:blipFill>
        <p:spPr>
          <a:xfrm>
            <a:off x="4957659" y="1804972"/>
            <a:ext cx="6744641" cy="200053"/>
          </a:xfrm>
          <a:prstGeom prst="rect">
            <a:avLst/>
          </a:prstGeom>
        </p:spPr>
      </p:pic>
      <p:pic>
        <p:nvPicPr>
          <p:cNvPr id="9" name="Imagen 8">
            <a:extLst>
              <a:ext uri="{FF2B5EF4-FFF2-40B4-BE49-F238E27FC236}">
                <a16:creationId xmlns:a16="http://schemas.microsoft.com/office/drawing/2014/main" id="{1F50FAE5-7C15-EF8B-26E3-CE4D6183670D}"/>
              </a:ext>
            </a:extLst>
          </p:cNvPr>
          <p:cNvPicPr>
            <a:picLocks noChangeAspect="1"/>
          </p:cNvPicPr>
          <p:nvPr/>
        </p:nvPicPr>
        <p:blipFill>
          <a:blip r:embed="rId4"/>
          <a:stretch>
            <a:fillRect/>
          </a:stretch>
        </p:blipFill>
        <p:spPr>
          <a:xfrm>
            <a:off x="4957659" y="3016164"/>
            <a:ext cx="6744641" cy="343944"/>
          </a:xfrm>
          <a:prstGeom prst="rect">
            <a:avLst/>
          </a:prstGeom>
        </p:spPr>
      </p:pic>
    </p:spTree>
    <p:extLst>
      <p:ext uri="{BB962C8B-B14F-4D97-AF65-F5344CB8AC3E}">
        <p14:creationId xmlns:p14="http://schemas.microsoft.com/office/powerpoint/2010/main" val="38807427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F44909-20A7-65BC-EB5D-9072E1CA6596}"/>
              </a:ext>
            </a:extLst>
          </p:cNvPr>
          <p:cNvSpPr>
            <a:spLocks noGrp="1"/>
          </p:cNvSpPr>
          <p:nvPr>
            <p:ph type="title"/>
          </p:nvPr>
        </p:nvSpPr>
        <p:spPr>
          <a:xfrm>
            <a:off x="1484311" y="685801"/>
            <a:ext cx="10018713" cy="958516"/>
          </a:xfrm>
        </p:spPr>
        <p:txBody>
          <a:bodyPr/>
          <a:lstStyle/>
          <a:p>
            <a:r>
              <a:rPr lang="es-ES" dirty="0"/>
              <a:t>Puesta en marcha </a:t>
            </a:r>
            <a:r>
              <a:rPr lang="es-ES" dirty="0" err="1"/>
              <a:t>kafka</a:t>
            </a:r>
            <a:endParaRPr lang="es-ES" dirty="0"/>
          </a:p>
        </p:txBody>
      </p:sp>
      <p:sp>
        <p:nvSpPr>
          <p:cNvPr id="3" name="Marcador de contenido 2">
            <a:extLst>
              <a:ext uri="{FF2B5EF4-FFF2-40B4-BE49-F238E27FC236}">
                <a16:creationId xmlns:a16="http://schemas.microsoft.com/office/drawing/2014/main" id="{199DD794-DB9C-297F-BDF7-3582221F570F}"/>
              </a:ext>
            </a:extLst>
          </p:cNvPr>
          <p:cNvSpPr>
            <a:spLocks noGrp="1"/>
          </p:cNvSpPr>
          <p:nvPr>
            <p:ph idx="1"/>
          </p:nvPr>
        </p:nvSpPr>
        <p:spPr>
          <a:xfrm>
            <a:off x="1484310" y="1788695"/>
            <a:ext cx="10018713" cy="4002505"/>
          </a:xfrm>
        </p:spPr>
        <p:txBody>
          <a:bodyPr anchor="t">
            <a:normAutofit/>
          </a:bodyPr>
          <a:lstStyle/>
          <a:p>
            <a:r>
              <a:rPr lang="es-ES" sz="1600" dirty="0"/>
              <a:t>Deberíamos ver el siguiente mensaje en la terminal:</a:t>
            </a:r>
          </a:p>
        </p:txBody>
      </p:sp>
      <p:pic>
        <p:nvPicPr>
          <p:cNvPr id="6" name="Imagen 5">
            <a:extLst>
              <a:ext uri="{FF2B5EF4-FFF2-40B4-BE49-F238E27FC236}">
                <a16:creationId xmlns:a16="http://schemas.microsoft.com/office/drawing/2014/main" id="{AAD426EC-2974-D547-8AD5-40036221CFE3}"/>
              </a:ext>
            </a:extLst>
          </p:cNvPr>
          <p:cNvPicPr>
            <a:picLocks noChangeAspect="1"/>
          </p:cNvPicPr>
          <p:nvPr/>
        </p:nvPicPr>
        <p:blipFill>
          <a:blip r:embed="rId2"/>
          <a:stretch>
            <a:fillRect/>
          </a:stretch>
        </p:blipFill>
        <p:spPr>
          <a:xfrm>
            <a:off x="1895670" y="2300130"/>
            <a:ext cx="7697274" cy="2257740"/>
          </a:xfrm>
          <a:prstGeom prst="rect">
            <a:avLst/>
          </a:prstGeom>
        </p:spPr>
      </p:pic>
    </p:spTree>
    <p:extLst>
      <p:ext uri="{BB962C8B-B14F-4D97-AF65-F5344CB8AC3E}">
        <p14:creationId xmlns:p14="http://schemas.microsoft.com/office/powerpoint/2010/main" val="18653249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4FA6C9B-2AD0-BC99-1C97-D426953BD548}"/>
            </a:ext>
          </a:extLst>
        </p:cNvPr>
        <p:cNvGrpSpPr/>
        <p:nvPr/>
      </p:nvGrpSpPr>
      <p:grpSpPr>
        <a:xfrm>
          <a:off x="0" y="0"/>
          <a:ext cx="0" cy="0"/>
          <a:chOff x="0" y="0"/>
          <a:chExt cx="0" cy="0"/>
        </a:xfrm>
      </p:grpSpPr>
      <p:sp useBgFill="1">
        <p:nvSpPr>
          <p:cNvPr id="21" name="Rectángulo 20">
            <a:extLst>
              <a:ext uri="{FF2B5EF4-FFF2-40B4-BE49-F238E27FC236}">
                <a16:creationId xmlns:a16="http://schemas.microsoft.com/office/drawing/2014/main" id="{D5062A6D-364B-98F1-21CE-F7DDB6504A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a:p>
        </p:txBody>
      </p:sp>
      <p:grpSp>
        <p:nvGrpSpPr>
          <p:cNvPr id="23" name="Grupo 22">
            <a:extLst>
              <a:ext uri="{FF2B5EF4-FFF2-40B4-BE49-F238E27FC236}">
                <a16:creationId xmlns:a16="http://schemas.microsoft.com/office/drawing/2014/main" id="{C1009853-8C29-3F11-8161-3156156CC9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0"/>
            <a:ext cx="5014912" cy="6862763"/>
            <a:chOff x="2928938" y="-4763"/>
            <a:chExt cx="5014912" cy="6862763"/>
          </a:xfrm>
        </p:grpSpPr>
        <p:sp>
          <p:nvSpPr>
            <p:cNvPr id="24" name="Forma libre 6">
              <a:extLst>
                <a:ext uri="{FF2B5EF4-FFF2-40B4-BE49-F238E27FC236}">
                  <a16:creationId xmlns:a16="http://schemas.microsoft.com/office/drawing/2014/main" id="{05CE94D6-DFFC-FD41-9CE6-36BD3960CF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s-ES"/>
            </a:p>
          </p:txBody>
        </p:sp>
        <p:sp>
          <p:nvSpPr>
            <p:cNvPr id="25" name="Forma libre 7">
              <a:extLst>
                <a:ext uri="{FF2B5EF4-FFF2-40B4-BE49-F238E27FC236}">
                  <a16:creationId xmlns:a16="http://schemas.microsoft.com/office/drawing/2014/main" id="{EC0AFEA1-B571-6865-55A5-98CEDC9079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s-ES"/>
            </a:p>
          </p:txBody>
        </p:sp>
        <p:sp>
          <p:nvSpPr>
            <p:cNvPr id="26" name="Forma libre 12">
              <a:extLst>
                <a:ext uri="{FF2B5EF4-FFF2-40B4-BE49-F238E27FC236}">
                  <a16:creationId xmlns:a16="http://schemas.microsoft.com/office/drawing/2014/main" id="{89BF40D2-F28C-2945-2B77-27A6A02FAA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s-ES"/>
            </a:p>
          </p:txBody>
        </p:sp>
        <p:sp>
          <p:nvSpPr>
            <p:cNvPr id="27" name="Forma libre 13">
              <a:extLst>
                <a:ext uri="{FF2B5EF4-FFF2-40B4-BE49-F238E27FC236}">
                  <a16:creationId xmlns:a16="http://schemas.microsoft.com/office/drawing/2014/main" id="{84DA25B9-BE41-BF35-C5BB-AD9EA2C695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s-ES"/>
            </a:p>
          </p:txBody>
        </p:sp>
        <p:sp>
          <p:nvSpPr>
            <p:cNvPr id="28" name="Forma libre 14">
              <a:extLst>
                <a:ext uri="{FF2B5EF4-FFF2-40B4-BE49-F238E27FC236}">
                  <a16:creationId xmlns:a16="http://schemas.microsoft.com/office/drawing/2014/main" id="{462654EF-21E4-F3D2-1018-3AC3272496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s-ES"/>
            </a:p>
          </p:txBody>
        </p:sp>
        <p:sp>
          <p:nvSpPr>
            <p:cNvPr id="29" name="Forma libre 15">
              <a:extLst>
                <a:ext uri="{FF2B5EF4-FFF2-40B4-BE49-F238E27FC236}">
                  <a16:creationId xmlns:a16="http://schemas.microsoft.com/office/drawing/2014/main" id="{BCFF42C3-0198-8891-B6C7-C05F6EF6FC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s-ES"/>
            </a:p>
          </p:txBody>
        </p:sp>
      </p:grpSp>
      <p:sp>
        <p:nvSpPr>
          <p:cNvPr id="2" name="Título 1">
            <a:extLst>
              <a:ext uri="{FF2B5EF4-FFF2-40B4-BE49-F238E27FC236}">
                <a16:creationId xmlns:a16="http://schemas.microsoft.com/office/drawing/2014/main" id="{EE0BA9C0-C2AF-BB9A-812D-DCF703EC703F}"/>
              </a:ext>
            </a:extLst>
          </p:cNvPr>
          <p:cNvSpPr>
            <a:spLocks noGrp="1"/>
          </p:cNvSpPr>
          <p:nvPr>
            <p:ph type="title"/>
          </p:nvPr>
        </p:nvSpPr>
        <p:spPr>
          <a:xfrm>
            <a:off x="946001" y="788196"/>
            <a:ext cx="7411825" cy="1752599"/>
          </a:xfrm>
        </p:spPr>
        <p:txBody>
          <a:bodyPr rtlCol="0">
            <a:normAutofit/>
          </a:bodyPr>
          <a:lstStyle/>
          <a:p>
            <a:pPr algn="l"/>
            <a:r>
              <a:rPr lang="es-ES" dirty="0"/>
              <a:t>Kafka CLI</a:t>
            </a:r>
          </a:p>
        </p:txBody>
      </p:sp>
    </p:spTree>
    <p:extLst>
      <p:ext uri="{BB962C8B-B14F-4D97-AF65-F5344CB8AC3E}">
        <p14:creationId xmlns:p14="http://schemas.microsoft.com/office/powerpoint/2010/main" val="3745097506"/>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B5434F-44E8-228B-5EAF-2E0249D69462}"/>
              </a:ext>
            </a:extLst>
          </p:cNvPr>
          <p:cNvSpPr>
            <a:spLocks noGrp="1"/>
          </p:cNvSpPr>
          <p:nvPr>
            <p:ph type="title"/>
          </p:nvPr>
        </p:nvSpPr>
        <p:spPr>
          <a:xfrm>
            <a:off x="1484311" y="685800"/>
            <a:ext cx="10018713" cy="878305"/>
          </a:xfrm>
        </p:spPr>
        <p:txBody>
          <a:bodyPr/>
          <a:lstStyle/>
          <a:p>
            <a:r>
              <a:rPr lang="es-ES" dirty="0"/>
              <a:t>Kafka CLI</a:t>
            </a:r>
          </a:p>
        </p:txBody>
      </p:sp>
      <p:sp>
        <p:nvSpPr>
          <p:cNvPr id="3" name="Marcador de contenido 2">
            <a:extLst>
              <a:ext uri="{FF2B5EF4-FFF2-40B4-BE49-F238E27FC236}">
                <a16:creationId xmlns:a16="http://schemas.microsoft.com/office/drawing/2014/main" id="{5BE584D0-A1B9-2A49-68C0-D2E46CC75668}"/>
              </a:ext>
            </a:extLst>
          </p:cNvPr>
          <p:cNvSpPr>
            <a:spLocks noGrp="1"/>
          </p:cNvSpPr>
          <p:nvPr>
            <p:ph idx="1"/>
          </p:nvPr>
        </p:nvSpPr>
        <p:spPr>
          <a:xfrm>
            <a:off x="1484310" y="1636295"/>
            <a:ext cx="10018713" cy="4154905"/>
          </a:xfrm>
        </p:spPr>
        <p:txBody>
          <a:bodyPr anchor="t">
            <a:normAutofit/>
          </a:bodyPr>
          <a:lstStyle/>
          <a:p>
            <a:r>
              <a:rPr lang="es-ES" sz="1600" dirty="0"/>
              <a:t>Para facilitar el acceso desde cualquier sitio, en .</a:t>
            </a:r>
            <a:r>
              <a:rPr lang="es-ES" sz="1600" dirty="0" err="1"/>
              <a:t>bashrc</a:t>
            </a:r>
            <a:r>
              <a:rPr lang="es-ES" sz="1600" dirty="0"/>
              <a:t>, escribimos la siguiente línea:</a:t>
            </a:r>
          </a:p>
          <a:p>
            <a:pPr lvl="1"/>
            <a:r>
              <a:rPr lang="es-ES" sz="1400" b="0" dirty="0">
                <a:solidFill>
                  <a:srgbClr val="9CDCFE"/>
                </a:solidFill>
                <a:effectLst/>
                <a:latin typeface="Consolas" panose="020B0609020204030204" pitchFamily="49" charset="0"/>
              </a:rPr>
              <a:t>PATH</a:t>
            </a:r>
            <a:r>
              <a:rPr lang="es-ES" sz="1400" b="0" dirty="0">
                <a:solidFill>
                  <a:srgbClr val="D4D4D4"/>
                </a:solidFill>
                <a:effectLst/>
                <a:latin typeface="Consolas" panose="020B0609020204030204" pitchFamily="49" charset="0"/>
              </a:rPr>
              <a:t>=</a:t>
            </a:r>
            <a:r>
              <a:rPr lang="es-ES" sz="1400" b="0" dirty="0">
                <a:solidFill>
                  <a:srgbClr val="CE9178"/>
                </a:solidFill>
                <a:effectLst/>
                <a:latin typeface="Consolas" panose="020B0609020204030204" pitchFamily="49" charset="0"/>
              </a:rPr>
              <a:t>"</a:t>
            </a:r>
            <a:r>
              <a:rPr lang="es-ES" sz="1400" b="0" dirty="0">
                <a:solidFill>
                  <a:srgbClr val="9CDCFE"/>
                </a:solidFill>
                <a:effectLst/>
                <a:latin typeface="Consolas" panose="020B0609020204030204" pitchFamily="49" charset="0"/>
              </a:rPr>
              <a:t>$PATH</a:t>
            </a:r>
            <a:r>
              <a:rPr lang="es-ES" sz="1400" b="0" dirty="0">
                <a:solidFill>
                  <a:srgbClr val="CE9178"/>
                </a:solidFill>
                <a:effectLst/>
                <a:latin typeface="Consolas" panose="020B0609020204030204" pitchFamily="49" charset="0"/>
              </a:rPr>
              <a:t>:~/</a:t>
            </a:r>
            <a:r>
              <a:rPr lang="es-ES" sz="1400" b="0" dirty="0" err="1">
                <a:solidFill>
                  <a:srgbClr val="CE9178"/>
                </a:solidFill>
                <a:effectLst/>
                <a:latin typeface="Consolas" panose="020B0609020204030204" pitchFamily="49" charset="0"/>
              </a:rPr>
              <a:t>kafka</a:t>
            </a:r>
            <a:r>
              <a:rPr lang="es-ES" sz="1400" b="0" dirty="0">
                <a:solidFill>
                  <a:srgbClr val="CE9178"/>
                </a:solidFill>
                <a:effectLst/>
                <a:latin typeface="Consolas" panose="020B0609020204030204" pitchFamily="49" charset="0"/>
              </a:rPr>
              <a:t>/kafka_2.13-3.9.0/</a:t>
            </a:r>
            <a:r>
              <a:rPr lang="es-ES" sz="1400" b="0" dirty="0" err="1">
                <a:solidFill>
                  <a:srgbClr val="CE9178"/>
                </a:solidFill>
                <a:effectLst/>
                <a:latin typeface="Consolas" panose="020B0609020204030204" pitchFamily="49" charset="0"/>
              </a:rPr>
              <a:t>bin</a:t>
            </a:r>
            <a:r>
              <a:rPr lang="es-ES" sz="1400" dirty="0">
                <a:solidFill>
                  <a:srgbClr val="CE9178"/>
                </a:solidFill>
                <a:latin typeface="Consolas" panose="020B0609020204030204" pitchFamily="49" charset="0"/>
              </a:rPr>
              <a:t>"</a:t>
            </a:r>
            <a:endParaRPr lang="es-ES" sz="1400" b="0" dirty="0">
              <a:solidFill>
                <a:srgbClr val="CE9178"/>
              </a:solidFill>
              <a:effectLst/>
              <a:latin typeface="Consolas" panose="020B0609020204030204" pitchFamily="49" charset="0"/>
            </a:endParaRPr>
          </a:p>
          <a:p>
            <a:pPr lvl="1"/>
            <a:r>
              <a:rPr lang="es-ES" sz="1400" dirty="0"/>
              <a:t>Sustituir por la ruta donde tengamos instalado Kafka.</a:t>
            </a:r>
          </a:p>
          <a:p>
            <a:pPr lvl="1"/>
            <a:r>
              <a:rPr lang="es-ES" sz="1400" dirty="0"/>
              <a:t>Abrir una consola nueva y probar </a:t>
            </a:r>
          </a:p>
          <a:p>
            <a:pPr lvl="1"/>
            <a:endParaRPr lang="es-ES" sz="1400" dirty="0"/>
          </a:p>
          <a:p>
            <a:pPr lvl="1"/>
            <a:endParaRPr lang="es-ES" sz="1400" dirty="0"/>
          </a:p>
          <a:p>
            <a:pPr lvl="1"/>
            <a:endParaRPr lang="es-ES" sz="1400" dirty="0"/>
          </a:p>
          <a:p>
            <a:pPr lvl="1"/>
            <a:endParaRPr lang="es-ES" sz="1400" dirty="0"/>
          </a:p>
          <a:p>
            <a:pPr lvl="1"/>
            <a:r>
              <a:rPr lang="es-ES" sz="1400" dirty="0"/>
              <a:t>Debería cargarse una serie de comandos, como se ve en la imagen.</a:t>
            </a:r>
          </a:p>
          <a:p>
            <a:pPr marL="457200" lvl="1" indent="0">
              <a:buNone/>
            </a:pPr>
            <a:endParaRPr lang="es-ES" sz="1400" b="0" dirty="0">
              <a:solidFill>
                <a:srgbClr val="CCCCCC"/>
              </a:solidFill>
              <a:effectLst/>
            </a:endParaRPr>
          </a:p>
          <a:p>
            <a:endParaRPr lang="es-ES" sz="1600" dirty="0"/>
          </a:p>
        </p:txBody>
      </p:sp>
      <p:pic>
        <p:nvPicPr>
          <p:cNvPr id="5" name="Imagen 4">
            <a:extLst>
              <a:ext uri="{FF2B5EF4-FFF2-40B4-BE49-F238E27FC236}">
                <a16:creationId xmlns:a16="http://schemas.microsoft.com/office/drawing/2014/main" id="{179D1C71-CD6D-CF88-E626-CD8AE4CCD015}"/>
              </a:ext>
            </a:extLst>
          </p:cNvPr>
          <p:cNvPicPr>
            <a:picLocks noChangeAspect="1"/>
          </p:cNvPicPr>
          <p:nvPr/>
        </p:nvPicPr>
        <p:blipFill>
          <a:blip r:embed="rId2"/>
          <a:stretch>
            <a:fillRect/>
          </a:stretch>
        </p:blipFill>
        <p:spPr>
          <a:xfrm>
            <a:off x="2477203" y="2997652"/>
            <a:ext cx="5482889" cy="1079079"/>
          </a:xfrm>
          <a:prstGeom prst="rect">
            <a:avLst/>
          </a:prstGeom>
        </p:spPr>
      </p:pic>
      <p:sp>
        <p:nvSpPr>
          <p:cNvPr id="7" name="CuadroTexto 6">
            <a:extLst>
              <a:ext uri="{FF2B5EF4-FFF2-40B4-BE49-F238E27FC236}">
                <a16:creationId xmlns:a16="http://schemas.microsoft.com/office/drawing/2014/main" id="{963F5F30-0D3C-50A6-7138-846A38396810}"/>
              </a:ext>
            </a:extLst>
          </p:cNvPr>
          <p:cNvSpPr txBox="1"/>
          <p:nvPr/>
        </p:nvSpPr>
        <p:spPr>
          <a:xfrm>
            <a:off x="2358189" y="5421868"/>
            <a:ext cx="6096000" cy="1200329"/>
          </a:xfrm>
          <a:prstGeom prst="rect">
            <a:avLst/>
          </a:prstGeom>
          <a:noFill/>
        </p:spPr>
        <p:txBody>
          <a:bodyPr wrap="square">
            <a:spAutoFit/>
          </a:bodyPr>
          <a:lstStyle/>
          <a:p>
            <a:r>
              <a:rPr lang="es-ES" dirty="0"/>
              <a:t>Referencia</a:t>
            </a:r>
            <a:endParaRPr lang="es-ES" dirty="0">
              <a:hlinkClick r:id="rId3">
                <a:extLst>
                  <a:ext uri="{A12FA001-AC4F-418D-AE19-62706E023703}">
                    <ahyp:hlinkClr xmlns:ahyp="http://schemas.microsoft.com/office/drawing/2018/hyperlinkcolor" val="tx"/>
                  </a:ext>
                </a:extLst>
              </a:hlinkClick>
            </a:endParaRPr>
          </a:p>
          <a:p>
            <a:r>
              <a:rPr lang="es-ES" dirty="0">
                <a:solidFill>
                  <a:srgbClr val="3085ED"/>
                </a:solidFill>
                <a:hlinkClick r:id="rId3">
                  <a:extLst>
                    <a:ext uri="{A12FA001-AC4F-418D-AE19-62706E023703}">
                      <ahyp:hlinkClr xmlns:ahyp="http://schemas.microsoft.com/office/drawing/2018/hyperlinkcolor" val="tx"/>
                    </a:ext>
                  </a:extLst>
                </a:hlinkClick>
              </a:rPr>
              <a:t>https://kafka.apache.org/</a:t>
            </a:r>
            <a:r>
              <a:rPr lang="es-ES">
                <a:solidFill>
                  <a:srgbClr val="3085ED"/>
                </a:solidFill>
                <a:hlinkClick r:id="rId3">
                  <a:extLst>
                    <a:ext uri="{A12FA001-AC4F-418D-AE19-62706E023703}">
                      <ahyp:hlinkClr xmlns:ahyp="http://schemas.microsoft.com/office/drawing/2018/hyperlinkcolor" val="tx"/>
                    </a:ext>
                  </a:extLst>
                </a:hlinkClick>
              </a:rPr>
              <a:t>documentation/</a:t>
            </a:r>
            <a:endParaRPr lang="es-ES" dirty="0">
              <a:solidFill>
                <a:srgbClr val="3085ED"/>
              </a:solidFill>
            </a:endParaRPr>
          </a:p>
          <a:p>
            <a:endParaRPr lang="es-ES" dirty="0"/>
          </a:p>
          <a:p>
            <a:endParaRPr lang="es-ES" dirty="0"/>
          </a:p>
        </p:txBody>
      </p:sp>
    </p:spTree>
    <p:extLst>
      <p:ext uri="{BB962C8B-B14F-4D97-AF65-F5344CB8AC3E}">
        <p14:creationId xmlns:p14="http://schemas.microsoft.com/office/powerpoint/2010/main" val="12017138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583FF0-555E-91D4-74C2-03676F7D6A12}"/>
              </a:ext>
            </a:extLst>
          </p:cNvPr>
          <p:cNvSpPr>
            <a:spLocks noGrp="1"/>
          </p:cNvSpPr>
          <p:nvPr>
            <p:ph type="title"/>
          </p:nvPr>
        </p:nvSpPr>
        <p:spPr>
          <a:xfrm>
            <a:off x="1484311" y="685800"/>
            <a:ext cx="10018713" cy="846221"/>
          </a:xfrm>
        </p:spPr>
        <p:txBody>
          <a:bodyPr/>
          <a:lstStyle/>
          <a:p>
            <a:r>
              <a:rPr lang="es-ES" dirty="0"/>
              <a:t>Kafka </a:t>
            </a:r>
            <a:r>
              <a:rPr lang="es-ES" dirty="0" err="1"/>
              <a:t>topics</a:t>
            </a:r>
            <a:r>
              <a:rPr lang="es-ES" dirty="0"/>
              <a:t> CLI</a:t>
            </a:r>
          </a:p>
        </p:txBody>
      </p:sp>
      <p:sp>
        <p:nvSpPr>
          <p:cNvPr id="3" name="Marcador de contenido 2">
            <a:extLst>
              <a:ext uri="{FF2B5EF4-FFF2-40B4-BE49-F238E27FC236}">
                <a16:creationId xmlns:a16="http://schemas.microsoft.com/office/drawing/2014/main" id="{9856500E-C9B6-EED6-8FA9-0291B8CDD8C6}"/>
              </a:ext>
            </a:extLst>
          </p:cNvPr>
          <p:cNvSpPr>
            <a:spLocks noGrp="1"/>
          </p:cNvSpPr>
          <p:nvPr>
            <p:ph idx="1"/>
          </p:nvPr>
        </p:nvSpPr>
        <p:spPr>
          <a:xfrm>
            <a:off x="1484310" y="1628275"/>
            <a:ext cx="10018713" cy="4162926"/>
          </a:xfrm>
        </p:spPr>
        <p:txBody>
          <a:bodyPr anchor="t">
            <a:normAutofit/>
          </a:bodyPr>
          <a:lstStyle/>
          <a:p>
            <a:r>
              <a:rPr lang="es-ES" sz="1600" dirty="0"/>
              <a:t>Creación de </a:t>
            </a:r>
            <a:r>
              <a:rPr lang="es-ES" sz="1600" dirty="0" err="1"/>
              <a:t>topic</a:t>
            </a:r>
            <a:endParaRPr lang="es-ES" sz="1600" dirty="0"/>
          </a:p>
          <a:p>
            <a:pPr lvl="1">
              <a:lnSpc>
                <a:spcPts val="1425"/>
              </a:lnSpc>
            </a:pPr>
            <a:r>
              <a:rPr lang="es-ES" sz="1400" b="0" dirty="0">
                <a:effectLst/>
              </a:rPr>
              <a:t>kafka-topics.sh </a:t>
            </a:r>
            <a:r>
              <a:rPr lang="es-ES" sz="1400" b="0" dirty="0">
                <a:solidFill>
                  <a:srgbClr val="569CD6"/>
                </a:solidFill>
                <a:effectLst/>
              </a:rPr>
              <a:t>--</a:t>
            </a:r>
            <a:r>
              <a:rPr lang="es-ES" sz="1400" b="0" dirty="0" err="1">
                <a:solidFill>
                  <a:srgbClr val="569CD6"/>
                </a:solidFill>
                <a:effectLst/>
              </a:rPr>
              <a:t>create</a:t>
            </a:r>
            <a:r>
              <a:rPr lang="es-ES" sz="1400" b="0" dirty="0">
                <a:solidFill>
                  <a:srgbClr val="CCCCCC"/>
                </a:solidFill>
                <a:effectLst/>
              </a:rPr>
              <a:t> </a:t>
            </a:r>
            <a:r>
              <a:rPr lang="es-ES" sz="1400" b="0" dirty="0">
                <a:solidFill>
                  <a:srgbClr val="569CD6"/>
                </a:solidFill>
                <a:effectLst/>
              </a:rPr>
              <a:t>--</a:t>
            </a:r>
            <a:r>
              <a:rPr lang="es-ES" sz="1400" b="0" dirty="0" err="1">
                <a:solidFill>
                  <a:srgbClr val="569CD6"/>
                </a:solidFill>
                <a:effectLst/>
              </a:rPr>
              <a:t>topic</a:t>
            </a:r>
            <a:r>
              <a:rPr lang="es-ES" sz="1400" b="0" dirty="0">
                <a:solidFill>
                  <a:srgbClr val="CCCCCC"/>
                </a:solidFill>
                <a:effectLst/>
              </a:rPr>
              <a:t> </a:t>
            </a:r>
            <a:r>
              <a:rPr lang="es-ES" sz="1400" b="0" dirty="0" err="1">
                <a:solidFill>
                  <a:srgbClr val="CE9178"/>
                </a:solidFill>
                <a:effectLst/>
              </a:rPr>
              <a:t>first_topic</a:t>
            </a:r>
            <a:r>
              <a:rPr lang="es-ES" sz="1400" b="0" dirty="0">
                <a:solidFill>
                  <a:srgbClr val="CCCCCC"/>
                </a:solidFill>
                <a:effectLst/>
              </a:rPr>
              <a:t> </a:t>
            </a:r>
            <a:r>
              <a:rPr lang="es-ES" sz="1400" b="0" dirty="0">
                <a:solidFill>
                  <a:srgbClr val="569CD6"/>
                </a:solidFill>
                <a:effectLst/>
              </a:rPr>
              <a:t>--</a:t>
            </a:r>
            <a:r>
              <a:rPr lang="es-ES" sz="1400" b="0" dirty="0" err="1">
                <a:solidFill>
                  <a:srgbClr val="569CD6"/>
                </a:solidFill>
                <a:effectLst/>
              </a:rPr>
              <a:t>bootstrap</a:t>
            </a:r>
            <a:r>
              <a:rPr lang="es-ES" sz="1400" b="0" dirty="0">
                <a:solidFill>
                  <a:srgbClr val="569CD6"/>
                </a:solidFill>
                <a:effectLst/>
              </a:rPr>
              <a:t>-server</a:t>
            </a:r>
            <a:r>
              <a:rPr lang="es-ES" sz="1400" b="0" dirty="0">
                <a:solidFill>
                  <a:srgbClr val="CCCCCC"/>
                </a:solidFill>
                <a:effectLst/>
              </a:rPr>
              <a:t> </a:t>
            </a:r>
            <a:r>
              <a:rPr lang="es-ES" sz="1400" b="0" dirty="0">
                <a:solidFill>
                  <a:srgbClr val="CE9178"/>
                </a:solidFill>
                <a:effectLst/>
              </a:rPr>
              <a:t>127.0.0.1:9092</a:t>
            </a:r>
            <a:endParaRPr lang="es-ES" sz="1400" b="0" dirty="0">
              <a:solidFill>
                <a:srgbClr val="CCCCCC"/>
              </a:solidFill>
              <a:effectLst/>
            </a:endParaRPr>
          </a:p>
          <a:p>
            <a:pPr lvl="1"/>
            <a:r>
              <a:rPr lang="es-ES" sz="1400" dirty="0"/>
              <a:t>A esta línea podemos añadirle más comandos, por ejemplo</a:t>
            </a:r>
          </a:p>
          <a:p>
            <a:pPr lvl="1"/>
            <a:r>
              <a:rPr lang="en-US" sz="1400" b="0" dirty="0">
                <a:effectLst/>
              </a:rPr>
              <a:t>kafka-topics.sh </a:t>
            </a:r>
            <a:r>
              <a:rPr lang="en-US" sz="1400" b="0" dirty="0">
                <a:solidFill>
                  <a:srgbClr val="569CD6"/>
                </a:solidFill>
                <a:effectLst/>
              </a:rPr>
              <a:t>--create</a:t>
            </a:r>
            <a:r>
              <a:rPr lang="en-US" sz="1400" b="0" dirty="0">
                <a:solidFill>
                  <a:srgbClr val="CCCCCC"/>
                </a:solidFill>
                <a:effectLst/>
              </a:rPr>
              <a:t> </a:t>
            </a:r>
            <a:r>
              <a:rPr lang="en-US" sz="1400" b="0" dirty="0">
                <a:solidFill>
                  <a:srgbClr val="569CD6"/>
                </a:solidFill>
                <a:effectLst/>
              </a:rPr>
              <a:t>--topic</a:t>
            </a:r>
            <a:r>
              <a:rPr lang="en-US" sz="1400" b="0" dirty="0">
                <a:solidFill>
                  <a:srgbClr val="CCCCCC"/>
                </a:solidFill>
                <a:effectLst/>
              </a:rPr>
              <a:t> </a:t>
            </a:r>
            <a:r>
              <a:rPr lang="en-US" sz="1400" b="0" dirty="0" err="1">
                <a:solidFill>
                  <a:srgbClr val="CE9178"/>
                </a:solidFill>
                <a:effectLst/>
              </a:rPr>
              <a:t>second_topic</a:t>
            </a:r>
            <a:r>
              <a:rPr lang="en-US" sz="1400" b="0" dirty="0">
                <a:solidFill>
                  <a:srgbClr val="CCCCCC"/>
                </a:solidFill>
                <a:effectLst/>
              </a:rPr>
              <a:t> </a:t>
            </a:r>
            <a:r>
              <a:rPr lang="en-US" sz="1400" b="0" dirty="0">
                <a:solidFill>
                  <a:srgbClr val="569CD6"/>
                </a:solidFill>
                <a:effectLst/>
              </a:rPr>
              <a:t>--bootstrap-server</a:t>
            </a:r>
            <a:r>
              <a:rPr lang="en-US" sz="1400" b="0" dirty="0">
                <a:solidFill>
                  <a:srgbClr val="CCCCCC"/>
                </a:solidFill>
                <a:effectLst/>
              </a:rPr>
              <a:t> </a:t>
            </a:r>
            <a:r>
              <a:rPr lang="en-US" sz="1400" b="0" dirty="0">
                <a:solidFill>
                  <a:srgbClr val="CE9178"/>
                </a:solidFill>
                <a:effectLst/>
              </a:rPr>
              <a:t>127.0.0.1:9092</a:t>
            </a:r>
            <a:r>
              <a:rPr lang="en-US" sz="1400" b="0" dirty="0">
                <a:solidFill>
                  <a:srgbClr val="CCCCCC"/>
                </a:solidFill>
                <a:effectLst/>
              </a:rPr>
              <a:t> </a:t>
            </a:r>
            <a:r>
              <a:rPr lang="en-US" sz="1400" b="0" dirty="0">
                <a:solidFill>
                  <a:srgbClr val="569CD6"/>
                </a:solidFill>
                <a:effectLst/>
              </a:rPr>
              <a:t>--partitions</a:t>
            </a:r>
            <a:r>
              <a:rPr lang="en-US" sz="1400" b="0" dirty="0">
                <a:solidFill>
                  <a:srgbClr val="CCCCCC"/>
                </a:solidFill>
                <a:effectLst/>
              </a:rPr>
              <a:t> </a:t>
            </a:r>
            <a:r>
              <a:rPr lang="en-US" sz="1400" b="0" dirty="0">
                <a:solidFill>
                  <a:srgbClr val="B5CEA8"/>
                </a:solidFill>
                <a:effectLst/>
              </a:rPr>
              <a:t>5</a:t>
            </a:r>
            <a:endParaRPr lang="en-US" sz="1400" b="0" dirty="0">
              <a:solidFill>
                <a:srgbClr val="CCCCCC"/>
              </a:solidFill>
              <a:effectLst/>
            </a:endParaRPr>
          </a:p>
          <a:p>
            <a:r>
              <a:rPr lang="es-ES" sz="1600" dirty="0"/>
              <a:t>Ver lista de </a:t>
            </a:r>
            <a:r>
              <a:rPr lang="es-ES" sz="1600" dirty="0" err="1"/>
              <a:t>topics</a:t>
            </a:r>
            <a:endParaRPr lang="es-ES" sz="1600" dirty="0"/>
          </a:p>
          <a:p>
            <a:pPr lvl="1"/>
            <a:r>
              <a:rPr lang="es-ES" sz="1400" b="0" dirty="0">
                <a:effectLst/>
                <a:latin typeface="+mj-lt"/>
              </a:rPr>
              <a:t>kafka-topics.sh </a:t>
            </a:r>
            <a:r>
              <a:rPr lang="es-ES" sz="1400" b="0" dirty="0">
                <a:solidFill>
                  <a:srgbClr val="569CD6"/>
                </a:solidFill>
                <a:effectLst/>
                <a:latin typeface="+mj-lt"/>
              </a:rPr>
              <a:t>--</a:t>
            </a:r>
            <a:r>
              <a:rPr lang="es-ES" sz="1400" b="0" dirty="0" err="1">
                <a:solidFill>
                  <a:srgbClr val="569CD6"/>
                </a:solidFill>
                <a:effectLst/>
                <a:latin typeface="+mj-lt"/>
              </a:rPr>
              <a:t>list</a:t>
            </a:r>
            <a:r>
              <a:rPr lang="es-ES" sz="1400" b="0" dirty="0">
                <a:solidFill>
                  <a:srgbClr val="CCCCCC"/>
                </a:solidFill>
                <a:effectLst/>
                <a:latin typeface="+mj-lt"/>
              </a:rPr>
              <a:t> </a:t>
            </a:r>
            <a:r>
              <a:rPr lang="es-ES" sz="1400" b="0" dirty="0">
                <a:solidFill>
                  <a:srgbClr val="569CD6"/>
                </a:solidFill>
                <a:effectLst/>
                <a:latin typeface="+mj-lt"/>
              </a:rPr>
              <a:t>--</a:t>
            </a:r>
            <a:r>
              <a:rPr lang="es-ES" sz="1400" b="0" dirty="0" err="1">
                <a:solidFill>
                  <a:srgbClr val="569CD6"/>
                </a:solidFill>
                <a:effectLst/>
                <a:latin typeface="+mj-lt"/>
              </a:rPr>
              <a:t>bootstrap</a:t>
            </a:r>
            <a:r>
              <a:rPr lang="es-ES" sz="1400" b="0" dirty="0">
                <a:solidFill>
                  <a:srgbClr val="569CD6"/>
                </a:solidFill>
                <a:effectLst/>
                <a:latin typeface="+mj-lt"/>
              </a:rPr>
              <a:t>-server</a:t>
            </a:r>
            <a:r>
              <a:rPr lang="es-ES" sz="1400" b="0" dirty="0">
                <a:solidFill>
                  <a:srgbClr val="CCCCCC"/>
                </a:solidFill>
                <a:effectLst/>
                <a:latin typeface="+mj-lt"/>
              </a:rPr>
              <a:t> </a:t>
            </a:r>
            <a:r>
              <a:rPr lang="es-ES" sz="1400" b="0" dirty="0">
                <a:solidFill>
                  <a:srgbClr val="CE9178"/>
                </a:solidFill>
                <a:effectLst/>
                <a:latin typeface="+mj-lt"/>
              </a:rPr>
              <a:t>127.0.0.1:9092</a:t>
            </a:r>
          </a:p>
          <a:p>
            <a:r>
              <a:rPr lang="es-ES" sz="1600" b="0" dirty="0">
                <a:effectLst/>
                <a:latin typeface="+mj-lt"/>
              </a:rPr>
              <a:t>Ver descripción de un </a:t>
            </a:r>
            <a:r>
              <a:rPr lang="es-ES" sz="1600" b="0" dirty="0" err="1">
                <a:effectLst/>
                <a:latin typeface="+mj-lt"/>
              </a:rPr>
              <a:t>topic</a:t>
            </a:r>
            <a:endParaRPr lang="es-ES" sz="1600" b="0" dirty="0">
              <a:effectLst/>
              <a:latin typeface="+mj-lt"/>
            </a:endParaRPr>
          </a:p>
          <a:p>
            <a:pPr lvl="1"/>
            <a:r>
              <a:rPr lang="es-ES" sz="1400" b="0" dirty="0">
                <a:effectLst/>
              </a:rPr>
              <a:t>kafka-topics.sh </a:t>
            </a:r>
            <a:r>
              <a:rPr lang="es-ES" sz="1400" b="0" dirty="0">
                <a:solidFill>
                  <a:srgbClr val="569CD6"/>
                </a:solidFill>
                <a:effectLst/>
              </a:rPr>
              <a:t>--describe</a:t>
            </a:r>
            <a:r>
              <a:rPr lang="es-ES" sz="1400" b="0" dirty="0">
                <a:solidFill>
                  <a:srgbClr val="CCCCCC"/>
                </a:solidFill>
                <a:effectLst/>
              </a:rPr>
              <a:t> </a:t>
            </a:r>
            <a:r>
              <a:rPr lang="es-ES" sz="1400" b="0" dirty="0">
                <a:solidFill>
                  <a:srgbClr val="569CD6"/>
                </a:solidFill>
                <a:effectLst/>
              </a:rPr>
              <a:t>--</a:t>
            </a:r>
            <a:r>
              <a:rPr lang="es-ES" sz="1400" b="0" dirty="0" err="1">
                <a:solidFill>
                  <a:srgbClr val="569CD6"/>
                </a:solidFill>
                <a:effectLst/>
              </a:rPr>
              <a:t>topic</a:t>
            </a:r>
            <a:r>
              <a:rPr lang="es-ES" sz="1400" b="0" dirty="0">
                <a:solidFill>
                  <a:srgbClr val="CCCCCC"/>
                </a:solidFill>
                <a:effectLst/>
              </a:rPr>
              <a:t> </a:t>
            </a:r>
            <a:r>
              <a:rPr lang="es-ES" sz="1400" b="0" dirty="0" err="1">
                <a:solidFill>
                  <a:srgbClr val="CE9178"/>
                </a:solidFill>
                <a:effectLst/>
              </a:rPr>
              <a:t>second_topic</a:t>
            </a:r>
            <a:r>
              <a:rPr lang="es-ES" sz="1400" b="0" dirty="0">
                <a:solidFill>
                  <a:srgbClr val="CCCCCC"/>
                </a:solidFill>
                <a:effectLst/>
              </a:rPr>
              <a:t> </a:t>
            </a:r>
            <a:r>
              <a:rPr lang="es-ES" sz="1400" b="0" dirty="0">
                <a:solidFill>
                  <a:srgbClr val="569CD6"/>
                </a:solidFill>
                <a:effectLst/>
              </a:rPr>
              <a:t>--</a:t>
            </a:r>
            <a:r>
              <a:rPr lang="es-ES" sz="1400" b="0" dirty="0" err="1">
                <a:solidFill>
                  <a:srgbClr val="569CD6"/>
                </a:solidFill>
                <a:effectLst/>
              </a:rPr>
              <a:t>bootstrap</a:t>
            </a:r>
            <a:r>
              <a:rPr lang="es-ES" sz="1400" b="0" dirty="0">
                <a:solidFill>
                  <a:srgbClr val="569CD6"/>
                </a:solidFill>
                <a:effectLst/>
              </a:rPr>
              <a:t>-server</a:t>
            </a:r>
            <a:r>
              <a:rPr lang="es-ES" sz="1400" b="0" dirty="0">
                <a:solidFill>
                  <a:srgbClr val="CCCCCC"/>
                </a:solidFill>
                <a:effectLst/>
              </a:rPr>
              <a:t> </a:t>
            </a:r>
            <a:r>
              <a:rPr lang="es-ES" sz="1400" b="0" dirty="0">
                <a:solidFill>
                  <a:srgbClr val="CE9178"/>
                </a:solidFill>
                <a:effectLst/>
              </a:rPr>
              <a:t>127.0.0.1:9092</a:t>
            </a:r>
            <a:endParaRPr lang="es-ES" sz="1400" b="0" dirty="0">
              <a:effectLst/>
            </a:endParaRPr>
          </a:p>
          <a:p>
            <a:pPr lvl="1"/>
            <a:endParaRPr lang="es-ES" sz="1400" dirty="0">
              <a:solidFill>
                <a:srgbClr val="CE9178"/>
              </a:solidFill>
              <a:latin typeface="+mj-lt"/>
            </a:endParaRPr>
          </a:p>
          <a:p>
            <a:pPr lvl="1"/>
            <a:endParaRPr lang="es-ES" sz="1400" b="0" dirty="0">
              <a:solidFill>
                <a:srgbClr val="CCCCCC"/>
              </a:solidFill>
              <a:effectLst/>
              <a:latin typeface="+mj-lt"/>
            </a:endParaRPr>
          </a:p>
          <a:p>
            <a:pPr lvl="1"/>
            <a:endParaRPr lang="es-ES" sz="1400" dirty="0"/>
          </a:p>
        </p:txBody>
      </p:sp>
      <p:pic>
        <p:nvPicPr>
          <p:cNvPr id="5" name="Imagen 4">
            <a:extLst>
              <a:ext uri="{FF2B5EF4-FFF2-40B4-BE49-F238E27FC236}">
                <a16:creationId xmlns:a16="http://schemas.microsoft.com/office/drawing/2014/main" id="{F57B05D4-3D5F-4C4D-BE33-420F32C16E03}"/>
              </a:ext>
            </a:extLst>
          </p:cNvPr>
          <p:cNvPicPr>
            <a:picLocks noChangeAspect="1"/>
          </p:cNvPicPr>
          <p:nvPr/>
        </p:nvPicPr>
        <p:blipFill>
          <a:blip r:embed="rId2"/>
          <a:stretch>
            <a:fillRect/>
          </a:stretch>
        </p:blipFill>
        <p:spPr>
          <a:xfrm>
            <a:off x="6493666" y="3216957"/>
            <a:ext cx="5403604" cy="492781"/>
          </a:xfrm>
          <a:prstGeom prst="rect">
            <a:avLst/>
          </a:prstGeom>
        </p:spPr>
      </p:pic>
      <p:pic>
        <p:nvPicPr>
          <p:cNvPr id="7" name="Imagen 6">
            <a:extLst>
              <a:ext uri="{FF2B5EF4-FFF2-40B4-BE49-F238E27FC236}">
                <a16:creationId xmlns:a16="http://schemas.microsoft.com/office/drawing/2014/main" id="{60E7D9B2-ED52-1757-4F6D-A487A85929F4}"/>
              </a:ext>
            </a:extLst>
          </p:cNvPr>
          <p:cNvPicPr>
            <a:picLocks noChangeAspect="1"/>
          </p:cNvPicPr>
          <p:nvPr/>
        </p:nvPicPr>
        <p:blipFill>
          <a:blip r:embed="rId3"/>
          <a:stretch>
            <a:fillRect/>
          </a:stretch>
        </p:blipFill>
        <p:spPr>
          <a:xfrm>
            <a:off x="2135191" y="4397994"/>
            <a:ext cx="8716950" cy="1097533"/>
          </a:xfrm>
          <a:prstGeom prst="rect">
            <a:avLst/>
          </a:prstGeom>
        </p:spPr>
      </p:pic>
      <p:sp>
        <p:nvSpPr>
          <p:cNvPr id="10" name="CuadroTexto 9">
            <a:extLst>
              <a:ext uri="{FF2B5EF4-FFF2-40B4-BE49-F238E27FC236}">
                <a16:creationId xmlns:a16="http://schemas.microsoft.com/office/drawing/2014/main" id="{DF0BB451-64C1-1C7E-1A2F-57E037A49B98}"/>
              </a:ext>
            </a:extLst>
          </p:cNvPr>
          <p:cNvSpPr txBox="1"/>
          <p:nvPr/>
        </p:nvSpPr>
        <p:spPr>
          <a:xfrm>
            <a:off x="3445666" y="5583618"/>
            <a:ext cx="6096000" cy="1200329"/>
          </a:xfrm>
          <a:prstGeom prst="rect">
            <a:avLst/>
          </a:prstGeom>
          <a:noFill/>
          <a:ln w="19050">
            <a:solidFill>
              <a:schemeClr val="accent1"/>
            </a:solid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200" b="1" i="0" u="none" strike="noStrike" cap="none" normalizeH="0" baseline="0" dirty="0" err="1">
                <a:ln>
                  <a:noFill/>
                </a:ln>
                <a:solidFill>
                  <a:schemeClr val="tx1"/>
                </a:solidFill>
                <a:effectLst/>
              </a:rPr>
              <a:t>Topic</a:t>
            </a:r>
            <a:r>
              <a:rPr kumimoji="0" lang="es-ES" altLang="es-ES" sz="1200" b="1" i="0" u="none" strike="noStrike" cap="none" normalizeH="0" baseline="0" dirty="0">
                <a:ln>
                  <a:noFill/>
                </a:ln>
                <a:solidFill>
                  <a:schemeClr val="tx1"/>
                </a:solidFill>
                <a:effectLst/>
              </a:rPr>
              <a:t>:</a:t>
            </a:r>
            <a:r>
              <a:rPr kumimoji="0" lang="es-ES" altLang="es-ES" sz="1200" b="0" i="0" u="none" strike="noStrike" cap="none" normalizeH="0" baseline="0" dirty="0">
                <a:ln>
                  <a:noFill/>
                </a:ln>
                <a:solidFill>
                  <a:schemeClr val="tx1"/>
                </a:solidFill>
                <a:effectLst/>
              </a:rPr>
              <a:t> Nombre del </a:t>
            </a:r>
            <a:r>
              <a:rPr kumimoji="0" lang="es-ES" altLang="es-ES" sz="1200" b="0" i="0" u="none" strike="noStrike" cap="none" normalizeH="0" baseline="0" dirty="0" err="1">
                <a:ln>
                  <a:noFill/>
                </a:ln>
                <a:solidFill>
                  <a:schemeClr val="tx1"/>
                </a:solidFill>
                <a:effectLst/>
              </a:rPr>
              <a:t>topic</a:t>
            </a:r>
            <a:r>
              <a:rPr kumimoji="0" lang="es-ES" altLang="es-ES" sz="12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200" b="1" i="0" u="none" strike="noStrike" cap="none" normalizeH="0" baseline="0" dirty="0" err="1">
                <a:ln>
                  <a:noFill/>
                </a:ln>
                <a:solidFill>
                  <a:schemeClr val="tx1"/>
                </a:solidFill>
                <a:effectLst/>
              </a:rPr>
              <a:t>TopicId</a:t>
            </a:r>
            <a:r>
              <a:rPr kumimoji="0" lang="es-ES" altLang="es-ES" sz="1200" b="1" i="0" u="none" strike="noStrike" cap="none" normalizeH="0" baseline="0" dirty="0">
                <a:ln>
                  <a:noFill/>
                </a:ln>
                <a:solidFill>
                  <a:schemeClr val="tx1"/>
                </a:solidFill>
                <a:effectLst/>
              </a:rPr>
              <a:t>:</a:t>
            </a:r>
            <a:r>
              <a:rPr kumimoji="0" lang="es-ES" altLang="es-ES" sz="1200" b="0" i="0" u="none" strike="noStrike" cap="none" normalizeH="0" baseline="0" dirty="0">
                <a:ln>
                  <a:noFill/>
                </a:ln>
                <a:solidFill>
                  <a:schemeClr val="tx1"/>
                </a:solidFill>
                <a:effectLst/>
              </a:rPr>
              <a:t> Identificador único del </a:t>
            </a:r>
            <a:r>
              <a:rPr kumimoji="0" lang="es-ES" altLang="es-ES" sz="1200" b="0" i="0" u="none" strike="noStrike" cap="none" normalizeH="0" baseline="0" dirty="0" err="1">
                <a:ln>
                  <a:noFill/>
                </a:ln>
                <a:solidFill>
                  <a:schemeClr val="tx1"/>
                </a:solidFill>
                <a:effectLst/>
              </a:rPr>
              <a:t>topic</a:t>
            </a:r>
            <a:r>
              <a:rPr kumimoji="0" lang="es-ES" altLang="es-ES" sz="12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200" b="1" i="0" u="none" strike="noStrike" cap="none" normalizeH="0" baseline="0" dirty="0" err="1">
                <a:ln>
                  <a:noFill/>
                </a:ln>
                <a:solidFill>
                  <a:schemeClr val="tx1"/>
                </a:solidFill>
                <a:effectLst/>
              </a:rPr>
              <a:t>Partition</a:t>
            </a:r>
            <a:r>
              <a:rPr kumimoji="0" lang="es-ES" altLang="es-ES" sz="1200" b="1" i="0" u="none" strike="noStrike" cap="none" normalizeH="0" baseline="0" dirty="0">
                <a:ln>
                  <a:noFill/>
                </a:ln>
                <a:solidFill>
                  <a:schemeClr val="tx1"/>
                </a:solidFill>
                <a:effectLst/>
              </a:rPr>
              <a:t>:</a:t>
            </a:r>
            <a:r>
              <a:rPr kumimoji="0" lang="es-ES" altLang="es-ES" sz="1200" b="0" i="0" u="none" strike="noStrike" cap="none" normalizeH="0" baseline="0" dirty="0">
                <a:ln>
                  <a:noFill/>
                </a:ln>
                <a:solidFill>
                  <a:schemeClr val="tx1"/>
                </a:solidFill>
                <a:effectLst/>
              </a:rPr>
              <a:t> Número de partición del </a:t>
            </a:r>
            <a:r>
              <a:rPr kumimoji="0" lang="es-ES" altLang="es-ES" sz="1200" b="0" i="0" u="none" strike="noStrike" cap="none" normalizeH="0" baseline="0" dirty="0" err="1">
                <a:ln>
                  <a:noFill/>
                </a:ln>
                <a:solidFill>
                  <a:schemeClr val="tx1"/>
                </a:solidFill>
                <a:effectLst/>
              </a:rPr>
              <a:t>topic</a:t>
            </a:r>
            <a:r>
              <a:rPr kumimoji="0" lang="es-ES" altLang="es-ES" sz="12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200" b="1" i="0" u="none" strike="noStrike" cap="none" normalizeH="0" baseline="0" dirty="0">
                <a:ln>
                  <a:noFill/>
                </a:ln>
                <a:solidFill>
                  <a:schemeClr val="tx1"/>
                </a:solidFill>
                <a:effectLst/>
              </a:rPr>
              <a:t>Leader:</a:t>
            </a:r>
            <a:r>
              <a:rPr kumimoji="0" lang="es-ES" altLang="es-ES" sz="1200" b="0" i="0" u="none" strike="noStrike" cap="none" normalizeH="0" baseline="0" dirty="0">
                <a:ln>
                  <a:noFill/>
                </a:ln>
                <a:solidFill>
                  <a:schemeClr val="tx1"/>
                </a:solidFill>
                <a:effectLst/>
              </a:rPr>
              <a:t> </a:t>
            </a:r>
            <a:r>
              <a:rPr kumimoji="0" lang="es-ES" altLang="es-ES" sz="1200" b="0" i="0" u="none" strike="noStrike" cap="none" normalizeH="0" baseline="0" dirty="0" err="1">
                <a:ln>
                  <a:noFill/>
                </a:ln>
                <a:solidFill>
                  <a:schemeClr val="tx1"/>
                </a:solidFill>
                <a:effectLst/>
              </a:rPr>
              <a:t>Broker</a:t>
            </a:r>
            <a:r>
              <a:rPr kumimoji="0" lang="es-ES" altLang="es-ES" sz="1200" b="0" i="0" u="none" strike="noStrike" cap="none" normalizeH="0" baseline="0" dirty="0">
                <a:ln>
                  <a:noFill/>
                </a:ln>
                <a:solidFill>
                  <a:schemeClr val="tx1"/>
                </a:solidFill>
                <a:effectLst/>
              </a:rPr>
              <a:t> responsable de manejar todas las lecturas y escrituras para la partición.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200" b="1" i="0" u="none" strike="noStrike" cap="none" normalizeH="0" baseline="0" dirty="0">
                <a:ln>
                  <a:noFill/>
                </a:ln>
                <a:solidFill>
                  <a:schemeClr val="tx1"/>
                </a:solidFill>
                <a:effectLst/>
              </a:rPr>
              <a:t>Replicas:</a:t>
            </a:r>
            <a:r>
              <a:rPr kumimoji="0" lang="es-ES" altLang="es-ES" sz="1200" b="0" i="0" u="none" strike="noStrike" cap="none" normalizeH="0" baseline="0" dirty="0">
                <a:ln>
                  <a:noFill/>
                </a:ln>
                <a:solidFill>
                  <a:schemeClr val="tx1"/>
                </a:solidFill>
                <a:effectLst/>
              </a:rPr>
              <a:t> Lista de </a:t>
            </a:r>
            <a:r>
              <a:rPr kumimoji="0" lang="es-ES" altLang="es-ES" sz="1200" b="0" i="0" u="none" strike="noStrike" cap="none" normalizeH="0" baseline="0" dirty="0" err="1">
                <a:ln>
                  <a:noFill/>
                </a:ln>
                <a:solidFill>
                  <a:schemeClr val="tx1"/>
                </a:solidFill>
                <a:effectLst/>
              </a:rPr>
              <a:t>brokers</a:t>
            </a:r>
            <a:r>
              <a:rPr kumimoji="0" lang="es-ES" altLang="es-ES" sz="1200" b="0" i="0" u="none" strike="noStrike" cap="none" normalizeH="0" baseline="0" dirty="0">
                <a:ln>
                  <a:noFill/>
                </a:ln>
                <a:solidFill>
                  <a:schemeClr val="tx1"/>
                </a:solidFill>
                <a:effectLst/>
              </a:rPr>
              <a:t> que almacenan una copia de la partición. </a:t>
            </a:r>
          </a:p>
          <a:p>
            <a:pPr marL="0" marR="0" lvl="0" indent="0" algn="l" defTabSz="914400" rtl="0" eaLnBrk="0" fontAlgn="base" latinLnBrk="0" hangingPunct="0">
              <a:lnSpc>
                <a:spcPct val="100000"/>
              </a:lnSpc>
              <a:spcBef>
                <a:spcPct val="0"/>
              </a:spcBef>
              <a:spcAft>
                <a:spcPct val="0"/>
              </a:spcAft>
              <a:buClrTx/>
              <a:buSzTx/>
              <a:buFontTx/>
              <a:buChar char="•"/>
              <a:tabLst/>
            </a:pPr>
            <a:r>
              <a:rPr lang="es-ES" sz="1200" b="1" dirty="0" err="1"/>
              <a:t>Isr</a:t>
            </a:r>
            <a:r>
              <a:rPr lang="es-ES" sz="1200" b="1" dirty="0"/>
              <a:t> (In-</a:t>
            </a:r>
            <a:r>
              <a:rPr lang="es-ES" sz="1200" b="1" dirty="0" err="1"/>
              <a:t>Sync</a:t>
            </a:r>
            <a:r>
              <a:rPr lang="es-ES" sz="1200" b="1" dirty="0"/>
              <a:t> Replicas):</a:t>
            </a:r>
            <a:r>
              <a:rPr lang="es-ES" sz="1200" dirty="0"/>
              <a:t> Réplicas que están sincronizadas con el líder.</a:t>
            </a:r>
            <a:endParaRPr kumimoji="0" lang="es-ES" altLang="es-ES" sz="12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3378963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3E90D71-AEF8-D3DE-B445-8AD40F747750}"/>
              </a:ext>
            </a:extLst>
          </p:cNvPr>
          <p:cNvSpPr>
            <a:spLocks noGrp="1"/>
          </p:cNvSpPr>
          <p:nvPr>
            <p:ph idx="1"/>
          </p:nvPr>
        </p:nvSpPr>
        <p:spPr>
          <a:xfrm>
            <a:off x="1484310" y="1596189"/>
            <a:ext cx="10018713" cy="4195011"/>
          </a:xfrm>
        </p:spPr>
        <p:txBody>
          <a:bodyPr anchor="t">
            <a:normAutofit/>
          </a:bodyPr>
          <a:lstStyle/>
          <a:p>
            <a:r>
              <a:rPr lang="es-ES" sz="1600" dirty="0"/>
              <a:t>Algunos </a:t>
            </a:r>
            <a:r>
              <a:rPr lang="es-ES" sz="1600" dirty="0" err="1"/>
              <a:t>topics</a:t>
            </a:r>
            <a:r>
              <a:rPr lang="es-ES" sz="1600" dirty="0"/>
              <a:t> no podremos crearlos, por ejemplo, </a:t>
            </a:r>
            <a:r>
              <a:rPr lang="es-ES" sz="1600" dirty="0" err="1"/>
              <a:t>topic</a:t>
            </a:r>
            <a:r>
              <a:rPr lang="es-ES" sz="1600" dirty="0"/>
              <a:t> con </a:t>
            </a:r>
            <a:r>
              <a:rPr lang="es-ES" sz="1600" dirty="0" err="1"/>
              <a:t>replication</a:t>
            </a:r>
            <a:r>
              <a:rPr lang="es-ES" sz="1600" dirty="0"/>
              <a:t>, no vamos a poder crearlo en un </a:t>
            </a:r>
            <a:r>
              <a:rPr lang="es-ES" sz="1600" dirty="0" err="1"/>
              <a:t>cluster</a:t>
            </a:r>
            <a:r>
              <a:rPr lang="es-ES" sz="1600" dirty="0"/>
              <a:t> con un solo </a:t>
            </a:r>
            <a:r>
              <a:rPr lang="es-ES" sz="1600" dirty="0" err="1"/>
              <a:t>broker</a:t>
            </a:r>
            <a:r>
              <a:rPr lang="es-ES" sz="1600" dirty="0"/>
              <a:t>, porque no puede poner la replica en un segundo </a:t>
            </a:r>
            <a:r>
              <a:rPr lang="es-ES" sz="1600" dirty="0" err="1"/>
              <a:t>broker</a:t>
            </a:r>
            <a:r>
              <a:rPr lang="es-ES" sz="1600" dirty="0"/>
              <a:t>.</a:t>
            </a:r>
          </a:p>
          <a:p>
            <a:endParaRPr lang="es-ES" sz="1600" dirty="0"/>
          </a:p>
          <a:p>
            <a:endParaRPr lang="es-ES" sz="1600" dirty="0"/>
          </a:p>
          <a:p>
            <a:endParaRPr lang="es-ES" sz="1600" dirty="0"/>
          </a:p>
          <a:p>
            <a:endParaRPr lang="es-ES" sz="1600" dirty="0"/>
          </a:p>
          <a:p>
            <a:r>
              <a:rPr lang="es-ES" sz="1600" dirty="0"/>
              <a:t>Borrar un </a:t>
            </a:r>
            <a:r>
              <a:rPr lang="es-ES" sz="1600" dirty="0" err="1"/>
              <a:t>topic</a:t>
            </a:r>
            <a:endParaRPr lang="es-ES" sz="1600" dirty="0"/>
          </a:p>
          <a:p>
            <a:pPr lvl="1"/>
            <a:r>
              <a:rPr lang="es-ES" sz="1400" b="0" dirty="0">
                <a:effectLst/>
              </a:rPr>
              <a:t>kafka-topics.sh </a:t>
            </a:r>
            <a:r>
              <a:rPr lang="es-ES" sz="1400" b="0" dirty="0">
                <a:solidFill>
                  <a:srgbClr val="569CD6"/>
                </a:solidFill>
                <a:effectLst/>
              </a:rPr>
              <a:t>--</a:t>
            </a:r>
            <a:r>
              <a:rPr lang="es-ES" sz="1400" b="0" dirty="0" err="1">
                <a:solidFill>
                  <a:srgbClr val="569CD6"/>
                </a:solidFill>
                <a:effectLst/>
              </a:rPr>
              <a:t>delete</a:t>
            </a:r>
            <a:r>
              <a:rPr lang="es-ES" sz="1400" b="0" dirty="0">
                <a:solidFill>
                  <a:srgbClr val="CCCCCC"/>
                </a:solidFill>
                <a:effectLst/>
              </a:rPr>
              <a:t> </a:t>
            </a:r>
            <a:r>
              <a:rPr lang="es-ES" sz="1400" b="0" dirty="0">
                <a:solidFill>
                  <a:srgbClr val="569CD6"/>
                </a:solidFill>
                <a:effectLst/>
              </a:rPr>
              <a:t>--</a:t>
            </a:r>
            <a:r>
              <a:rPr lang="es-ES" sz="1400" b="0" dirty="0" err="1">
                <a:solidFill>
                  <a:srgbClr val="569CD6"/>
                </a:solidFill>
                <a:effectLst/>
              </a:rPr>
              <a:t>topic</a:t>
            </a:r>
            <a:r>
              <a:rPr lang="es-ES" sz="1400" b="0" dirty="0">
                <a:solidFill>
                  <a:srgbClr val="CCCCCC"/>
                </a:solidFill>
                <a:effectLst/>
              </a:rPr>
              <a:t> </a:t>
            </a:r>
            <a:r>
              <a:rPr lang="es-ES" sz="1400" b="0" dirty="0" err="1">
                <a:solidFill>
                  <a:srgbClr val="CE9178"/>
                </a:solidFill>
                <a:effectLst/>
              </a:rPr>
              <a:t>second_topic</a:t>
            </a:r>
            <a:r>
              <a:rPr lang="es-ES" sz="1400" b="0" dirty="0">
                <a:solidFill>
                  <a:srgbClr val="CCCCCC"/>
                </a:solidFill>
                <a:effectLst/>
              </a:rPr>
              <a:t> </a:t>
            </a:r>
            <a:r>
              <a:rPr lang="es-ES" sz="1400" b="0" dirty="0">
                <a:solidFill>
                  <a:srgbClr val="569CD6"/>
                </a:solidFill>
                <a:effectLst/>
              </a:rPr>
              <a:t>--</a:t>
            </a:r>
            <a:r>
              <a:rPr lang="es-ES" sz="1400" b="0" dirty="0" err="1">
                <a:solidFill>
                  <a:srgbClr val="569CD6"/>
                </a:solidFill>
                <a:effectLst/>
              </a:rPr>
              <a:t>bootstrap</a:t>
            </a:r>
            <a:r>
              <a:rPr lang="es-ES" sz="1400" b="0" dirty="0">
                <a:solidFill>
                  <a:srgbClr val="569CD6"/>
                </a:solidFill>
                <a:effectLst/>
              </a:rPr>
              <a:t>-server</a:t>
            </a:r>
            <a:r>
              <a:rPr lang="es-ES" sz="1400" b="0" dirty="0">
                <a:solidFill>
                  <a:srgbClr val="CCCCCC"/>
                </a:solidFill>
                <a:effectLst/>
              </a:rPr>
              <a:t> </a:t>
            </a:r>
            <a:r>
              <a:rPr lang="es-ES" sz="1400" b="0" dirty="0">
                <a:solidFill>
                  <a:srgbClr val="CE9178"/>
                </a:solidFill>
                <a:effectLst/>
              </a:rPr>
              <a:t>localhost:9092</a:t>
            </a:r>
            <a:endParaRPr lang="es-ES" sz="1400" b="0" dirty="0">
              <a:solidFill>
                <a:srgbClr val="CCCCCC"/>
              </a:solidFill>
              <a:effectLst/>
            </a:endParaRPr>
          </a:p>
          <a:p>
            <a:pPr lvl="1"/>
            <a:endParaRPr lang="es-ES" sz="1200" dirty="0"/>
          </a:p>
        </p:txBody>
      </p:sp>
      <p:sp>
        <p:nvSpPr>
          <p:cNvPr id="4" name="Título 1">
            <a:extLst>
              <a:ext uri="{FF2B5EF4-FFF2-40B4-BE49-F238E27FC236}">
                <a16:creationId xmlns:a16="http://schemas.microsoft.com/office/drawing/2014/main" id="{005E58D0-C641-E029-8450-48622B3CB937}"/>
              </a:ext>
            </a:extLst>
          </p:cNvPr>
          <p:cNvSpPr>
            <a:spLocks noGrp="1"/>
          </p:cNvSpPr>
          <p:nvPr>
            <p:ph type="title"/>
          </p:nvPr>
        </p:nvSpPr>
        <p:spPr>
          <a:xfrm>
            <a:off x="1484311" y="685800"/>
            <a:ext cx="10018713" cy="846221"/>
          </a:xfrm>
        </p:spPr>
        <p:txBody>
          <a:bodyPr/>
          <a:lstStyle/>
          <a:p>
            <a:r>
              <a:rPr lang="es-ES" dirty="0"/>
              <a:t>Kafka </a:t>
            </a:r>
            <a:r>
              <a:rPr lang="es-ES" dirty="0" err="1"/>
              <a:t>topics</a:t>
            </a:r>
            <a:r>
              <a:rPr lang="es-ES" dirty="0"/>
              <a:t> CLI</a:t>
            </a:r>
          </a:p>
        </p:txBody>
      </p:sp>
      <p:pic>
        <p:nvPicPr>
          <p:cNvPr id="6" name="Imagen 5">
            <a:extLst>
              <a:ext uri="{FF2B5EF4-FFF2-40B4-BE49-F238E27FC236}">
                <a16:creationId xmlns:a16="http://schemas.microsoft.com/office/drawing/2014/main" id="{C9FAE2BE-6C49-35BD-4CCE-A9B9F512E4CF}"/>
              </a:ext>
            </a:extLst>
          </p:cNvPr>
          <p:cNvPicPr>
            <a:picLocks noChangeAspect="1"/>
          </p:cNvPicPr>
          <p:nvPr/>
        </p:nvPicPr>
        <p:blipFill>
          <a:blip r:embed="rId2"/>
          <a:stretch>
            <a:fillRect/>
          </a:stretch>
        </p:blipFill>
        <p:spPr>
          <a:xfrm>
            <a:off x="1796543" y="2231016"/>
            <a:ext cx="9394246" cy="1381288"/>
          </a:xfrm>
          <a:prstGeom prst="rect">
            <a:avLst/>
          </a:prstGeom>
        </p:spPr>
      </p:pic>
    </p:spTree>
    <p:extLst>
      <p:ext uri="{BB962C8B-B14F-4D97-AF65-F5344CB8AC3E}">
        <p14:creationId xmlns:p14="http://schemas.microsoft.com/office/powerpoint/2010/main" val="5061940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8107F7-E083-908D-D99B-A21F927E5E78}"/>
              </a:ext>
            </a:extLst>
          </p:cNvPr>
          <p:cNvSpPr>
            <a:spLocks noGrp="1"/>
          </p:cNvSpPr>
          <p:nvPr>
            <p:ph type="title"/>
          </p:nvPr>
        </p:nvSpPr>
        <p:spPr>
          <a:xfrm>
            <a:off x="1484311" y="685801"/>
            <a:ext cx="10018713" cy="1038726"/>
          </a:xfrm>
        </p:spPr>
        <p:txBody>
          <a:bodyPr/>
          <a:lstStyle/>
          <a:p>
            <a:r>
              <a:rPr lang="es-ES" dirty="0"/>
              <a:t>Guía de nombrar </a:t>
            </a:r>
            <a:r>
              <a:rPr lang="es-ES" dirty="0" err="1"/>
              <a:t>topic</a:t>
            </a:r>
            <a:endParaRPr lang="es-ES" dirty="0"/>
          </a:p>
        </p:txBody>
      </p:sp>
      <p:sp>
        <p:nvSpPr>
          <p:cNvPr id="3" name="Marcador de contenido 2">
            <a:extLst>
              <a:ext uri="{FF2B5EF4-FFF2-40B4-BE49-F238E27FC236}">
                <a16:creationId xmlns:a16="http://schemas.microsoft.com/office/drawing/2014/main" id="{1326E982-28C3-1591-896E-C48EEE01283E}"/>
              </a:ext>
            </a:extLst>
          </p:cNvPr>
          <p:cNvSpPr>
            <a:spLocks noGrp="1"/>
          </p:cNvSpPr>
          <p:nvPr>
            <p:ph idx="1"/>
          </p:nvPr>
        </p:nvSpPr>
        <p:spPr>
          <a:xfrm>
            <a:off x="1484310" y="1884947"/>
            <a:ext cx="10018713" cy="3906253"/>
          </a:xfrm>
        </p:spPr>
        <p:txBody>
          <a:bodyPr anchor="t">
            <a:normAutofit/>
          </a:bodyPr>
          <a:lstStyle/>
          <a:p>
            <a:r>
              <a:rPr lang="es-ES" sz="1800" dirty="0"/>
              <a:t>Se recomienda un formato de este estilo:</a:t>
            </a:r>
          </a:p>
          <a:p>
            <a:pPr lvl="1"/>
            <a:r>
              <a:rPr lang="es-ES" sz="1800" dirty="0"/>
              <a:t>&lt;tipo de mensaje&gt;.&lt;nombre </a:t>
            </a:r>
            <a:r>
              <a:rPr lang="es-ES" sz="1800" dirty="0" err="1"/>
              <a:t>dataset</a:t>
            </a:r>
            <a:r>
              <a:rPr lang="es-ES" sz="1800" dirty="0"/>
              <a:t>&gt;.&lt;nombre del dato&gt;.&lt;formato del dato&gt;</a:t>
            </a:r>
          </a:p>
          <a:p>
            <a:r>
              <a:rPr lang="es-ES" sz="2200" dirty="0"/>
              <a:t>Tipo de mensaje:</a:t>
            </a:r>
          </a:p>
          <a:p>
            <a:pPr lvl="1"/>
            <a:r>
              <a:rPr lang="es-ES" sz="1800" dirty="0" err="1"/>
              <a:t>Logging</a:t>
            </a:r>
            <a:r>
              <a:rPr lang="es-ES" sz="1800" dirty="0"/>
              <a:t>, </a:t>
            </a:r>
            <a:r>
              <a:rPr lang="es-ES" sz="1800" dirty="0" err="1"/>
              <a:t>queiuing</a:t>
            </a:r>
            <a:r>
              <a:rPr lang="es-ES" sz="1800" dirty="0"/>
              <a:t>, tracking, </a:t>
            </a:r>
            <a:r>
              <a:rPr lang="es-ES" sz="1800" dirty="0" err="1"/>
              <a:t>etl</a:t>
            </a:r>
            <a:r>
              <a:rPr lang="es-ES" sz="1800" dirty="0"/>
              <a:t>, </a:t>
            </a:r>
            <a:r>
              <a:rPr lang="es-ES" sz="1800" dirty="0" err="1"/>
              <a:t>streaming</a:t>
            </a:r>
            <a:r>
              <a:rPr lang="es-ES" sz="1800" dirty="0"/>
              <a:t>, </a:t>
            </a:r>
            <a:r>
              <a:rPr lang="es-ES" sz="1800" dirty="0" err="1"/>
              <a:t>push</a:t>
            </a:r>
            <a:r>
              <a:rPr lang="es-ES" sz="1800" dirty="0"/>
              <a:t>, </a:t>
            </a:r>
            <a:r>
              <a:rPr lang="es-ES" sz="1800" dirty="0" err="1"/>
              <a:t>user</a:t>
            </a:r>
            <a:endParaRPr lang="es-ES" sz="1800" dirty="0"/>
          </a:p>
        </p:txBody>
      </p:sp>
    </p:spTree>
    <p:extLst>
      <p:ext uri="{BB962C8B-B14F-4D97-AF65-F5344CB8AC3E}">
        <p14:creationId xmlns:p14="http://schemas.microsoft.com/office/powerpoint/2010/main" val="37581975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CBEC34-8224-6AB5-6210-D4A145EC0AED}"/>
              </a:ext>
            </a:extLst>
          </p:cNvPr>
          <p:cNvSpPr>
            <a:spLocks noGrp="1"/>
          </p:cNvSpPr>
          <p:nvPr>
            <p:ph type="title"/>
          </p:nvPr>
        </p:nvSpPr>
        <p:spPr>
          <a:xfrm>
            <a:off x="1484311" y="685801"/>
            <a:ext cx="10018713" cy="598889"/>
          </a:xfrm>
        </p:spPr>
        <p:txBody>
          <a:bodyPr>
            <a:normAutofit fontScale="90000"/>
          </a:bodyPr>
          <a:lstStyle/>
          <a:p>
            <a:r>
              <a:rPr lang="es-ES" dirty="0" err="1"/>
              <a:t>Topics</a:t>
            </a:r>
            <a:endParaRPr lang="es-ES" dirty="0"/>
          </a:p>
        </p:txBody>
      </p:sp>
      <p:sp>
        <p:nvSpPr>
          <p:cNvPr id="3" name="Marcador de contenido 2">
            <a:extLst>
              <a:ext uri="{FF2B5EF4-FFF2-40B4-BE49-F238E27FC236}">
                <a16:creationId xmlns:a16="http://schemas.microsoft.com/office/drawing/2014/main" id="{4B6F221D-7604-1770-9E17-64A3F513BA1C}"/>
              </a:ext>
            </a:extLst>
          </p:cNvPr>
          <p:cNvSpPr>
            <a:spLocks noGrp="1"/>
          </p:cNvSpPr>
          <p:nvPr>
            <p:ph idx="1"/>
          </p:nvPr>
        </p:nvSpPr>
        <p:spPr>
          <a:xfrm>
            <a:off x="1484310" y="1468073"/>
            <a:ext cx="10018713" cy="4323127"/>
          </a:xfrm>
        </p:spPr>
        <p:txBody>
          <a:bodyPr anchor="t"/>
          <a:lstStyle/>
          <a:p>
            <a:r>
              <a:rPr lang="es-ES" dirty="0"/>
              <a:t>Número ilimitado</a:t>
            </a:r>
          </a:p>
          <a:p>
            <a:r>
              <a:rPr lang="es-ES" dirty="0"/>
              <a:t>Definido por su nombre</a:t>
            </a:r>
          </a:p>
          <a:p>
            <a:r>
              <a:rPr lang="es-ES" dirty="0"/>
              <a:t>Cualquier formato de mensaje: </a:t>
            </a:r>
            <a:r>
              <a:rPr lang="es-ES" dirty="0" err="1"/>
              <a:t>json</a:t>
            </a:r>
            <a:r>
              <a:rPr lang="es-ES" dirty="0"/>
              <a:t>, </a:t>
            </a:r>
            <a:r>
              <a:rPr lang="es-ES" dirty="0" err="1"/>
              <a:t>avro</a:t>
            </a:r>
            <a:r>
              <a:rPr lang="es-ES" dirty="0"/>
              <a:t>, </a:t>
            </a:r>
            <a:r>
              <a:rPr lang="es-ES" dirty="0" err="1"/>
              <a:t>txt</a:t>
            </a:r>
            <a:r>
              <a:rPr lang="es-ES" dirty="0"/>
              <a:t>, binario…</a:t>
            </a:r>
          </a:p>
          <a:p>
            <a:r>
              <a:rPr lang="es-ES" dirty="0"/>
              <a:t>Los mensajes mandados terminan en las distintas particiones, con una id a partir de 0.</a:t>
            </a:r>
          </a:p>
          <a:p>
            <a:r>
              <a:rPr lang="es-ES" dirty="0"/>
              <a:t>Una vez un dato está escrito en una partición, no puede modificarse.</a:t>
            </a:r>
          </a:p>
        </p:txBody>
      </p:sp>
      <p:pic>
        <p:nvPicPr>
          <p:cNvPr id="5" name="Imagen 4" descr="Interfaz de usuario gráfica, Aplicación, Teams&#10;&#10;El contenido generado por IA puede ser incorrecto.">
            <a:extLst>
              <a:ext uri="{FF2B5EF4-FFF2-40B4-BE49-F238E27FC236}">
                <a16:creationId xmlns:a16="http://schemas.microsoft.com/office/drawing/2014/main" id="{28189F58-4C75-2455-AE8B-D8461611E42F}"/>
              </a:ext>
            </a:extLst>
          </p:cNvPr>
          <p:cNvPicPr>
            <a:picLocks noChangeAspect="1"/>
          </p:cNvPicPr>
          <p:nvPr/>
        </p:nvPicPr>
        <p:blipFill>
          <a:blip r:embed="rId2"/>
          <a:stretch>
            <a:fillRect/>
          </a:stretch>
        </p:blipFill>
        <p:spPr>
          <a:xfrm>
            <a:off x="2148121" y="4377156"/>
            <a:ext cx="7406939" cy="2226601"/>
          </a:xfrm>
          <a:prstGeom prst="rect">
            <a:avLst/>
          </a:prstGeom>
        </p:spPr>
      </p:pic>
    </p:spTree>
    <p:extLst>
      <p:ext uri="{BB962C8B-B14F-4D97-AF65-F5344CB8AC3E}">
        <p14:creationId xmlns:p14="http://schemas.microsoft.com/office/powerpoint/2010/main" val="11947766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70DB6D-17DC-DDDC-A26F-CA38B01D65F7}"/>
              </a:ext>
            </a:extLst>
          </p:cNvPr>
          <p:cNvSpPr>
            <a:spLocks noGrp="1"/>
          </p:cNvSpPr>
          <p:nvPr>
            <p:ph type="title"/>
          </p:nvPr>
        </p:nvSpPr>
        <p:spPr>
          <a:xfrm>
            <a:off x="1484311" y="685801"/>
            <a:ext cx="10018713" cy="773884"/>
          </a:xfrm>
        </p:spPr>
        <p:txBody>
          <a:bodyPr/>
          <a:lstStyle/>
          <a:p>
            <a:r>
              <a:rPr lang="es-ES" dirty="0" err="1"/>
              <a:t>Topics</a:t>
            </a:r>
            <a:endParaRPr lang="es-ES" dirty="0"/>
          </a:p>
        </p:txBody>
      </p:sp>
      <p:sp>
        <p:nvSpPr>
          <p:cNvPr id="3" name="Marcador de contenido 2">
            <a:extLst>
              <a:ext uri="{FF2B5EF4-FFF2-40B4-BE49-F238E27FC236}">
                <a16:creationId xmlns:a16="http://schemas.microsoft.com/office/drawing/2014/main" id="{C8681D01-69F3-09E8-911B-A902A46D398A}"/>
              </a:ext>
            </a:extLst>
          </p:cNvPr>
          <p:cNvSpPr>
            <a:spLocks noGrp="1"/>
          </p:cNvSpPr>
          <p:nvPr>
            <p:ph idx="1"/>
          </p:nvPr>
        </p:nvSpPr>
        <p:spPr>
          <a:xfrm>
            <a:off x="1484310" y="1585519"/>
            <a:ext cx="10018713" cy="4205681"/>
          </a:xfrm>
        </p:spPr>
        <p:txBody>
          <a:bodyPr anchor="t"/>
          <a:lstStyle/>
          <a:p>
            <a:r>
              <a:rPr lang="es-ES" dirty="0"/>
              <a:t>El orden de los mensajes se garantiza en cada partición, no entre ellas.</a:t>
            </a:r>
          </a:p>
          <a:p>
            <a:r>
              <a:rPr lang="es-ES" dirty="0"/>
              <a:t>Si no damos una </a:t>
            </a:r>
            <a:r>
              <a:rPr lang="es-ES" dirty="0" err="1"/>
              <a:t>key</a:t>
            </a:r>
            <a:r>
              <a:rPr lang="es-ES" dirty="0"/>
              <a:t>, los mensajes se guardarán de siguiendo round </a:t>
            </a:r>
            <a:r>
              <a:rPr lang="es-ES" dirty="0" err="1"/>
              <a:t>robin</a:t>
            </a:r>
            <a:r>
              <a:rPr lang="es-ES" dirty="0"/>
              <a:t> entre particiones (</a:t>
            </a:r>
            <a:r>
              <a:rPr lang="es-ES" dirty="0" err="1"/>
              <a:t>particiónO</a:t>
            </a:r>
            <a:r>
              <a:rPr lang="es-ES" dirty="0"/>
              <a:t>, partición1, partición 2, partición 0…) , con una </a:t>
            </a:r>
            <a:r>
              <a:rPr lang="es-ES" dirty="0" err="1"/>
              <a:t>key</a:t>
            </a:r>
            <a:r>
              <a:rPr lang="es-ES" dirty="0"/>
              <a:t>, se asignarán a la misma partición.</a:t>
            </a:r>
          </a:p>
          <a:p>
            <a:r>
              <a:rPr lang="es-ES" dirty="0"/>
              <a:t>Ejemplo camiones de reparto.</a:t>
            </a:r>
          </a:p>
        </p:txBody>
      </p:sp>
    </p:spTree>
    <p:extLst>
      <p:ext uri="{BB962C8B-B14F-4D97-AF65-F5344CB8AC3E}">
        <p14:creationId xmlns:p14="http://schemas.microsoft.com/office/powerpoint/2010/main" val="3876447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D8BED62-CE62-404A-8D10-D6980394D3A2}"/>
              </a:ext>
            </a:extLst>
          </p:cNvPr>
          <p:cNvSpPr>
            <a:spLocks noGrp="1"/>
          </p:cNvSpPr>
          <p:nvPr>
            <p:ph idx="1"/>
          </p:nvPr>
        </p:nvSpPr>
        <p:spPr>
          <a:xfrm>
            <a:off x="1484311" y="4604084"/>
            <a:ext cx="10018713" cy="1483895"/>
          </a:xfrm>
        </p:spPr>
        <p:txBody>
          <a:bodyPr anchor="t">
            <a:normAutofit/>
          </a:bodyPr>
          <a:lstStyle/>
          <a:p>
            <a:r>
              <a:rPr lang="es-ES" sz="1800" dirty="0"/>
              <a:t>Producir mensaje desde consola</a:t>
            </a:r>
          </a:p>
          <a:p>
            <a:r>
              <a:rPr lang="es-ES" sz="1800" dirty="0"/>
              <a:t>Producir mensaje con </a:t>
            </a:r>
            <a:r>
              <a:rPr lang="es-ES" sz="1800" dirty="0" err="1"/>
              <a:t>key</a:t>
            </a:r>
            <a:endParaRPr lang="es-ES" sz="1800" dirty="0"/>
          </a:p>
        </p:txBody>
      </p:sp>
      <p:pic>
        <p:nvPicPr>
          <p:cNvPr id="5" name="Imagen 4">
            <a:extLst>
              <a:ext uri="{FF2B5EF4-FFF2-40B4-BE49-F238E27FC236}">
                <a16:creationId xmlns:a16="http://schemas.microsoft.com/office/drawing/2014/main" id="{66A8AFBE-8CD0-1006-C5A6-39F0FB511EFC}"/>
              </a:ext>
            </a:extLst>
          </p:cNvPr>
          <p:cNvPicPr>
            <a:picLocks noChangeAspect="1"/>
          </p:cNvPicPr>
          <p:nvPr/>
        </p:nvPicPr>
        <p:blipFill>
          <a:blip r:embed="rId2"/>
          <a:stretch>
            <a:fillRect/>
          </a:stretch>
        </p:blipFill>
        <p:spPr>
          <a:xfrm>
            <a:off x="2376654" y="1661720"/>
            <a:ext cx="8040660" cy="2645585"/>
          </a:xfrm>
          <a:prstGeom prst="rect">
            <a:avLst/>
          </a:prstGeom>
        </p:spPr>
      </p:pic>
      <p:sp>
        <p:nvSpPr>
          <p:cNvPr id="6" name="Título 1">
            <a:extLst>
              <a:ext uri="{FF2B5EF4-FFF2-40B4-BE49-F238E27FC236}">
                <a16:creationId xmlns:a16="http://schemas.microsoft.com/office/drawing/2014/main" id="{0A59CFEB-2E31-B5CE-AA38-9CC7DAC78D05}"/>
              </a:ext>
            </a:extLst>
          </p:cNvPr>
          <p:cNvSpPr>
            <a:spLocks noGrp="1"/>
          </p:cNvSpPr>
          <p:nvPr>
            <p:ph type="title"/>
          </p:nvPr>
        </p:nvSpPr>
        <p:spPr>
          <a:xfrm>
            <a:off x="1484311" y="685800"/>
            <a:ext cx="10018713" cy="846221"/>
          </a:xfrm>
        </p:spPr>
        <p:txBody>
          <a:bodyPr/>
          <a:lstStyle/>
          <a:p>
            <a:r>
              <a:rPr lang="es-ES" dirty="0"/>
              <a:t>Kafka </a:t>
            </a:r>
            <a:r>
              <a:rPr lang="es-ES" dirty="0" err="1"/>
              <a:t>console</a:t>
            </a:r>
            <a:r>
              <a:rPr lang="es-ES" dirty="0"/>
              <a:t> </a:t>
            </a:r>
            <a:r>
              <a:rPr lang="es-ES" dirty="0" err="1"/>
              <a:t>producer</a:t>
            </a:r>
            <a:r>
              <a:rPr lang="es-ES" dirty="0"/>
              <a:t> CLI</a:t>
            </a:r>
          </a:p>
        </p:txBody>
      </p:sp>
    </p:spTree>
    <p:extLst>
      <p:ext uri="{BB962C8B-B14F-4D97-AF65-F5344CB8AC3E}">
        <p14:creationId xmlns:p14="http://schemas.microsoft.com/office/powerpoint/2010/main" val="23139845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35A93-7803-FB01-475A-FD21A9A9A9C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F63A5C4-9CA3-4588-7483-9ACB7CF443B9}"/>
              </a:ext>
            </a:extLst>
          </p:cNvPr>
          <p:cNvSpPr>
            <a:spLocks noGrp="1"/>
          </p:cNvSpPr>
          <p:nvPr>
            <p:ph type="title"/>
          </p:nvPr>
        </p:nvSpPr>
        <p:spPr>
          <a:xfrm>
            <a:off x="1484311" y="685800"/>
            <a:ext cx="10018713" cy="846221"/>
          </a:xfrm>
        </p:spPr>
        <p:txBody>
          <a:bodyPr/>
          <a:lstStyle/>
          <a:p>
            <a:r>
              <a:rPr lang="es-ES" dirty="0"/>
              <a:t>Kafka </a:t>
            </a:r>
            <a:r>
              <a:rPr lang="es-ES" dirty="0" err="1"/>
              <a:t>console</a:t>
            </a:r>
            <a:r>
              <a:rPr lang="es-ES" dirty="0"/>
              <a:t> </a:t>
            </a:r>
            <a:r>
              <a:rPr lang="es-ES" dirty="0" err="1"/>
              <a:t>producer</a:t>
            </a:r>
            <a:r>
              <a:rPr lang="es-ES" dirty="0"/>
              <a:t> CLI</a:t>
            </a:r>
          </a:p>
        </p:txBody>
      </p:sp>
      <p:sp>
        <p:nvSpPr>
          <p:cNvPr id="3" name="Marcador de contenido 2">
            <a:extLst>
              <a:ext uri="{FF2B5EF4-FFF2-40B4-BE49-F238E27FC236}">
                <a16:creationId xmlns:a16="http://schemas.microsoft.com/office/drawing/2014/main" id="{F5836204-DD9C-2CB6-13F6-C8D104F26C76}"/>
              </a:ext>
            </a:extLst>
          </p:cNvPr>
          <p:cNvSpPr>
            <a:spLocks noGrp="1"/>
          </p:cNvSpPr>
          <p:nvPr>
            <p:ph idx="1"/>
          </p:nvPr>
        </p:nvSpPr>
        <p:spPr>
          <a:xfrm>
            <a:off x="1484310" y="1628275"/>
            <a:ext cx="10018713" cy="4162926"/>
          </a:xfrm>
        </p:spPr>
        <p:txBody>
          <a:bodyPr anchor="t">
            <a:normAutofit lnSpcReduction="10000"/>
          </a:bodyPr>
          <a:lstStyle/>
          <a:p>
            <a:r>
              <a:rPr lang="es-ES" sz="1600" dirty="0"/>
              <a:t>Para ver todos los comandos disponibles</a:t>
            </a:r>
          </a:p>
          <a:p>
            <a:pPr lvl="1"/>
            <a:r>
              <a:rPr lang="es-ES" sz="1400" b="0" dirty="0">
                <a:effectLst/>
              </a:rPr>
              <a:t>kafka-console-producer.sh</a:t>
            </a:r>
          </a:p>
          <a:p>
            <a:r>
              <a:rPr lang="es-ES" sz="1800" dirty="0"/>
              <a:t>Para enviar mensajes a un </a:t>
            </a:r>
            <a:r>
              <a:rPr lang="es-ES" sz="1800" dirty="0" err="1"/>
              <a:t>topic</a:t>
            </a:r>
            <a:r>
              <a:rPr lang="es-ES" sz="1800" dirty="0"/>
              <a:t> de Kafka desde la línea de comandos:</a:t>
            </a:r>
            <a:endParaRPr lang="es-ES" sz="1800" b="0" dirty="0">
              <a:effectLst/>
            </a:endParaRPr>
          </a:p>
          <a:p>
            <a:pPr lvl="1"/>
            <a:r>
              <a:rPr lang="es-ES" sz="1400" b="0" dirty="0">
                <a:effectLst/>
              </a:rPr>
              <a:t>kafka-console-producer.sh </a:t>
            </a:r>
            <a:r>
              <a:rPr lang="es-ES" sz="1400" b="0" dirty="0">
                <a:solidFill>
                  <a:srgbClr val="569CD6"/>
                </a:solidFill>
                <a:effectLst/>
              </a:rPr>
              <a:t>--</a:t>
            </a:r>
            <a:r>
              <a:rPr lang="es-ES" sz="1400" b="0" dirty="0" err="1">
                <a:solidFill>
                  <a:srgbClr val="569CD6"/>
                </a:solidFill>
                <a:effectLst/>
              </a:rPr>
              <a:t>bootstrap</a:t>
            </a:r>
            <a:r>
              <a:rPr lang="es-ES" sz="1400" b="0" dirty="0">
                <a:solidFill>
                  <a:srgbClr val="569CD6"/>
                </a:solidFill>
                <a:effectLst/>
              </a:rPr>
              <a:t>-server</a:t>
            </a:r>
            <a:r>
              <a:rPr lang="es-ES" sz="1400" b="0" dirty="0">
                <a:solidFill>
                  <a:srgbClr val="CCCCCC"/>
                </a:solidFill>
                <a:effectLst/>
              </a:rPr>
              <a:t> </a:t>
            </a:r>
            <a:r>
              <a:rPr lang="es-ES" sz="1400" b="0" dirty="0">
                <a:solidFill>
                  <a:srgbClr val="CE9178"/>
                </a:solidFill>
                <a:effectLst/>
              </a:rPr>
              <a:t>127.0.0.1:9092</a:t>
            </a:r>
            <a:r>
              <a:rPr lang="es-ES" sz="1400" b="0" dirty="0">
                <a:solidFill>
                  <a:srgbClr val="CCCCCC"/>
                </a:solidFill>
                <a:effectLst/>
              </a:rPr>
              <a:t> </a:t>
            </a:r>
            <a:r>
              <a:rPr lang="es-ES" sz="1400" b="0" dirty="0">
                <a:solidFill>
                  <a:srgbClr val="569CD6"/>
                </a:solidFill>
                <a:effectLst/>
              </a:rPr>
              <a:t>--</a:t>
            </a:r>
            <a:r>
              <a:rPr lang="es-ES" sz="1400" b="0" dirty="0" err="1">
                <a:solidFill>
                  <a:srgbClr val="569CD6"/>
                </a:solidFill>
                <a:effectLst/>
              </a:rPr>
              <a:t>topic</a:t>
            </a:r>
            <a:r>
              <a:rPr lang="es-ES" sz="1400" b="0" dirty="0">
                <a:solidFill>
                  <a:srgbClr val="CCCCCC"/>
                </a:solidFill>
                <a:effectLst/>
              </a:rPr>
              <a:t> </a:t>
            </a:r>
            <a:r>
              <a:rPr lang="es-ES" sz="1400" b="0" dirty="0" err="1">
                <a:solidFill>
                  <a:srgbClr val="CE9178"/>
                </a:solidFill>
                <a:effectLst/>
              </a:rPr>
              <a:t>first_topic</a:t>
            </a:r>
            <a:endParaRPr lang="es-ES" sz="1400" b="0" dirty="0">
              <a:solidFill>
                <a:srgbClr val="CE9178"/>
              </a:solidFill>
              <a:effectLst/>
            </a:endParaRPr>
          </a:p>
          <a:p>
            <a:pPr lvl="1"/>
            <a:endParaRPr lang="es-ES" sz="1400" dirty="0">
              <a:solidFill>
                <a:srgbClr val="CE9178"/>
              </a:solidFill>
            </a:endParaRPr>
          </a:p>
          <a:p>
            <a:pPr lvl="1"/>
            <a:endParaRPr lang="es-ES" sz="1400" b="0" dirty="0">
              <a:solidFill>
                <a:srgbClr val="CE9178"/>
              </a:solidFill>
              <a:effectLst/>
            </a:endParaRPr>
          </a:p>
          <a:p>
            <a:pPr lvl="1"/>
            <a:r>
              <a:rPr lang="es-ES" sz="1400" b="0" dirty="0">
                <a:effectLst/>
              </a:rPr>
              <a:t>Nos permite ir escribiendo mensajes a mano a un </a:t>
            </a:r>
            <a:r>
              <a:rPr lang="es-ES" sz="1400" b="0" dirty="0" err="1">
                <a:effectLst/>
              </a:rPr>
              <a:t>topic</a:t>
            </a:r>
            <a:r>
              <a:rPr lang="es-ES" sz="1400" b="0" dirty="0">
                <a:effectLst/>
              </a:rPr>
              <a:t>. </a:t>
            </a:r>
            <a:r>
              <a:rPr lang="es-ES" sz="1400" b="0" dirty="0" err="1">
                <a:effectLst/>
              </a:rPr>
              <a:t>Ctrl+C</a:t>
            </a:r>
            <a:r>
              <a:rPr lang="es-ES" sz="1400" b="0" dirty="0">
                <a:effectLst/>
              </a:rPr>
              <a:t> para salir.</a:t>
            </a:r>
          </a:p>
          <a:p>
            <a:r>
              <a:rPr lang="es-ES" sz="1800" b="0" dirty="0">
                <a:effectLst/>
              </a:rPr>
              <a:t>Esperar confirmación de todas las réplicas sincronizadas antes de considerar el mensaje como enviado con éxito.</a:t>
            </a:r>
          </a:p>
          <a:p>
            <a:pPr lvl="1"/>
            <a:r>
              <a:rPr lang="en-US" sz="1400" b="0" dirty="0">
                <a:effectLst/>
              </a:rPr>
              <a:t>kafka-console-producer.sh </a:t>
            </a:r>
            <a:r>
              <a:rPr lang="en-US" sz="1400" b="0" dirty="0">
                <a:solidFill>
                  <a:srgbClr val="569CD6"/>
                </a:solidFill>
                <a:effectLst/>
              </a:rPr>
              <a:t>--bootstrap-server</a:t>
            </a:r>
            <a:r>
              <a:rPr lang="en-US" sz="1400" b="0" dirty="0">
                <a:solidFill>
                  <a:srgbClr val="CCCCCC"/>
                </a:solidFill>
                <a:effectLst/>
              </a:rPr>
              <a:t> </a:t>
            </a:r>
            <a:r>
              <a:rPr lang="en-US" sz="1400" b="0" dirty="0">
                <a:solidFill>
                  <a:srgbClr val="CE9178"/>
                </a:solidFill>
                <a:effectLst/>
              </a:rPr>
              <a:t>127.0.0.1:9092</a:t>
            </a:r>
            <a:r>
              <a:rPr lang="en-US" sz="1400" b="0" dirty="0">
                <a:solidFill>
                  <a:srgbClr val="CCCCCC"/>
                </a:solidFill>
                <a:effectLst/>
              </a:rPr>
              <a:t> </a:t>
            </a:r>
            <a:r>
              <a:rPr lang="en-US" sz="1400" b="0" dirty="0">
                <a:solidFill>
                  <a:srgbClr val="569CD6"/>
                </a:solidFill>
                <a:effectLst/>
              </a:rPr>
              <a:t>--topic</a:t>
            </a:r>
            <a:r>
              <a:rPr lang="en-US" sz="1400" b="0" dirty="0">
                <a:solidFill>
                  <a:srgbClr val="CCCCCC"/>
                </a:solidFill>
                <a:effectLst/>
              </a:rPr>
              <a:t> </a:t>
            </a:r>
            <a:r>
              <a:rPr lang="en-US" sz="1400" b="0" dirty="0" err="1">
                <a:solidFill>
                  <a:srgbClr val="CE9178"/>
                </a:solidFill>
                <a:effectLst/>
              </a:rPr>
              <a:t>first_topic</a:t>
            </a:r>
            <a:r>
              <a:rPr lang="en-US" sz="1400" b="0" dirty="0">
                <a:solidFill>
                  <a:srgbClr val="CCCCCC"/>
                </a:solidFill>
                <a:effectLst/>
              </a:rPr>
              <a:t> </a:t>
            </a:r>
            <a:r>
              <a:rPr lang="en-US" sz="1400" b="0" dirty="0">
                <a:solidFill>
                  <a:srgbClr val="569CD6"/>
                </a:solidFill>
                <a:effectLst/>
              </a:rPr>
              <a:t>--producer-property</a:t>
            </a:r>
            <a:r>
              <a:rPr lang="en-US" sz="1400" b="0" dirty="0">
                <a:solidFill>
                  <a:srgbClr val="CCCCCC"/>
                </a:solidFill>
                <a:effectLst/>
              </a:rPr>
              <a:t> </a:t>
            </a:r>
            <a:r>
              <a:rPr lang="en-US" sz="1400" b="0" dirty="0">
                <a:solidFill>
                  <a:srgbClr val="CE9178"/>
                </a:solidFill>
                <a:effectLst/>
              </a:rPr>
              <a:t>acks=all</a:t>
            </a:r>
            <a:endParaRPr lang="es-ES" sz="1400" b="0" dirty="0">
              <a:effectLst/>
            </a:endParaRPr>
          </a:p>
          <a:p>
            <a:r>
              <a:rPr lang="es-ES" sz="1800" dirty="0">
                <a:latin typeface="+mj-lt"/>
              </a:rPr>
              <a:t>Escribir a un </a:t>
            </a:r>
            <a:r>
              <a:rPr lang="es-ES" sz="1800" dirty="0" err="1">
                <a:latin typeface="+mj-lt"/>
              </a:rPr>
              <a:t>topic</a:t>
            </a:r>
            <a:r>
              <a:rPr lang="es-ES" sz="1800" dirty="0">
                <a:latin typeface="+mj-lt"/>
              </a:rPr>
              <a:t> inexistente </a:t>
            </a:r>
            <a:r>
              <a:rPr lang="es-ES" sz="1800" dirty="0">
                <a:latin typeface="+mj-lt"/>
                <a:sym typeface="Wingdings" panose="05000000000000000000" pitchFamily="2" charset="2"/>
              </a:rPr>
              <a:t> mensaje de error, pero crea el </a:t>
            </a:r>
            <a:r>
              <a:rPr lang="es-ES" sz="1800" dirty="0" err="1">
                <a:latin typeface="+mj-lt"/>
                <a:sym typeface="Wingdings" panose="05000000000000000000" pitchFamily="2" charset="2"/>
              </a:rPr>
              <a:t>topic</a:t>
            </a:r>
            <a:r>
              <a:rPr lang="es-ES" sz="1800" dirty="0">
                <a:latin typeface="+mj-lt"/>
                <a:sym typeface="Wingdings" panose="05000000000000000000" pitchFamily="2" charset="2"/>
              </a:rPr>
              <a:t>. Este funcionamiento puede cambiarse (</a:t>
            </a:r>
            <a:r>
              <a:rPr lang="es-ES" sz="1400" b="0" dirty="0" err="1">
                <a:solidFill>
                  <a:srgbClr val="569CD6"/>
                </a:solidFill>
                <a:effectLst/>
                <a:latin typeface="Consolas" panose="020B0609020204030204" pitchFamily="49" charset="0"/>
              </a:rPr>
              <a:t>auto.create.topics.enable</a:t>
            </a:r>
            <a:r>
              <a:rPr lang="es-ES" sz="1400" b="0" dirty="0">
                <a:effectLst/>
                <a:latin typeface="Consolas" panose="020B0609020204030204" pitchFamily="49" charset="0"/>
              </a:rPr>
              <a:t>=false en </a:t>
            </a:r>
            <a:r>
              <a:rPr lang="es-ES" sz="1400" b="0" dirty="0" err="1">
                <a:effectLst/>
                <a:latin typeface="Consolas" panose="020B0609020204030204" pitchFamily="49" charset="0"/>
              </a:rPr>
              <a:t>server.properties</a:t>
            </a:r>
            <a:r>
              <a:rPr lang="es-ES" sz="1400" b="0" dirty="0">
                <a:effectLst/>
                <a:latin typeface="Consolas" panose="020B0609020204030204" pitchFamily="49" charset="0"/>
              </a:rPr>
              <a:t>)</a:t>
            </a:r>
            <a:r>
              <a:rPr lang="es-ES" sz="1800" dirty="0">
                <a:latin typeface="+mj-lt"/>
                <a:sym typeface="Wingdings" panose="05000000000000000000" pitchFamily="2" charset="2"/>
              </a:rPr>
              <a:t>.</a:t>
            </a:r>
            <a:endParaRPr lang="es-ES" sz="1800" dirty="0">
              <a:latin typeface="+mj-lt"/>
            </a:endParaRPr>
          </a:p>
          <a:p>
            <a:pPr lvl="1"/>
            <a:endParaRPr lang="es-ES" sz="1400" b="0" dirty="0">
              <a:solidFill>
                <a:srgbClr val="CCCCCC"/>
              </a:solidFill>
              <a:effectLst/>
              <a:latin typeface="+mj-lt"/>
            </a:endParaRPr>
          </a:p>
          <a:p>
            <a:pPr lvl="1"/>
            <a:endParaRPr lang="es-ES" sz="1400" dirty="0"/>
          </a:p>
        </p:txBody>
      </p:sp>
      <p:pic>
        <p:nvPicPr>
          <p:cNvPr id="6" name="Imagen 5">
            <a:extLst>
              <a:ext uri="{FF2B5EF4-FFF2-40B4-BE49-F238E27FC236}">
                <a16:creationId xmlns:a16="http://schemas.microsoft.com/office/drawing/2014/main" id="{03DE8859-16C3-5CE3-C8A1-18BB292BA10C}"/>
              </a:ext>
            </a:extLst>
          </p:cNvPr>
          <p:cNvPicPr>
            <a:picLocks noChangeAspect="1"/>
          </p:cNvPicPr>
          <p:nvPr/>
        </p:nvPicPr>
        <p:blipFill>
          <a:blip r:embed="rId2"/>
          <a:stretch>
            <a:fillRect/>
          </a:stretch>
        </p:blipFill>
        <p:spPr>
          <a:xfrm>
            <a:off x="1819548" y="2909336"/>
            <a:ext cx="7360911" cy="701432"/>
          </a:xfrm>
          <a:prstGeom prst="rect">
            <a:avLst/>
          </a:prstGeom>
        </p:spPr>
      </p:pic>
      <p:pic>
        <p:nvPicPr>
          <p:cNvPr id="9" name="Imagen 8">
            <a:extLst>
              <a:ext uri="{FF2B5EF4-FFF2-40B4-BE49-F238E27FC236}">
                <a16:creationId xmlns:a16="http://schemas.microsoft.com/office/drawing/2014/main" id="{24DD5412-7B4B-73A6-6040-D301C6CDD5D9}"/>
              </a:ext>
            </a:extLst>
          </p:cNvPr>
          <p:cNvPicPr>
            <a:picLocks noChangeAspect="1"/>
          </p:cNvPicPr>
          <p:nvPr/>
        </p:nvPicPr>
        <p:blipFill>
          <a:blip r:embed="rId3"/>
          <a:stretch>
            <a:fillRect/>
          </a:stretch>
        </p:blipFill>
        <p:spPr>
          <a:xfrm>
            <a:off x="1374797" y="5460638"/>
            <a:ext cx="7360911" cy="661125"/>
          </a:xfrm>
          <a:prstGeom prst="rect">
            <a:avLst/>
          </a:prstGeom>
        </p:spPr>
      </p:pic>
      <p:pic>
        <p:nvPicPr>
          <p:cNvPr id="12" name="Imagen 11">
            <a:extLst>
              <a:ext uri="{FF2B5EF4-FFF2-40B4-BE49-F238E27FC236}">
                <a16:creationId xmlns:a16="http://schemas.microsoft.com/office/drawing/2014/main" id="{6F564435-77FF-25B0-C4D8-1D57D1883B46}"/>
              </a:ext>
            </a:extLst>
          </p:cNvPr>
          <p:cNvPicPr>
            <a:picLocks noChangeAspect="1"/>
          </p:cNvPicPr>
          <p:nvPr/>
        </p:nvPicPr>
        <p:blipFill>
          <a:blip r:embed="rId4"/>
          <a:stretch>
            <a:fillRect/>
          </a:stretch>
        </p:blipFill>
        <p:spPr>
          <a:xfrm>
            <a:off x="1374797" y="6172200"/>
            <a:ext cx="3695715" cy="545781"/>
          </a:xfrm>
          <a:prstGeom prst="rect">
            <a:avLst/>
          </a:prstGeom>
        </p:spPr>
      </p:pic>
      <p:sp>
        <p:nvSpPr>
          <p:cNvPr id="13" name="CuadroTexto 12">
            <a:extLst>
              <a:ext uri="{FF2B5EF4-FFF2-40B4-BE49-F238E27FC236}">
                <a16:creationId xmlns:a16="http://schemas.microsoft.com/office/drawing/2014/main" id="{4AB7EC7D-6556-87E0-8CC4-CE5245AF3414}"/>
              </a:ext>
            </a:extLst>
          </p:cNvPr>
          <p:cNvSpPr txBox="1"/>
          <p:nvPr/>
        </p:nvSpPr>
        <p:spPr>
          <a:xfrm>
            <a:off x="5234360" y="6243240"/>
            <a:ext cx="6096000" cy="461665"/>
          </a:xfrm>
          <a:prstGeom prst="rect">
            <a:avLst/>
          </a:prstGeom>
          <a:noFill/>
          <a:ln w="19050">
            <a:solidFill>
              <a:schemeClr val="accent1"/>
            </a:solid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s-ES" altLang="es-ES" sz="1200" i="0" u="none" strike="noStrike" cap="none" normalizeH="0" baseline="0" dirty="0">
                <a:ln>
                  <a:noFill/>
                </a:ln>
                <a:solidFill>
                  <a:schemeClr val="tx1"/>
                </a:solidFill>
                <a:effectLst/>
              </a:rPr>
              <a:t>Por default se crea con una partición, puede cambiar esto en </a:t>
            </a:r>
            <a:r>
              <a:rPr kumimoji="0" lang="es-ES" altLang="es-ES" sz="1200" i="0" u="none" strike="noStrike" cap="none" normalizeH="0" baseline="0" dirty="0" err="1">
                <a:ln>
                  <a:noFill/>
                </a:ln>
                <a:solidFill>
                  <a:schemeClr val="tx1"/>
                </a:solidFill>
                <a:effectLst/>
              </a:rPr>
              <a:t>server.properties</a:t>
            </a:r>
            <a:endParaRPr kumimoji="0" lang="es-ES" altLang="es-ES" sz="12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endParaRPr kumimoji="0" lang="es-ES" altLang="es-ES" sz="1200" i="0" u="none" strike="noStrike" cap="none" normalizeH="0" baseline="0" dirty="0">
              <a:ln>
                <a:noFill/>
              </a:ln>
              <a:solidFill>
                <a:schemeClr val="tx1"/>
              </a:solidFill>
              <a:effectLst/>
            </a:endParaRPr>
          </a:p>
        </p:txBody>
      </p:sp>
      <p:pic>
        <p:nvPicPr>
          <p:cNvPr id="15" name="Imagen 14">
            <a:extLst>
              <a:ext uri="{FF2B5EF4-FFF2-40B4-BE49-F238E27FC236}">
                <a16:creationId xmlns:a16="http://schemas.microsoft.com/office/drawing/2014/main" id="{C3280E7B-523D-15F0-3FA8-8E6C12B023F4}"/>
              </a:ext>
            </a:extLst>
          </p:cNvPr>
          <p:cNvPicPr>
            <a:picLocks noChangeAspect="1"/>
          </p:cNvPicPr>
          <p:nvPr/>
        </p:nvPicPr>
        <p:blipFill>
          <a:blip r:embed="rId5"/>
          <a:stretch>
            <a:fillRect/>
          </a:stretch>
        </p:blipFill>
        <p:spPr>
          <a:xfrm>
            <a:off x="5316842" y="6474072"/>
            <a:ext cx="1372718" cy="191542"/>
          </a:xfrm>
          <a:prstGeom prst="rect">
            <a:avLst/>
          </a:prstGeom>
        </p:spPr>
      </p:pic>
    </p:spTree>
    <p:extLst>
      <p:ext uri="{BB962C8B-B14F-4D97-AF65-F5344CB8AC3E}">
        <p14:creationId xmlns:p14="http://schemas.microsoft.com/office/powerpoint/2010/main" val="37363050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uadroTexto 8">
            <a:extLst>
              <a:ext uri="{FF2B5EF4-FFF2-40B4-BE49-F238E27FC236}">
                <a16:creationId xmlns:a16="http://schemas.microsoft.com/office/drawing/2014/main" id="{588E8754-2C08-B2A9-9838-91A0E71A81A7}"/>
              </a:ext>
            </a:extLst>
          </p:cNvPr>
          <p:cNvSpPr txBox="1"/>
          <p:nvPr/>
        </p:nvSpPr>
        <p:spPr>
          <a:xfrm>
            <a:off x="8414089" y="2858264"/>
            <a:ext cx="2790906" cy="2123658"/>
          </a:xfrm>
          <a:prstGeom prst="rect">
            <a:avLst/>
          </a:prstGeom>
          <a:noFill/>
          <a:ln w="19050">
            <a:solidFill>
              <a:schemeClr val="accent1"/>
            </a:solid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s-ES" altLang="es-ES" sz="1200" i="0" u="none" strike="noStrike" cap="none" normalizeH="0" baseline="0" dirty="0">
                <a:ln>
                  <a:noFill/>
                </a:ln>
                <a:solidFill>
                  <a:schemeClr val="tx1"/>
                </a:solidFill>
                <a:effectLst/>
              </a:rPr>
              <a:t>Al ver los mensajes del </a:t>
            </a:r>
            <a:r>
              <a:rPr kumimoji="0" lang="es-ES" altLang="es-ES" sz="1200" i="0" u="none" strike="noStrike" cap="none" normalizeH="0" baseline="0" dirty="0" err="1">
                <a:ln>
                  <a:noFill/>
                </a:ln>
                <a:solidFill>
                  <a:schemeClr val="tx1"/>
                </a:solidFill>
                <a:effectLst/>
              </a:rPr>
              <a:t>topic</a:t>
            </a:r>
            <a:endParaRPr kumimoji="0" lang="es-ES" altLang="es-ES" sz="12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endParaRPr lang="es-ES" altLang="es-ES" sz="1200" dirty="0"/>
          </a:p>
          <a:p>
            <a:pPr marL="0" marR="0" lvl="0" indent="0" algn="l" defTabSz="914400" rtl="0" eaLnBrk="0" fontAlgn="base" latinLnBrk="0" hangingPunct="0">
              <a:lnSpc>
                <a:spcPct val="100000"/>
              </a:lnSpc>
              <a:spcBef>
                <a:spcPct val="0"/>
              </a:spcBef>
              <a:spcAft>
                <a:spcPct val="0"/>
              </a:spcAft>
              <a:buClrTx/>
              <a:buSzTx/>
              <a:tabLst/>
            </a:pPr>
            <a:endParaRPr kumimoji="0" lang="es-ES" altLang="es-ES" sz="12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endParaRPr lang="es-ES" altLang="es-ES" sz="1200" dirty="0"/>
          </a:p>
          <a:p>
            <a:pPr marL="0" marR="0" lvl="0" indent="0" algn="l" defTabSz="914400" rtl="0" eaLnBrk="0" fontAlgn="base" latinLnBrk="0" hangingPunct="0">
              <a:lnSpc>
                <a:spcPct val="100000"/>
              </a:lnSpc>
              <a:spcBef>
                <a:spcPct val="0"/>
              </a:spcBef>
              <a:spcAft>
                <a:spcPct val="0"/>
              </a:spcAft>
              <a:buClrTx/>
              <a:buSzTx/>
              <a:tabLst/>
            </a:pPr>
            <a:endParaRPr kumimoji="0" lang="es-ES" altLang="es-ES" sz="12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endParaRPr lang="es-ES" altLang="es-ES" sz="1200" dirty="0"/>
          </a:p>
          <a:p>
            <a:pPr marL="0" marR="0" lvl="0" indent="0" algn="l" defTabSz="914400" rtl="0" eaLnBrk="0" fontAlgn="base" latinLnBrk="0" hangingPunct="0">
              <a:lnSpc>
                <a:spcPct val="100000"/>
              </a:lnSpc>
              <a:spcBef>
                <a:spcPct val="0"/>
              </a:spcBef>
              <a:spcAft>
                <a:spcPct val="0"/>
              </a:spcAft>
              <a:buClrTx/>
              <a:buSzTx/>
              <a:tabLst/>
            </a:pPr>
            <a:endParaRPr kumimoji="0" lang="es-ES" altLang="es-ES" sz="12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endParaRPr lang="es-ES" altLang="es-ES" sz="1200" dirty="0"/>
          </a:p>
          <a:p>
            <a:pPr marL="0" marR="0" lvl="0" indent="0" algn="l" defTabSz="914400" rtl="0" eaLnBrk="0" fontAlgn="base" latinLnBrk="0" hangingPunct="0">
              <a:lnSpc>
                <a:spcPct val="100000"/>
              </a:lnSpc>
              <a:spcBef>
                <a:spcPct val="0"/>
              </a:spcBef>
              <a:spcAft>
                <a:spcPct val="0"/>
              </a:spcAft>
              <a:buClrTx/>
              <a:buSzTx/>
              <a:tabLst/>
            </a:pPr>
            <a:endParaRPr kumimoji="0" lang="es-ES" altLang="es-ES" sz="12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endParaRPr kumimoji="0" lang="es-ES" altLang="es-ES" sz="12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endParaRPr kumimoji="0" lang="es-ES" altLang="es-ES" sz="1200" i="0" u="none" strike="noStrike" cap="none" normalizeH="0" baseline="0" dirty="0">
              <a:ln>
                <a:noFill/>
              </a:ln>
              <a:solidFill>
                <a:schemeClr val="tx1"/>
              </a:solidFill>
              <a:effectLst/>
            </a:endParaRPr>
          </a:p>
        </p:txBody>
      </p:sp>
      <p:sp>
        <p:nvSpPr>
          <p:cNvPr id="3" name="Marcador de contenido 2">
            <a:extLst>
              <a:ext uri="{FF2B5EF4-FFF2-40B4-BE49-F238E27FC236}">
                <a16:creationId xmlns:a16="http://schemas.microsoft.com/office/drawing/2014/main" id="{08E20ECB-61F3-6FF4-BD9F-ABD2449A04CA}"/>
              </a:ext>
            </a:extLst>
          </p:cNvPr>
          <p:cNvSpPr>
            <a:spLocks noGrp="1"/>
          </p:cNvSpPr>
          <p:nvPr>
            <p:ph idx="1"/>
          </p:nvPr>
        </p:nvSpPr>
        <p:spPr>
          <a:xfrm>
            <a:off x="1484310" y="1620253"/>
            <a:ext cx="10018713" cy="4170947"/>
          </a:xfrm>
        </p:spPr>
        <p:txBody>
          <a:bodyPr anchor="t">
            <a:normAutofit/>
          </a:bodyPr>
          <a:lstStyle/>
          <a:p>
            <a:r>
              <a:rPr lang="es-ES" sz="1800" dirty="0"/>
              <a:t>Cada mensaje puede llevar asociada una </a:t>
            </a:r>
            <a:r>
              <a:rPr lang="es-ES" sz="1800" dirty="0" err="1"/>
              <a:t>key</a:t>
            </a:r>
            <a:r>
              <a:rPr lang="es-ES" sz="1800" dirty="0"/>
              <a:t>, que lo identifique.</a:t>
            </a:r>
          </a:p>
          <a:p>
            <a:r>
              <a:rPr lang="es-ES" sz="1800" dirty="0"/>
              <a:t>Para escribir mensajes con </a:t>
            </a:r>
            <a:r>
              <a:rPr lang="es-ES" sz="1800" dirty="0" err="1"/>
              <a:t>keys</a:t>
            </a:r>
            <a:r>
              <a:rPr lang="es-ES" sz="1800" dirty="0"/>
              <a:t>:</a:t>
            </a:r>
          </a:p>
          <a:p>
            <a:pPr lvl="1"/>
            <a:r>
              <a:rPr lang="es-ES" sz="1400" b="0" dirty="0">
                <a:effectLst/>
              </a:rPr>
              <a:t>kafka-console-producer.sh </a:t>
            </a:r>
            <a:r>
              <a:rPr lang="es-ES" sz="1400" b="0" dirty="0">
                <a:solidFill>
                  <a:srgbClr val="569CD6"/>
                </a:solidFill>
                <a:effectLst/>
              </a:rPr>
              <a:t>--</a:t>
            </a:r>
            <a:r>
              <a:rPr lang="es-ES" sz="1400" b="0" dirty="0" err="1">
                <a:solidFill>
                  <a:srgbClr val="569CD6"/>
                </a:solidFill>
                <a:effectLst/>
              </a:rPr>
              <a:t>bootstrap</a:t>
            </a:r>
            <a:r>
              <a:rPr lang="es-ES" sz="1400" b="0" dirty="0">
                <a:solidFill>
                  <a:srgbClr val="569CD6"/>
                </a:solidFill>
                <a:effectLst/>
              </a:rPr>
              <a:t>-server</a:t>
            </a:r>
            <a:r>
              <a:rPr lang="es-ES" sz="1400" b="0" dirty="0">
                <a:solidFill>
                  <a:srgbClr val="CCCCCC"/>
                </a:solidFill>
                <a:effectLst/>
              </a:rPr>
              <a:t> </a:t>
            </a:r>
            <a:r>
              <a:rPr lang="es-ES" sz="1400" b="0" dirty="0">
                <a:solidFill>
                  <a:srgbClr val="CE9178"/>
                </a:solidFill>
                <a:effectLst/>
              </a:rPr>
              <a:t>127.0.0.1:9092</a:t>
            </a:r>
            <a:r>
              <a:rPr lang="es-ES" sz="1400" b="0" dirty="0">
                <a:solidFill>
                  <a:srgbClr val="CCCCCC"/>
                </a:solidFill>
                <a:effectLst/>
              </a:rPr>
              <a:t> </a:t>
            </a:r>
            <a:r>
              <a:rPr lang="es-ES" sz="1400" b="0" dirty="0">
                <a:solidFill>
                  <a:srgbClr val="569CD6"/>
                </a:solidFill>
                <a:effectLst/>
              </a:rPr>
              <a:t>--</a:t>
            </a:r>
            <a:r>
              <a:rPr lang="es-ES" sz="1400" b="0" dirty="0" err="1">
                <a:solidFill>
                  <a:srgbClr val="569CD6"/>
                </a:solidFill>
                <a:effectLst/>
              </a:rPr>
              <a:t>topic</a:t>
            </a:r>
            <a:r>
              <a:rPr lang="es-ES" sz="1400" b="0" dirty="0">
                <a:solidFill>
                  <a:srgbClr val="CCCCCC"/>
                </a:solidFill>
                <a:effectLst/>
              </a:rPr>
              <a:t> </a:t>
            </a:r>
            <a:r>
              <a:rPr lang="es-ES" sz="1400" b="0" dirty="0" err="1">
                <a:solidFill>
                  <a:srgbClr val="CE9178"/>
                </a:solidFill>
                <a:effectLst/>
              </a:rPr>
              <a:t>first_topic</a:t>
            </a:r>
            <a:r>
              <a:rPr lang="es-ES" sz="1400" b="0" dirty="0">
                <a:solidFill>
                  <a:srgbClr val="CCCCCC"/>
                </a:solidFill>
                <a:effectLst/>
              </a:rPr>
              <a:t> </a:t>
            </a:r>
            <a:r>
              <a:rPr lang="es-ES" sz="1400" b="0" dirty="0">
                <a:solidFill>
                  <a:srgbClr val="569CD6"/>
                </a:solidFill>
                <a:effectLst/>
              </a:rPr>
              <a:t>--</a:t>
            </a:r>
            <a:r>
              <a:rPr lang="es-ES" sz="1400" b="0" dirty="0" err="1">
                <a:solidFill>
                  <a:srgbClr val="569CD6"/>
                </a:solidFill>
                <a:effectLst/>
              </a:rPr>
              <a:t>property</a:t>
            </a:r>
            <a:r>
              <a:rPr lang="es-ES" sz="1400" b="0" dirty="0">
                <a:solidFill>
                  <a:srgbClr val="CCCCCC"/>
                </a:solidFill>
                <a:effectLst/>
              </a:rPr>
              <a:t> </a:t>
            </a:r>
            <a:r>
              <a:rPr lang="es-ES" sz="1400" b="0" dirty="0" err="1">
                <a:solidFill>
                  <a:srgbClr val="CE9178"/>
                </a:solidFill>
                <a:effectLst/>
              </a:rPr>
              <a:t>parse.key</a:t>
            </a:r>
            <a:r>
              <a:rPr lang="es-ES" sz="1400" b="0" dirty="0">
                <a:solidFill>
                  <a:srgbClr val="CE9178"/>
                </a:solidFill>
                <a:effectLst/>
              </a:rPr>
              <a:t>=</a:t>
            </a:r>
            <a:r>
              <a:rPr lang="es-ES" sz="1400" b="0" dirty="0">
                <a:solidFill>
                  <a:srgbClr val="569CD6"/>
                </a:solidFill>
                <a:effectLst/>
              </a:rPr>
              <a:t>true</a:t>
            </a:r>
            <a:r>
              <a:rPr lang="es-ES" sz="1400" b="0" dirty="0">
                <a:solidFill>
                  <a:srgbClr val="CCCCCC"/>
                </a:solidFill>
                <a:effectLst/>
              </a:rPr>
              <a:t> </a:t>
            </a:r>
            <a:r>
              <a:rPr lang="es-ES" sz="1400" b="0" dirty="0">
                <a:solidFill>
                  <a:srgbClr val="569CD6"/>
                </a:solidFill>
                <a:effectLst/>
              </a:rPr>
              <a:t>--</a:t>
            </a:r>
            <a:r>
              <a:rPr lang="es-ES" sz="1400" b="0" dirty="0" err="1">
                <a:solidFill>
                  <a:srgbClr val="569CD6"/>
                </a:solidFill>
                <a:effectLst/>
              </a:rPr>
              <a:t>property</a:t>
            </a:r>
            <a:r>
              <a:rPr lang="es-ES" sz="1400" b="0" dirty="0">
                <a:solidFill>
                  <a:srgbClr val="CCCCCC"/>
                </a:solidFill>
                <a:effectLst/>
              </a:rPr>
              <a:t> </a:t>
            </a:r>
            <a:r>
              <a:rPr lang="es-ES" sz="1400" b="0" dirty="0" err="1">
                <a:solidFill>
                  <a:srgbClr val="CE9178"/>
                </a:solidFill>
                <a:effectLst/>
              </a:rPr>
              <a:t>key.separator</a:t>
            </a:r>
            <a:r>
              <a:rPr lang="es-ES" sz="1400" b="0" dirty="0">
                <a:solidFill>
                  <a:srgbClr val="CE9178"/>
                </a:solidFill>
                <a:effectLst/>
              </a:rPr>
              <a:t>=":"</a:t>
            </a:r>
            <a:endParaRPr lang="es-ES" sz="1400" b="0" dirty="0">
              <a:solidFill>
                <a:srgbClr val="CCCCCC"/>
              </a:solidFill>
              <a:effectLst/>
            </a:endParaRPr>
          </a:p>
          <a:p>
            <a:pPr lvl="1"/>
            <a:endParaRPr lang="es-ES" sz="1400" dirty="0"/>
          </a:p>
        </p:txBody>
      </p:sp>
      <p:sp>
        <p:nvSpPr>
          <p:cNvPr id="4" name="Título 1">
            <a:extLst>
              <a:ext uri="{FF2B5EF4-FFF2-40B4-BE49-F238E27FC236}">
                <a16:creationId xmlns:a16="http://schemas.microsoft.com/office/drawing/2014/main" id="{A40EAA04-0B6F-B162-88F5-3FF2AA373F20}"/>
              </a:ext>
            </a:extLst>
          </p:cNvPr>
          <p:cNvSpPr>
            <a:spLocks noGrp="1"/>
          </p:cNvSpPr>
          <p:nvPr>
            <p:ph type="title"/>
          </p:nvPr>
        </p:nvSpPr>
        <p:spPr>
          <a:xfrm>
            <a:off x="1484311" y="685800"/>
            <a:ext cx="10018713" cy="846221"/>
          </a:xfrm>
        </p:spPr>
        <p:txBody>
          <a:bodyPr/>
          <a:lstStyle/>
          <a:p>
            <a:r>
              <a:rPr lang="es-ES" dirty="0"/>
              <a:t>Kafka </a:t>
            </a:r>
            <a:r>
              <a:rPr lang="es-ES" dirty="0" err="1"/>
              <a:t>console</a:t>
            </a:r>
            <a:r>
              <a:rPr lang="es-ES" dirty="0"/>
              <a:t> </a:t>
            </a:r>
            <a:r>
              <a:rPr lang="es-ES" dirty="0" err="1"/>
              <a:t>producer</a:t>
            </a:r>
            <a:r>
              <a:rPr lang="es-ES" dirty="0"/>
              <a:t> CLI</a:t>
            </a:r>
          </a:p>
        </p:txBody>
      </p:sp>
      <p:pic>
        <p:nvPicPr>
          <p:cNvPr id="6" name="Imagen 5">
            <a:extLst>
              <a:ext uri="{FF2B5EF4-FFF2-40B4-BE49-F238E27FC236}">
                <a16:creationId xmlns:a16="http://schemas.microsoft.com/office/drawing/2014/main" id="{67123994-0B62-0D28-6D55-840C920D7205}"/>
              </a:ext>
            </a:extLst>
          </p:cNvPr>
          <p:cNvPicPr>
            <a:picLocks noChangeAspect="1"/>
          </p:cNvPicPr>
          <p:nvPr/>
        </p:nvPicPr>
        <p:blipFill>
          <a:blip r:embed="rId2"/>
          <a:stretch>
            <a:fillRect/>
          </a:stretch>
        </p:blipFill>
        <p:spPr>
          <a:xfrm>
            <a:off x="8080182" y="1620253"/>
            <a:ext cx="3217558" cy="702153"/>
          </a:xfrm>
          <a:prstGeom prst="rect">
            <a:avLst/>
          </a:prstGeom>
        </p:spPr>
      </p:pic>
      <p:pic>
        <p:nvPicPr>
          <p:cNvPr id="8" name="Imagen 7">
            <a:extLst>
              <a:ext uri="{FF2B5EF4-FFF2-40B4-BE49-F238E27FC236}">
                <a16:creationId xmlns:a16="http://schemas.microsoft.com/office/drawing/2014/main" id="{A20B6DF2-1C51-2F72-B7FE-BE08B3FE3B7B}"/>
              </a:ext>
            </a:extLst>
          </p:cNvPr>
          <p:cNvPicPr>
            <a:picLocks noChangeAspect="1"/>
          </p:cNvPicPr>
          <p:nvPr/>
        </p:nvPicPr>
        <p:blipFill>
          <a:blip r:embed="rId3"/>
          <a:stretch>
            <a:fillRect/>
          </a:stretch>
        </p:blipFill>
        <p:spPr>
          <a:xfrm>
            <a:off x="8976584" y="3235605"/>
            <a:ext cx="2001868" cy="1368975"/>
          </a:xfrm>
          <a:prstGeom prst="rect">
            <a:avLst/>
          </a:prstGeom>
        </p:spPr>
      </p:pic>
    </p:spTree>
    <p:extLst>
      <p:ext uri="{BB962C8B-B14F-4D97-AF65-F5344CB8AC3E}">
        <p14:creationId xmlns:p14="http://schemas.microsoft.com/office/powerpoint/2010/main" val="15122930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8A473A3-C649-1B37-6133-EFF6C22AA892}"/>
              </a:ext>
            </a:extLst>
          </p:cNvPr>
          <p:cNvSpPr>
            <a:spLocks noGrp="1"/>
          </p:cNvSpPr>
          <p:nvPr>
            <p:ph idx="1"/>
          </p:nvPr>
        </p:nvSpPr>
        <p:spPr>
          <a:xfrm>
            <a:off x="1484310" y="4620126"/>
            <a:ext cx="10018713" cy="1552074"/>
          </a:xfrm>
        </p:spPr>
        <p:txBody>
          <a:bodyPr anchor="t">
            <a:normAutofit lnSpcReduction="10000"/>
          </a:bodyPr>
          <a:lstStyle/>
          <a:p>
            <a:r>
              <a:rPr lang="es-ES" sz="1800" dirty="0"/>
              <a:t>Consumir por el principio.</a:t>
            </a:r>
          </a:p>
          <a:p>
            <a:r>
              <a:rPr lang="es-ES" sz="1800" dirty="0"/>
              <a:t>Consumir por el final.</a:t>
            </a:r>
          </a:p>
          <a:p>
            <a:r>
              <a:rPr lang="es-ES" sz="1800" dirty="0"/>
              <a:t>Mostrar </a:t>
            </a:r>
            <a:r>
              <a:rPr lang="es-ES" sz="1800" dirty="0" err="1"/>
              <a:t>key</a:t>
            </a:r>
            <a:r>
              <a:rPr lang="es-ES" sz="1800" dirty="0"/>
              <a:t> y valor.</a:t>
            </a:r>
          </a:p>
          <a:p>
            <a:r>
              <a:rPr lang="es-ES" sz="1800" dirty="0"/>
              <a:t>Parámetro grupo</a:t>
            </a:r>
          </a:p>
        </p:txBody>
      </p:sp>
      <p:sp>
        <p:nvSpPr>
          <p:cNvPr id="4" name="Título 1">
            <a:extLst>
              <a:ext uri="{FF2B5EF4-FFF2-40B4-BE49-F238E27FC236}">
                <a16:creationId xmlns:a16="http://schemas.microsoft.com/office/drawing/2014/main" id="{0B601C8A-66E6-C090-26CB-BA145A12E8E0}"/>
              </a:ext>
            </a:extLst>
          </p:cNvPr>
          <p:cNvSpPr>
            <a:spLocks noGrp="1"/>
          </p:cNvSpPr>
          <p:nvPr>
            <p:ph type="title"/>
          </p:nvPr>
        </p:nvSpPr>
        <p:spPr>
          <a:xfrm>
            <a:off x="1484311" y="685800"/>
            <a:ext cx="10018713" cy="846221"/>
          </a:xfrm>
        </p:spPr>
        <p:txBody>
          <a:bodyPr/>
          <a:lstStyle/>
          <a:p>
            <a:r>
              <a:rPr lang="es-ES" dirty="0"/>
              <a:t>Kafka </a:t>
            </a:r>
            <a:r>
              <a:rPr lang="es-ES" dirty="0" err="1"/>
              <a:t>console</a:t>
            </a:r>
            <a:r>
              <a:rPr lang="es-ES" dirty="0"/>
              <a:t> </a:t>
            </a:r>
            <a:r>
              <a:rPr lang="es-ES" dirty="0" err="1"/>
              <a:t>consumer</a:t>
            </a:r>
            <a:r>
              <a:rPr lang="es-ES" dirty="0"/>
              <a:t> CLI</a:t>
            </a:r>
          </a:p>
        </p:txBody>
      </p:sp>
      <p:pic>
        <p:nvPicPr>
          <p:cNvPr id="6" name="Imagen 5">
            <a:extLst>
              <a:ext uri="{FF2B5EF4-FFF2-40B4-BE49-F238E27FC236}">
                <a16:creationId xmlns:a16="http://schemas.microsoft.com/office/drawing/2014/main" id="{973DC1D1-C0E8-84ED-605A-F2BD1AB315BD}"/>
              </a:ext>
            </a:extLst>
          </p:cNvPr>
          <p:cNvPicPr>
            <a:picLocks noChangeAspect="1"/>
          </p:cNvPicPr>
          <p:nvPr/>
        </p:nvPicPr>
        <p:blipFill>
          <a:blip r:embed="rId2"/>
          <a:stretch>
            <a:fillRect/>
          </a:stretch>
        </p:blipFill>
        <p:spPr>
          <a:xfrm>
            <a:off x="1366382" y="1680466"/>
            <a:ext cx="9269119" cy="2791215"/>
          </a:xfrm>
          <a:prstGeom prst="rect">
            <a:avLst/>
          </a:prstGeom>
        </p:spPr>
      </p:pic>
    </p:spTree>
    <p:extLst>
      <p:ext uri="{BB962C8B-B14F-4D97-AF65-F5344CB8AC3E}">
        <p14:creationId xmlns:p14="http://schemas.microsoft.com/office/powerpoint/2010/main" val="2228884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6E46A-0D7D-9178-4DCE-A42DFD0C5193}"/>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3C34AFC2-A950-7A97-E7DA-BCF853B0439C}"/>
              </a:ext>
            </a:extLst>
          </p:cNvPr>
          <p:cNvSpPr>
            <a:spLocks noGrp="1"/>
          </p:cNvSpPr>
          <p:nvPr>
            <p:ph idx="1"/>
          </p:nvPr>
        </p:nvSpPr>
        <p:spPr>
          <a:xfrm>
            <a:off x="1484310" y="1644315"/>
            <a:ext cx="10018713" cy="4868779"/>
          </a:xfrm>
        </p:spPr>
        <p:txBody>
          <a:bodyPr anchor="t">
            <a:normAutofit/>
          </a:bodyPr>
          <a:lstStyle/>
          <a:p>
            <a:r>
              <a:rPr lang="es-ES" sz="1800" dirty="0"/>
              <a:t>Ver las opciones del comando</a:t>
            </a:r>
          </a:p>
          <a:p>
            <a:pPr lvl="1"/>
            <a:r>
              <a:rPr lang="es-ES" sz="1800" b="0" dirty="0">
                <a:effectLst/>
              </a:rPr>
              <a:t>kafka-console-consumer.sh</a:t>
            </a:r>
            <a:endParaRPr lang="es-ES" sz="1800" dirty="0"/>
          </a:p>
          <a:p>
            <a:r>
              <a:rPr lang="es-ES" sz="1800" dirty="0"/>
              <a:t>Consumir por el principio</a:t>
            </a:r>
          </a:p>
          <a:p>
            <a:pPr lvl="1"/>
            <a:r>
              <a:rPr lang="en-US" sz="1400" b="0" dirty="0">
                <a:effectLst/>
              </a:rPr>
              <a:t>kafka-console-consumer.sh </a:t>
            </a:r>
            <a:r>
              <a:rPr lang="en-US" sz="1400" b="0" dirty="0">
                <a:solidFill>
                  <a:srgbClr val="569CD6"/>
                </a:solidFill>
                <a:effectLst/>
              </a:rPr>
              <a:t>--bootstrap-server</a:t>
            </a:r>
            <a:r>
              <a:rPr lang="en-US" sz="1400" b="0" dirty="0">
                <a:solidFill>
                  <a:srgbClr val="CCCCCC"/>
                </a:solidFill>
                <a:effectLst/>
              </a:rPr>
              <a:t> </a:t>
            </a:r>
            <a:r>
              <a:rPr lang="en-US" sz="1400" b="0" dirty="0">
                <a:solidFill>
                  <a:srgbClr val="CE9178"/>
                </a:solidFill>
                <a:effectLst/>
              </a:rPr>
              <a:t>127.0.0.1:9092</a:t>
            </a:r>
            <a:r>
              <a:rPr lang="en-US" sz="1400" b="0" dirty="0">
                <a:solidFill>
                  <a:srgbClr val="CCCCCC"/>
                </a:solidFill>
                <a:effectLst/>
              </a:rPr>
              <a:t> </a:t>
            </a:r>
            <a:r>
              <a:rPr lang="en-US" sz="1400" b="0" dirty="0">
                <a:solidFill>
                  <a:srgbClr val="569CD6"/>
                </a:solidFill>
                <a:effectLst/>
              </a:rPr>
              <a:t>--topic</a:t>
            </a:r>
            <a:r>
              <a:rPr lang="en-US" sz="1400" b="0" dirty="0">
                <a:solidFill>
                  <a:srgbClr val="CCCCCC"/>
                </a:solidFill>
                <a:effectLst/>
              </a:rPr>
              <a:t> </a:t>
            </a:r>
            <a:r>
              <a:rPr lang="en-US" sz="1400" b="0" dirty="0" err="1">
                <a:solidFill>
                  <a:srgbClr val="CE9178"/>
                </a:solidFill>
                <a:effectLst/>
              </a:rPr>
              <a:t>first_topic</a:t>
            </a:r>
            <a:r>
              <a:rPr lang="en-US" sz="1400" b="0" dirty="0">
                <a:solidFill>
                  <a:srgbClr val="CCCCCC"/>
                </a:solidFill>
                <a:effectLst/>
              </a:rPr>
              <a:t> </a:t>
            </a:r>
            <a:r>
              <a:rPr lang="en-US" sz="1400" b="0" dirty="0">
                <a:solidFill>
                  <a:srgbClr val="569CD6"/>
                </a:solidFill>
                <a:effectLst/>
              </a:rPr>
              <a:t>--from-beginning</a:t>
            </a:r>
          </a:p>
          <a:p>
            <a:r>
              <a:rPr lang="en-US" sz="1800" dirty="0" err="1"/>
              <a:t>Consumir</a:t>
            </a:r>
            <a:r>
              <a:rPr lang="en-US" sz="1800" dirty="0"/>
              <a:t> </a:t>
            </a:r>
            <a:r>
              <a:rPr lang="en-US" sz="1800" dirty="0" err="1"/>
              <a:t>en</a:t>
            </a:r>
            <a:r>
              <a:rPr lang="en-US" sz="1800" dirty="0"/>
              <a:t> </a:t>
            </a:r>
            <a:r>
              <a:rPr lang="en-US" sz="1800" dirty="0" err="1"/>
              <a:t>tiempo</a:t>
            </a:r>
            <a:r>
              <a:rPr lang="en-US" sz="1800" dirty="0"/>
              <a:t> real. Si no </a:t>
            </a:r>
            <a:r>
              <a:rPr lang="en-US" sz="1800" dirty="0" err="1"/>
              <a:t>especificamos</a:t>
            </a:r>
            <a:r>
              <a:rPr lang="en-US" sz="1800" dirty="0"/>
              <a:t> nada, </a:t>
            </a:r>
            <a:r>
              <a:rPr lang="en-US" sz="1800" dirty="0" err="1"/>
              <a:t>nos</a:t>
            </a:r>
            <a:r>
              <a:rPr lang="en-US" sz="1800" dirty="0"/>
              <a:t> </a:t>
            </a:r>
            <a:r>
              <a:rPr lang="en-US" sz="1800" dirty="0" err="1"/>
              <a:t>apareceran</a:t>
            </a:r>
            <a:r>
              <a:rPr lang="en-US" sz="1800" dirty="0"/>
              <a:t> </a:t>
            </a:r>
            <a:r>
              <a:rPr lang="en-US" sz="1800" dirty="0" err="1"/>
              <a:t>los</a:t>
            </a:r>
            <a:r>
              <a:rPr lang="en-US" sz="1800" dirty="0"/>
              <a:t> </a:t>
            </a:r>
            <a:r>
              <a:rPr lang="en-US" sz="1800" dirty="0" err="1"/>
              <a:t>mensajes</a:t>
            </a:r>
            <a:r>
              <a:rPr lang="en-US" sz="1800" dirty="0"/>
              <a:t> que se van </a:t>
            </a:r>
            <a:r>
              <a:rPr lang="en-US" sz="1800" dirty="0" err="1"/>
              <a:t>escribiendo</a:t>
            </a:r>
            <a:r>
              <a:rPr lang="en-US" sz="1800" dirty="0"/>
              <a:t> </a:t>
            </a:r>
            <a:r>
              <a:rPr lang="en-US" sz="1800" dirty="0" err="1"/>
              <a:t>en</a:t>
            </a:r>
            <a:r>
              <a:rPr lang="en-US" sz="1800" dirty="0"/>
              <a:t> </a:t>
            </a:r>
            <a:r>
              <a:rPr lang="en-US" sz="1800" dirty="0" err="1"/>
              <a:t>el</a:t>
            </a:r>
            <a:r>
              <a:rPr lang="en-US" sz="1800" dirty="0"/>
              <a:t> </a:t>
            </a:r>
            <a:r>
              <a:rPr lang="en-US" sz="1800" dirty="0" err="1"/>
              <a:t>momento</a:t>
            </a:r>
            <a:r>
              <a:rPr lang="en-US" sz="1800" dirty="0"/>
              <a:t> </a:t>
            </a:r>
            <a:r>
              <a:rPr lang="en-US" sz="1800" dirty="0" err="1"/>
              <a:t>concreto</a:t>
            </a:r>
            <a:r>
              <a:rPr lang="en-US" sz="1800" dirty="0"/>
              <a:t>.</a:t>
            </a:r>
          </a:p>
          <a:p>
            <a:pPr lvl="1"/>
            <a:r>
              <a:rPr lang="en-US" sz="1400" dirty="0"/>
              <a:t>En </a:t>
            </a:r>
            <a:r>
              <a:rPr lang="en-US" sz="1400" dirty="0" err="1"/>
              <a:t>una</a:t>
            </a:r>
            <a:r>
              <a:rPr lang="en-US" sz="1400" dirty="0"/>
              <a:t> terminal: </a:t>
            </a:r>
            <a:r>
              <a:rPr lang="es-ES" sz="1400" b="0" dirty="0">
                <a:effectLst/>
              </a:rPr>
              <a:t>kafka-console-consumer.sh </a:t>
            </a:r>
            <a:r>
              <a:rPr lang="es-ES" sz="1400" b="0" dirty="0">
                <a:solidFill>
                  <a:srgbClr val="569CD6"/>
                </a:solidFill>
                <a:effectLst/>
              </a:rPr>
              <a:t>--</a:t>
            </a:r>
            <a:r>
              <a:rPr lang="es-ES" sz="1400" b="0" dirty="0" err="1">
                <a:solidFill>
                  <a:srgbClr val="569CD6"/>
                </a:solidFill>
                <a:effectLst/>
              </a:rPr>
              <a:t>bootstrap</a:t>
            </a:r>
            <a:r>
              <a:rPr lang="es-ES" sz="1400" b="0" dirty="0">
                <a:solidFill>
                  <a:srgbClr val="569CD6"/>
                </a:solidFill>
                <a:effectLst/>
              </a:rPr>
              <a:t>-server</a:t>
            </a:r>
            <a:r>
              <a:rPr lang="es-ES" sz="1400" b="0" dirty="0">
                <a:solidFill>
                  <a:srgbClr val="CCCCCC"/>
                </a:solidFill>
                <a:effectLst/>
              </a:rPr>
              <a:t> </a:t>
            </a:r>
            <a:r>
              <a:rPr lang="es-ES" sz="1400" b="0" dirty="0">
                <a:solidFill>
                  <a:srgbClr val="CE9178"/>
                </a:solidFill>
                <a:effectLst/>
              </a:rPr>
              <a:t>127.0.0.1:9092</a:t>
            </a:r>
            <a:r>
              <a:rPr lang="es-ES" sz="1400" b="0" dirty="0">
                <a:solidFill>
                  <a:srgbClr val="CCCCCC"/>
                </a:solidFill>
                <a:effectLst/>
              </a:rPr>
              <a:t> </a:t>
            </a:r>
            <a:r>
              <a:rPr lang="es-ES" sz="1400" b="0" dirty="0">
                <a:solidFill>
                  <a:srgbClr val="569CD6"/>
                </a:solidFill>
                <a:effectLst/>
              </a:rPr>
              <a:t>--</a:t>
            </a:r>
            <a:r>
              <a:rPr lang="es-ES" sz="1400" b="0" dirty="0" err="1">
                <a:solidFill>
                  <a:srgbClr val="569CD6"/>
                </a:solidFill>
                <a:effectLst/>
              </a:rPr>
              <a:t>topic</a:t>
            </a:r>
            <a:r>
              <a:rPr lang="es-ES" sz="1400" b="0" dirty="0">
                <a:solidFill>
                  <a:srgbClr val="CCCCCC"/>
                </a:solidFill>
                <a:effectLst/>
              </a:rPr>
              <a:t> </a:t>
            </a:r>
            <a:r>
              <a:rPr lang="es-ES" sz="1400" b="0" dirty="0" err="1">
                <a:solidFill>
                  <a:srgbClr val="CE9178"/>
                </a:solidFill>
                <a:effectLst/>
              </a:rPr>
              <a:t>first_topic</a:t>
            </a:r>
            <a:endParaRPr lang="es-ES" sz="1400" b="0" dirty="0">
              <a:solidFill>
                <a:srgbClr val="CCCCCC"/>
              </a:solidFill>
              <a:effectLst/>
            </a:endParaRPr>
          </a:p>
          <a:p>
            <a:pPr lvl="1"/>
            <a:r>
              <a:rPr lang="en-US" sz="1400" dirty="0"/>
              <a:t>En </a:t>
            </a:r>
            <a:r>
              <a:rPr lang="en-US" sz="1400" dirty="0" err="1"/>
              <a:t>otra</a:t>
            </a:r>
            <a:r>
              <a:rPr lang="en-US" sz="1400" dirty="0"/>
              <a:t> terminal, </a:t>
            </a:r>
            <a:r>
              <a:rPr lang="en-US" sz="1400" dirty="0" err="1"/>
              <a:t>escribimos</a:t>
            </a:r>
            <a:r>
              <a:rPr lang="en-US" sz="1400" dirty="0"/>
              <a:t> </a:t>
            </a:r>
            <a:r>
              <a:rPr lang="en-US" sz="1400" dirty="0" err="1"/>
              <a:t>mensajes</a:t>
            </a:r>
            <a:r>
              <a:rPr lang="en-US" sz="1400" dirty="0"/>
              <a:t> (console producer)</a:t>
            </a:r>
          </a:p>
          <a:p>
            <a:pPr lvl="1"/>
            <a:r>
              <a:rPr lang="en-US" sz="1400" dirty="0" err="1"/>
              <a:t>Veremos</a:t>
            </a:r>
            <a:r>
              <a:rPr lang="en-US" sz="1400" dirty="0"/>
              <a:t> que no </a:t>
            </a:r>
            <a:r>
              <a:rPr lang="en-US" sz="1400" dirty="0" err="1"/>
              <a:t>aparece</a:t>
            </a:r>
            <a:r>
              <a:rPr lang="en-US" sz="1400" dirty="0"/>
              <a:t> nada hasta </a:t>
            </a:r>
            <a:r>
              <a:rPr lang="en-US" sz="1400" dirty="0" err="1"/>
              <a:t>escribirlo</a:t>
            </a:r>
            <a:r>
              <a:rPr lang="en-US" sz="1400" dirty="0"/>
              <a:t> </a:t>
            </a:r>
            <a:r>
              <a:rPr lang="en-US" sz="1400" dirty="0" err="1"/>
              <a:t>en</a:t>
            </a:r>
            <a:r>
              <a:rPr lang="en-US" sz="1400" dirty="0"/>
              <a:t> la Segunda terminal.</a:t>
            </a:r>
          </a:p>
          <a:p>
            <a:pPr lvl="1"/>
            <a:endParaRPr lang="en-US" sz="1400" dirty="0"/>
          </a:p>
          <a:p>
            <a:r>
              <a:rPr lang="en-US" sz="1800" dirty="0"/>
              <a:t>Ver </a:t>
            </a:r>
            <a:r>
              <a:rPr lang="en-US" sz="1800" dirty="0" err="1"/>
              <a:t>mensajes</a:t>
            </a:r>
            <a:r>
              <a:rPr lang="en-US" sz="1800" dirty="0"/>
              <a:t> con key y </a:t>
            </a:r>
            <a:r>
              <a:rPr lang="en-US" sz="1800" dirty="0" err="1"/>
              <a:t>mensaje</a:t>
            </a:r>
            <a:r>
              <a:rPr lang="en-US" sz="1800" dirty="0"/>
              <a:t>.</a:t>
            </a:r>
          </a:p>
          <a:p>
            <a:pPr lvl="1"/>
            <a:r>
              <a:rPr lang="es-ES" sz="1400" b="0" dirty="0">
                <a:effectLst/>
              </a:rPr>
              <a:t>kafka-console-consumer.sh </a:t>
            </a:r>
            <a:r>
              <a:rPr lang="es-ES" sz="1400" b="0" dirty="0">
                <a:solidFill>
                  <a:srgbClr val="569CD6"/>
                </a:solidFill>
                <a:effectLst/>
              </a:rPr>
              <a:t>--</a:t>
            </a:r>
            <a:r>
              <a:rPr lang="es-ES" sz="1400" b="0" dirty="0" err="1">
                <a:solidFill>
                  <a:srgbClr val="569CD6"/>
                </a:solidFill>
                <a:effectLst/>
              </a:rPr>
              <a:t>bootstrap</a:t>
            </a:r>
            <a:r>
              <a:rPr lang="es-ES" sz="1400" b="0" dirty="0">
                <a:solidFill>
                  <a:srgbClr val="569CD6"/>
                </a:solidFill>
                <a:effectLst/>
              </a:rPr>
              <a:t>-server</a:t>
            </a:r>
            <a:r>
              <a:rPr lang="es-ES" sz="1400" b="0" dirty="0">
                <a:solidFill>
                  <a:srgbClr val="CCCCCC"/>
                </a:solidFill>
                <a:effectLst/>
              </a:rPr>
              <a:t> </a:t>
            </a:r>
            <a:r>
              <a:rPr lang="es-ES" sz="1400" b="0" dirty="0">
                <a:solidFill>
                  <a:srgbClr val="CE9178"/>
                </a:solidFill>
                <a:effectLst/>
              </a:rPr>
              <a:t>127.0.0.1:9092</a:t>
            </a:r>
            <a:r>
              <a:rPr lang="es-ES" sz="1400" b="0" dirty="0">
                <a:solidFill>
                  <a:srgbClr val="CCCCCC"/>
                </a:solidFill>
                <a:effectLst/>
              </a:rPr>
              <a:t> </a:t>
            </a:r>
            <a:r>
              <a:rPr lang="es-ES" sz="1400" b="0" dirty="0">
                <a:solidFill>
                  <a:srgbClr val="569CD6"/>
                </a:solidFill>
                <a:effectLst/>
              </a:rPr>
              <a:t>--</a:t>
            </a:r>
            <a:r>
              <a:rPr lang="es-ES" sz="1400" b="0" dirty="0" err="1">
                <a:solidFill>
                  <a:srgbClr val="569CD6"/>
                </a:solidFill>
                <a:effectLst/>
              </a:rPr>
              <a:t>topic</a:t>
            </a:r>
            <a:r>
              <a:rPr lang="es-ES" sz="1400" b="0" dirty="0">
                <a:solidFill>
                  <a:srgbClr val="CCCCCC"/>
                </a:solidFill>
                <a:effectLst/>
              </a:rPr>
              <a:t> </a:t>
            </a:r>
            <a:r>
              <a:rPr lang="es-ES" sz="1400" b="0" dirty="0" err="1">
                <a:solidFill>
                  <a:srgbClr val="CE9178"/>
                </a:solidFill>
                <a:effectLst/>
              </a:rPr>
              <a:t>first_topic</a:t>
            </a:r>
            <a:r>
              <a:rPr lang="es-ES" sz="1400" b="0" dirty="0">
                <a:solidFill>
                  <a:srgbClr val="CCCCCC"/>
                </a:solidFill>
                <a:effectLst/>
              </a:rPr>
              <a:t> </a:t>
            </a:r>
            <a:r>
              <a:rPr lang="es-ES" sz="1400" b="0" dirty="0">
                <a:solidFill>
                  <a:srgbClr val="569CD6"/>
                </a:solidFill>
                <a:effectLst/>
              </a:rPr>
              <a:t>--</a:t>
            </a:r>
            <a:r>
              <a:rPr lang="es-ES" sz="1400" b="0" dirty="0" err="1">
                <a:solidFill>
                  <a:srgbClr val="569CD6"/>
                </a:solidFill>
                <a:effectLst/>
              </a:rPr>
              <a:t>property</a:t>
            </a:r>
            <a:r>
              <a:rPr lang="es-ES" sz="1400" b="0" dirty="0">
                <a:solidFill>
                  <a:srgbClr val="CCCCCC"/>
                </a:solidFill>
                <a:effectLst/>
              </a:rPr>
              <a:t> </a:t>
            </a:r>
            <a:r>
              <a:rPr lang="es-ES" sz="1400" b="0" dirty="0" err="1">
                <a:solidFill>
                  <a:srgbClr val="CE9178"/>
                </a:solidFill>
                <a:effectLst/>
              </a:rPr>
              <a:t>print.key</a:t>
            </a:r>
            <a:r>
              <a:rPr lang="es-ES" sz="1400" b="0" dirty="0">
                <a:solidFill>
                  <a:srgbClr val="CE9178"/>
                </a:solidFill>
                <a:effectLst/>
              </a:rPr>
              <a:t>=</a:t>
            </a:r>
            <a:r>
              <a:rPr lang="es-ES" sz="1400" b="0" dirty="0">
                <a:solidFill>
                  <a:srgbClr val="569CD6"/>
                </a:solidFill>
                <a:effectLst/>
              </a:rPr>
              <a:t>true</a:t>
            </a:r>
            <a:r>
              <a:rPr lang="es-ES" sz="1400" b="0" dirty="0">
                <a:solidFill>
                  <a:srgbClr val="CCCCCC"/>
                </a:solidFill>
                <a:effectLst/>
              </a:rPr>
              <a:t> </a:t>
            </a:r>
            <a:r>
              <a:rPr lang="es-ES" sz="1400" b="0" dirty="0">
                <a:solidFill>
                  <a:srgbClr val="569CD6"/>
                </a:solidFill>
                <a:effectLst/>
              </a:rPr>
              <a:t>--</a:t>
            </a:r>
            <a:r>
              <a:rPr lang="es-ES" sz="1400" b="0" dirty="0" err="1">
                <a:solidFill>
                  <a:srgbClr val="569CD6"/>
                </a:solidFill>
                <a:effectLst/>
              </a:rPr>
              <a:t>property</a:t>
            </a:r>
            <a:r>
              <a:rPr lang="es-ES" sz="1400" b="0" dirty="0">
                <a:solidFill>
                  <a:srgbClr val="CCCCCC"/>
                </a:solidFill>
                <a:effectLst/>
              </a:rPr>
              <a:t> </a:t>
            </a:r>
            <a:r>
              <a:rPr lang="es-ES" sz="1400" b="0" dirty="0" err="1">
                <a:solidFill>
                  <a:srgbClr val="CE9178"/>
                </a:solidFill>
                <a:effectLst/>
              </a:rPr>
              <a:t>print.value</a:t>
            </a:r>
            <a:r>
              <a:rPr lang="es-ES" sz="1400" b="0" dirty="0">
                <a:solidFill>
                  <a:srgbClr val="CE9178"/>
                </a:solidFill>
                <a:effectLst/>
              </a:rPr>
              <a:t>=</a:t>
            </a:r>
            <a:r>
              <a:rPr lang="es-ES" sz="1400" b="0" dirty="0">
                <a:solidFill>
                  <a:srgbClr val="569CD6"/>
                </a:solidFill>
                <a:effectLst/>
              </a:rPr>
              <a:t>true</a:t>
            </a:r>
            <a:r>
              <a:rPr lang="es-ES" sz="1400" b="0" dirty="0">
                <a:solidFill>
                  <a:srgbClr val="CCCCCC"/>
                </a:solidFill>
                <a:effectLst/>
              </a:rPr>
              <a:t> </a:t>
            </a:r>
            <a:r>
              <a:rPr lang="es-ES" sz="1400" b="0" dirty="0">
                <a:solidFill>
                  <a:srgbClr val="569CD6"/>
                </a:solidFill>
                <a:effectLst/>
              </a:rPr>
              <a:t>--</a:t>
            </a:r>
            <a:r>
              <a:rPr lang="es-ES" sz="1400" b="0" dirty="0" err="1">
                <a:solidFill>
                  <a:srgbClr val="569CD6"/>
                </a:solidFill>
                <a:effectLst/>
              </a:rPr>
              <a:t>property</a:t>
            </a:r>
            <a:r>
              <a:rPr lang="es-ES" sz="1400" b="0" dirty="0">
                <a:solidFill>
                  <a:srgbClr val="CCCCCC"/>
                </a:solidFill>
                <a:effectLst/>
              </a:rPr>
              <a:t> </a:t>
            </a:r>
            <a:r>
              <a:rPr lang="es-ES" sz="1400" b="0" dirty="0" err="1">
                <a:solidFill>
                  <a:srgbClr val="CE9178"/>
                </a:solidFill>
                <a:effectLst/>
              </a:rPr>
              <a:t>key.separator</a:t>
            </a:r>
            <a:r>
              <a:rPr lang="es-ES" sz="1400" b="0" dirty="0">
                <a:solidFill>
                  <a:srgbClr val="CE9178"/>
                </a:solidFill>
                <a:effectLst/>
              </a:rPr>
              <a:t>=" : "</a:t>
            </a:r>
            <a:r>
              <a:rPr lang="es-ES" sz="1400" b="0" dirty="0">
                <a:solidFill>
                  <a:srgbClr val="CCCCCC"/>
                </a:solidFill>
                <a:effectLst/>
              </a:rPr>
              <a:t> </a:t>
            </a:r>
            <a:r>
              <a:rPr lang="es-ES" sz="1400" b="0" dirty="0">
                <a:solidFill>
                  <a:srgbClr val="569CD6"/>
                </a:solidFill>
                <a:effectLst/>
              </a:rPr>
              <a:t>--</a:t>
            </a:r>
            <a:r>
              <a:rPr lang="es-ES" sz="1400" b="0" dirty="0" err="1">
                <a:solidFill>
                  <a:srgbClr val="569CD6"/>
                </a:solidFill>
                <a:effectLst/>
              </a:rPr>
              <a:t>from-beginning</a:t>
            </a:r>
            <a:endParaRPr lang="es-ES" sz="1400" b="0" dirty="0">
              <a:solidFill>
                <a:srgbClr val="CCCCCC"/>
              </a:solidFill>
              <a:effectLst/>
            </a:endParaRPr>
          </a:p>
          <a:p>
            <a:pPr lvl="1"/>
            <a:endParaRPr lang="en-US" sz="1400" dirty="0"/>
          </a:p>
          <a:p>
            <a:pPr lvl="1"/>
            <a:endParaRPr lang="en-US" sz="1400" b="0" dirty="0">
              <a:effectLst/>
            </a:endParaRPr>
          </a:p>
          <a:p>
            <a:pPr lvl="1"/>
            <a:endParaRPr lang="es-ES" sz="1400" dirty="0"/>
          </a:p>
        </p:txBody>
      </p:sp>
      <p:sp>
        <p:nvSpPr>
          <p:cNvPr id="4" name="Título 1">
            <a:extLst>
              <a:ext uri="{FF2B5EF4-FFF2-40B4-BE49-F238E27FC236}">
                <a16:creationId xmlns:a16="http://schemas.microsoft.com/office/drawing/2014/main" id="{D3108673-9810-03D2-F4FA-92DBB21B2FDC}"/>
              </a:ext>
            </a:extLst>
          </p:cNvPr>
          <p:cNvSpPr>
            <a:spLocks noGrp="1"/>
          </p:cNvSpPr>
          <p:nvPr>
            <p:ph type="title"/>
          </p:nvPr>
        </p:nvSpPr>
        <p:spPr>
          <a:xfrm>
            <a:off x="1484311" y="685800"/>
            <a:ext cx="10018713" cy="846221"/>
          </a:xfrm>
        </p:spPr>
        <p:txBody>
          <a:bodyPr/>
          <a:lstStyle/>
          <a:p>
            <a:r>
              <a:rPr lang="es-ES" dirty="0"/>
              <a:t>Kafka </a:t>
            </a:r>
            <a:r>
              <a:rPr lang="es-ES" dirty="0" err="1"/>
              <a:t>console</a:t>
            </a:r>
            <a:r>
              <a:rPr lang="es-ES" dirty="0"/>
              <a:t> </a:t>
            </a:r>
            <a:r>
              <a:rPr lang="es-ES" dirty="0" err="1"/>
              <a:t>consumer</a:t>
            </a:r>
            <a:r>
              <a:rPr lang="es-ES" dirty="0"/>
              <a:t> CLI</a:t>
            </a:r>
          </a:p>
        </p:txBody>
      </p:sp>
      <p:pic>
        <p:nvPicPr>
          <p:cNvPr id="5" name="Imagen 4">
            <a:extLst>
              <a:ext uri="{FF2B5EF4-FFF2-40B4-BE49-F238E27FC236}">
                <a16:creationId xmlns:a16="http://schemas.microsoft.com/office/drawing/2014/main" id="{3577CF93-2CD3-C571-18F0-2BD993F9F330}"/>
              </a:ext>
            </a:extLst>
          </p:cNvPr>
          <p:cNvPicPr>
            <a:picLocks noChangeAspect="1"/>
          </p:cNvPicPr>
          <p:nvPr/>
        </p:nvPicPr>
        <p:blipFill>
          <a:blip r:embed="rId2"/>
          <a:stretch>
            <a:fillRect/>
          </a:stretch>
        </p:blipFill>
        <p:spPr>
          <a:xfrm>
            <a:off x="8274087" y="1464984"/>
            <a:ext cx="3135060" cy="1319452"/>
          </a:xfrm>
          <a:prstGeom prst="rect">
            <a:avLst/>
          </a:prstGeom>
        </p:spPr>
      </p:pic>
      <p:pic>
        <p:nvPicPr>
          <p:cNvPr id="7" name="Imagen 6">
            <a:extLst>
              <a:ext uri="{FF2B5EF4-FFF2-40B4-BE49-F238E27FC236}">
                <a16:creationId xmlns:a16="http://schemas.microsoft.com/office/drawing/2014/main" id="{F398D57F-5CB0-66DE-1C33-0E2CF1B2D955}"/>
              </a:ext>
            </a:extLst>
          </p:cNvPr>
          <p:cNvPicPr>
            <a:picLocks noChangeAspect="1"/>
          </p:cNvPicPr>
          <p:nvPr/>
        </p:nvPicPr>
        <p:blipFill>
          <a:blip r:embed="rId3"/>
          <a:stretch>
            <a:fillRect/>
          </a:stretch>
        </p:blipFill>
        <p:spPr>
          <a:xfrm>
            <a:off x="2279136" y="4864432"/>
            <a:ext cx="6680380" cy="349252"/>
          </a:xfrm>
          <a:prstGeom prst="rect">
            <a:avLst/>
          </a:prstGeom>
        </p:spPr>
      </p:pic>
      <p:pic>
        <p:nvPicPr>
          <p:cNvPr id="9" name="Imagen 8">
            <a:extLst>
              <a:ext uri="{FF2B5EF4-FFF2-40B4-BE49-F238E27FC236}">
                <a16:creationId xmlns:a16="http://schemas.microsoft.com/office/drawing/2014/main" id="{F578A392-C2E7-2D05-BDE7-0E312803FB38}"/>
              </a:ext>
            </a:extLst>
          </p:cNvPr>
          <p:cNvPicPr>
            <a:picLocks noChangeAspect="1"/>
          </p:cNvPicPr>
          <p:nvPr/>
        </p:nvPicPr>
        <p:blipFill>
          <a:blip r:embed="rId4"/>
          <a:stretch>
            <a:fillRect/>
          </a:stretch>
        </p:blipFill>
        <p:spPr>
          <a:xfrm>
            <a:off x="10321397" y="4594444"/>
            <a:ext cx="1381317" cy="1033606"/>
          </a:xfrm>
          <a:prstGeom prst="rect">
            <a:avLst/>
          </a:prstGeom>
        </p:spPr>
      </p:pic>
    </p:spTree>
    <p:extLst>
      <p:ext uri="{BB962C8B-B14F-4D97-AF65-F5344CB8AC3E}">
        <p14:creationId xmlns:p14="http://schemas.microsoft.com/office/powerpoint/2010/main" val="6363650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60F7E9-D613-3078-578A-2FA52CF29ECD}"/>
              </a:ext>
            </a:extLst>
          </p:cNvPr>
          <p:cNvSpPr>
            <a:spLocks noGrp="1"/>
          </p:cNvSpPr>
          <p:nvPr>
            <p:ph type="title"/>
          </p:nvPr>
        </p:nvSpPr>
        <p:spPr>
          <a:xfrm>
            <a:off x="1484311" y="685801"/>
            <a:ext cx="10018713" cy="1025554"/>
          </a:xfrm>
        </p:spPr>
        <p:txBody>
          <a:bodyPr/>
          <a:lstStyle/>
          <a:p>
            <a:r>
              <a:rPr lang="es-ES" dirty="0"/>
              <a:t>Producer y </a:t>
            </a:r>
            <a:r>
              <a:rPr lang="es-ES" dirty="0" err="1"/>
              <a:t>consumer</a:t>
            </a:r>
            <a:r>
              <a:rPr lang="es-ES" dirty="0"/>
              <a:t> básicos</a:t>
            </a:r>
          </a:p>
        </p:txBody>
      </p:sp>
      <p:sp>
        <p:nvSpPr>
          <p:cNvPr id="3" name="Marcador de contenido 2">
            <a:extLst>
              <a:ext uri="{FF2B5EF4-FFF2-40B4-BE49-F238E27FC236}">
                <a16:creationId xmlns:a16="http://schemas.microsoft.com/office/drawing/2014/main" id="{481B8547-E523-79D8-A5EF-FCBFF865A726}"/>
              </a:ext>
            </a:extLst>
          </p:cNvPr>
          <p:cNvSpPr>
            <a:spLocks noGrp="1"/>
          </p:cNvSpPr>
          <p:nvPr>
            <p:ph idx="1"/>
          </p:nvPr>
        </p:nvSpPr>
        <p:spPr>
          <a:xfrm>
            <a:off x="1484310" y="1795245"/>
            <a:ext cx="10018713" cy="3995956"/>
          </a:xfrm>
        </p:spPr>
        <p:txBody>
          <a:bodyPr anchor="t">
            <a:normAutofit/>
          </a:bodyPr>
          <a:lstStyle/>
          <a:p>
            <a:r>
              <a:rPr lang="es-ES" sz="1800" dirty="0"/>
              <a:t>Los archivos producer.py y consumer.py son scripts básicos para mandar un mensaje y leer en un </a:t>
            </a:r>
            <a:r>
              <a:rPr lang="es-ES" sz="1800" dirty="0" err="1"/>
              <a:t>topic</a:t>
            </a:r>
            <a:r>
              <a:rPr lang="es-ES" sz="1800" dirty="0"/>
              <a:t>.</a:t>
            </a:r>
          </a:p>
          <a:p>
            <a:r>
              <a:rPr lang="es-ES" sz="1800" dirty="0"/>
              <a:t> </a:t>
            </a:r>
          </a:p>
        </p:txBody>
      </p:sp>
      <p:pic>
        <p:nvPicPr>
          <p:cNvPr id="5" name="Imagen 4" descr="Texto&#10;&#10;El contenido generado por IA puede ser incorrecto.">
            <a:extLst>
              <a:ext uri="{FF2B5EF4-FFF2-40B4-BE49-F238E27FC236}">
                <a16:creationId xmlns:a16="http://schemas.microsoft.com/office/drawing/2014/main" id="{BBFFF24F-9584-7B41-77A8-80CF2EAB794E}"/>
              </a:ext>
            </a:extLst>
          </p:cNvPr>
          <p:cNvPicPr>
            <a:picLocks noChangeAspect="1"/>
          </p:cNvPicPr>
          <p:nvPr/>
        </p:nvPicPr>
        <p:blipFill>
          <a:blip r:embed="rId2"/>
          <a:stretch>
            <a:fillRect/>
          </a:stretch>
        </p:blipFill>
        <p:spPr>
          <a:xfrm>
            <a:off x="937553" y="2481742"/>
            <a:ext cx="7082323" cy="2877193"/>
          </a:xfrm>
          <a:prstGeom prst="rect">
            <a:avLst/>
          </a:prstGeom>
        </p:spPr>
      </p:pic>
      <p:sp>
        <p:nvSpPr>
          <p:cNvPr id="6" name="CuadroTexto 5">
            <a:extLst>
              <a:ext uri="{FF2B5EF4-FFF2-40B4-BE49-F238E27FC236}">
                <a16:creationId xmlns:a16="http://schemas.microsoft.com/office/drawing/2014/main" id="{B0F0236C-B67C-D7E1-0E2B-5751CD211759}"/>
              </a:ext>
            </a:extLst>
          </p:cNvPr>
          <p:cNvSpPr txBox="1"/>
          <p:nvPr/>
        </p:nvSpPr>
        <p:spPr>
          <a:xfrm>
            <a:off x="8422547" y="2785145"/>
            <a:ext cx="2831900" cy="2031325"/>
          </a:xfrm>
          <a:prstGeom prst="rect">
            <a:avLst/>
          </a:prstGeom>
          <a:noFill/>
        </p:spPr>
        <p:txBody>
          <a:bodyPr wrap="square" rtlCol="0">
            <a:spAutoFit/>
          </a:bodyPr>
          <a:lstStyle/>
          <a:p>
            <a:r>
              <a:rPr lang="es-ES" dirty="0"/>
              <a:t>Se conecta al servidor de </a:t>
            </a:r>
            <a:r>
              <a:rPr lang="es-ES" dirty="0" err="1"/>
              <a:t>kafka</a:t>
            </a:r>
            <a:r>
              <a:rPr lang="es-ES" dirty="0"/>
              <a:t> (en local, puerto 9092).</a:t>
            </a:r>
          </a:p>
          <a:p>
            <a:r>
              <a:rPr lang="es-ES" dirty="0"/>
              <a:t>Escribe en el </a:t>
            </a:r>
            <a:r>
              <a:rPr lang="es-ES" dirty="0" err="1"/>
              <a:t>topic</a:t>
            </a:r>
            <a:r>
              <a:rPr lang="es-ES" dirty="0"/>
              <a:t> </a:t>
            </a:r>
            <a:r>
              <a:rPr lang="es-ES" dirty="0" err="1"/>
              <a:t>demo_Python</a:t>
            </a:r>
            <a:r>
              <a:rPr lang="es-ES" dirty="0"/>
              <a:t>, el mensaje “</a:t>
            </a:r>
            <a:r>
              <a:rPr lang="es-ES" dirty="0" err="1"/>
              <a:t>hello</a:t>
            </a:r>
            <a:r>
              <a:rPr lang="es-ES" dirty="0"/>
              <a:t> </a:t>
            </a:r>
            <a:r>
              <a:rPr lang="es-ES" dirty="0" err="1"/>
              <a:t>world</a:t>
            </a:r>
            <a:r>
              <a:rPr lang="es-ES" dirty="0"/>
              <a:t>”, con la </a:t>
            </a:r>
            <a:r>
              <a:rPr lang="es-ES" dirty="0" err="1"/>
              <a:t>key</a:t>
            </a:r>
            <a:r>
              <a:rPr lang="es-ES" dirty="0"/>
              <a:t> “prueba”.</a:t>
            </a:r>
          </a:p>
        </p:txBody>
      </p:sp>
      <p:sp>
        <p:nvSpPr>
          <p:cNvPr id="7" name="CuadroTexto 6">
            <a:extLst>
              <a:ext uri="{FF2B5EF4-FFF2-40B4-BE49-F238E27FC236}">
                <a16:creationId xmlns:a16="http://schemas.microsoft.com/office/drawing/2014/main" id="{2BCFFB85-18CF-5265-BE7B-14E9F0A88711}"/>
              </a:ext>
            </a:extLst>
          </p:cNvPr>
          <p:cNvSpPr txBox="1"/>
          <p:nvPr/>
        </p:nvSpPr>
        <p:spPr>
          <a:xfrm>
            <a:off x="1728132" y="5791201"/>
            <a:ext cx="5238935" cy="369332"/>
          </a:xfrm>
          <a:prstGeom prst="rect">
            <a:avLst/>
          </a:prstGeom>
          <a:noFill/>
        </p:spPr>
        <p:txBody>
          <a:bodyPr wrap="none" rtlCol="0">
            <a:spAutoFit/>
          </a:bodyPr>
          <a:lstStyle/>
          <a:p>
            <a:r>
              <a:rPr lang="es-ES" dirty="0"/>
              <a:t>*</a:t>
            </a:r>
            <a:r>
              <a:rPr lang="es-ES" dirty="0" err="1"/>
              <a:t>pip</a:t>
            </a:r>
            <a:r>
              <a:rPr lang="es-ES" dirty="0"/>
              <a:t> </a:t>
            </a:r>
            <a:r>
              <a:rPr lang="es-ES" dirty="0" err="1"/>
              <a:t>install</a:t>
            </a:r>
            <a:r>
              <a:rPr lang="es-ES" dirty="0"/>
              <a:t> </a:t>
            </a:r>
            <a:r>
              <a:rPr lang="es-ES" dirty="0" err="1"/>
              <a:t>kafka-python</a:t>
            </a:r>
            <a:r>
              <a:rPr lang="es-ES" dirty="0"/>
              <a:t> para poder lanzar los scripts</a:t>
            </a:r>
          </a:p>
        </p:txBody>
      </p:sp>
    </p:spTree>
    <p:extLst>
      <p:ext uri="{BB962C8B-B14F-4D97-AF65-F5344CB8AC3E}">
        <p14:creationId xmlns:p14="http://schemas.microsoft.com/office/powerpoint/2010/main" val="22734653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B941D3-9CE6-0B54-8142-8E4C17C54759}"/>
              </a:ext>
            </a:extLst>
          </p:cNvPr>
          <p:cNvSpPr>
            <a:spLocks noGrp="1"/>
          </p:cNvSpPr>
          <p:nvPr>
            <p:ph type="title"/>
          </p:nvPr>
        </p:nvSpPr>
        <p:spPr>
          <a:xfrm>
            <a:off x="1484311" y="685800"/>
            <a:ext cx="10018713" cy="1017165"/>
          </a:xfrm>
        </p:spPr>
        <p:txBody>
          <a:bodyPr/>
          <a:lstStyle/>
          <a:p>
            <a:r>
              <a:rPr lang="es-ES" dirty="0"/>
              <a:t>Producer y </a:t>
            </a:r>
            <a:r>
              <a:rPr lang="es-ES" dirty="0" err="1"/>
              <a:t>consumer</a:t>
            </a:r>
            <a:r>
              <a:rPr lang="es-ES" dirty="0"/>
              <a:t> básicos</a:t>
            </a:r>
          </a:p>
        </p:txBody>
      </p:sp>
      <p:sp>
        <p:nvSpPr>
          <p:cNvPr id="3" name="Marcador de contenido 2">
            <a:extLst>
              <a:ext uri="{FF2B5EF4-FFF2-40B4-BE49-F238E27FC236}">
                <a16:creationId xmlns:a16="http://schemas.microsoft.com/office/drawing/2014/main" id="{870C03B2-4680-1C85-FA03-EBEB0FE892A4}"/>
              </a:ext>
            </a:extLst>
          </p:cNvPr>
          <p:cNvSpPr>
            <a:spLocks noGrp="1"/>
          </p:cNvSpPr>
          <p:nvPr>
            <p:ph idx="1"/>
          </p:nvPr>
        </p:nvSpPr>
        <p:spPr>
          <a:xfrm>
            <a:off x="1484310" y="1853967"/>
            <a:ext cx="10018713" cy="3937233"/>
          </a:xfrm>
        </p:spPr>
        <p:txBody>
          <a:bodyPr anchor="t">
            <a:normAutofit/>
          </a:bodyPr>
          <a:lstStyle/>
          <a:p>
            <a:r>
              <a:rPr lang="es-ES" sz="1800" dirty="0"/>
              <a:t>Lee los mensajes en </a:t>
            </a:r>
            <a:r>
              <a:rPr lang="es-ES" sz="1800" dirty="0" err="1"/>
              <a:t>demo_python</a:t>
            </a:r>
            <a:r>
              <a:rPr lang="es-ES" sz="1800" dirty="0"/>
              <a:t>, mostrando </a:t>
            </a:r>
            <a:r>
              <a:rPr lang="es-ES" sz="1800" dirty="0" err="1"/>
              <a:t>key</a:t>
            </a:r>
            <a:r>
              <a:rPr lang="es-ES" sz="1800" dirty="0"/>
              <a:t> y </a:t>
            </a:r>
            <a:r>
              <a:rPr lang="es-ES" sz="1800" dirty="0" err="1"/>
              <a:t>value</a:t>
            </a:r>
            <a:r>
              <a:rPr lang="es-ES" sz="1800" dirty="0"/>
              <a:t>.</a:t>
            </a:r>
          </a:p>
        </p:txBody>
      </p:sp>
      <p:pic>
        <p:nvPicPr>
          <p:cNvPr id="5" name="Imagen 4" descr="Captura de pantalla de computadora&#10;&#10;El contenido generado por IA puede ser incorrecto.">
            <a:extLst>
              <a:ext uri="{FF2B5EF4-FFF2-40B4-BE49-F238E27FC236}">
                <a16:creationId xmlns:a16="http://schemas.microsoft.com/office/drawing/2014/main" id="{796A5F29-3BDE-45A7-BB11-4CC5CD8BC590}"/>
              </a:ext>
            </a:extLst>
          </p:cNvPr>
          <p:cNvPicPr>
            <a:picLocks noChangeAspect="1"/>
          </p:cNvPicPr>
          <p:nvPr/>
        </p:nvPicPr>
        <p:blipFill>
          <a:blip r:embed="rId2"/>
          <a:stretch>
            <a:fillRect/>
          </a:stretch>
        </p:blipFill>
        <p:spPr>
          <a:xfrm>
            <a:off x="1484310" y="2300635"/>
            <a:ext cx="9269119" cy="3162741"/>
          </a:xfrm>
          <a:prstGeom prst="rect">
            <a:avLst/>
          </a:prstGeom>
        </p:spPr>
      </p:pic>
    </p:spTree>
    <p:extLst>
      <p:ext uri="{BB962C8B-B14F-4D97-AF65-F5344CB8AC3E}">
        <p14:creationId xmlns:p14="http://schemas.microsoft.com/office/powerpoint/2010/main" val="30080614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592B39-7A3D-A9C3-5828-DA676848136D}"/>
              </a:ext>
            </a:extLst>
          </p:cNvPr>
          <p:cNvSpPr>
            <a:spLocks noGrp="1"/>
          </p:cNvSpPr>
          <p:nvPr>
            <p:ph type="title"/>
          </p:nvPr>
        </p:nvSpPr>
        <p:spPr>
          <a:xfrm>
            <a:off x="1484311" y="685800"/>
            <a:ext cx="10018713" cy="933275"/>
          </a:xfrm>
        </p:spPr>
        <p:txBody>
          <a:bodyPr/>
          <a:lstStyle/>
          <a:p>
            <a:r>
              <a:rPr lang="es-ES" dirty="0"/>
              <a:t>Pruebas</a:t>
            </a:r>
          </a:p>
        </p:txBody>
      </p:sp>
      <p:sp>
        <p:nvSpPr>
          <p:cNvPr id="3" name="Marcador de contenido 2">
            <a:extLst>
              <a:ext uri="{FF2B5EF4-FFF2-40B4-BE49-F238E27FC236}">
                <a16:creationId xmlns:a16="http://schemas.microsoft.com/office/drawing/2014/main" id="{8E8AC4A2-D5AD-B097-989E-120AA53527D3}"/>
              </a:ext>
            </a:extLst>
          </p:cNvPr>
          <p:cNvSpPr>
            <a:spLocks noGrp="1"/>
          </p:cNvSpPr>
          <p:nvPr>
            <p:ph idx="1"/>
          </p:nvPr>
        </p:nvSpPr>
        <p:spPr>
          <a:xfrm>
            <a:off x="1484310" y="1744911"/>
            <a:ext cx="10018713" cy="4046290"/>
          </a:xfrm>
        </p:spPr>
        <p:txBody>
          <a:bodyPr anchor="t"/>
          <a:lstStyle/>
          <a:p>
            <a:r>
              <a:rPr lang="es-ES" dirty="0"/>
              <a:t>¿Qué pasa cuando no hay </a:t>
            </a:r>
            <a:r>
              <a:rPr lang="es-ES" dirty="0" err="1"/>
              <a:t>consumer</a:t>
            </a:r>
            <a:r>
              <a:rPr lang="es-ES" dirty="0"/>
              <a:t>?</a:t>
            </a:r>
          </a:p>
          <a:p>
            <a:r>
              <a:rPr lang="es-ES" dirty="0"/>
              <a:t>¿Qué pasa cuando el </a:t>
            </a:r>
            <a:r>
              <a:rPr lang="es-ES" dirty="0" err="1"/>
              <a:t>producer</a:t>
            </a:r>
            <a:r>
              <a:rPr lang="es-ES" dirty="0"/>
              <a:t> está emitiendo y levantamos el </a:t>
            </a:r>
            <a:r>
              <a:rPr lang="es-ES" dirty="0" err="1"/>
              <a:t>consumer</a:t>
            </a:r>
            <a:r>
              <a:rPr lang="es-ES" dirty="0"/>
              <a:t> en cualquier momento?</a:t>
            </a:r>
          </a:p>
          <a:p>
            <a:r>
              <a:rPr lang="es-ES" dirty="0"/>
              <a:t>¿Qué pasa cuando hay 2 consumidores a la vez leyendo del mismo </a:t>
            </a:r>
            <a:r>
              <a:rPr lang="es-ES" dirty="0" err="1"/>
              <a:t>topic</a:t>
            </a:r>
            <a:r>
              <a:rPr lang="es-ES" dirty="0"/>
              <a:t>?</a:t>
            </a:r>
          </a:p>
          <a:p>
            <a:r>
              <a:rPr lang="es-ES" dirty="0"/>
              <a:t>Modificar el </a:t>
            </a:r>
            <a:r>
              <a:rPr lang="es-ES" dirty="0" err="1"/>
              <a:t>producer</a:t>
            </a:r>
            <a:r>
              <a:rPr lang="es-ES" dirty="0"/>
              <a:t> para que lance números al azar entre el 1 y el 100 cada 3 segundos, para ver el funcionamiento de continuo.</a:t>
            </a:r>
          </a:p>
        </p:txBody>
      </p:sp>
    </p:spTree>
    <p:extLst>
      <p:ext uri="{BB962C8B-B14F-4D97-AF65-F5344CB8AC3E}">
        <p14:creationId xmlns:p14="http://schemas.microsoft.com/office/powerpoint/2010/main" val="13932358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0DEDE73-CDF8-A22B-313B-23DECD8DF15D}"/>
              </a:ext>
            </a:extLst>
          </p:cNvPr>
          <p:cNvSpPr>
            <a:spLocks noGrp="1"/>
          </p:cNvSpPr>
          <p:nvPr>
            <p:ph idx="1"/>
          </p:nvPr>
        </p:nvSpPr>
        <p:spPr>
          <a:xfrm>
            <a:off x="1484310" y="1644316"/>
            <a:ext cx="10018713" cy="4892842"/>
          </a:xfrm>
        </p:spPr>
        <p:txBody>
          <a:bodyPr anchor="t">
            <a:normAutofit lnSpcReduction="10000"/>
          </a:bodyPr>
          <a:lstStyle/>
          <a:p>
            <a:r>
              <a:rPr lang="es-ES" sz="1800" b="1" dirty="0" err="1"/>
              <a:t>Consumer</a:t>
            </a:r>
            <a:r>
              <a:rPr lang="es-ES" sz="1800" b="1" dirty="0"/>
              <a:t> </a:t>
            </a:r>
            <a:r>
              <a:rPr lang="es-ES" sz="1800" b="1" dirty="0" err="1"/>
              <a:t>groups</a:t>
            </a:r>
            <a:endParaRPr lang="es-ES" sz="1800" b="1" dirty="0"/>
          </a:p>
          <a:p>
            <a:r>
              <a:rPr lang="es-ES" sz="1200" dirty="0"/>
              <a:t>Un </a:t>
            </a:r>
            <a:r>
              <a:rPr lang="es-ES" sz="1200" b="1" dirty="0" err="1"/>
              <a:t>consumer</a:t>
            </a:r>
            <a:r>
              <a:rPr lang="es-ES" sz="1200" b="1" dirty="0"/>
              <a:t> </a:t>
            </a:r>
            <a:r>
              <a:rPr lang="es-ES" sz="1200" b="1" dirty="0" err="1"/>
              <a:t>group</a:t>
            </a:r>
            <a:r>
              <a:rPr lang="es-ES" sz="1200" dirty="0"/>
              <a:t> es un conjunto de consumidores que colaboran para leer mensajes de un </a:t>
            </a:r>
            <a:r>
              <a:rPr lang="es-ES" sz="1200" dirty="0" err="1"/>
              <a:t>topic</a:t>
            </a:r>
            <a:r>
              <a:rPr lang="es-ES" sz="1200" dirty="0"/>
              <a:t> de forma coordinada. Cada mensaje es procesado por </a:t>
            </a:r>
            <a:r>
              <a:rPr lang="es-ES" sz="1200" b="1" dirty="0"/>
              <a:t>uno y solo uno de los consumidores del grupo</a:t>
            </a:r>
            <a:r>
              <a:rPr lang="es-ES" sz="1200" dirty="0"/>
              <a:t>.</a:t>
            </a:r>
          </a:p>
          <a:p>
            <a:r>
              <a:rPr lang="es-ES" sz="1200" b="1" dirty="0"/>
              <a:t>Cómo se distribuyen los mensajes:</a:t>
            </a:r>
          </a:p>
          <a:p>
            <a:pPr>
              <a:buFont typeface="Arial" panose="020B0604020202020204" pitchFamily="34" charset="0"/>
              <a:buChar char="•"/>
            </a:pPr>
            <a:r>
              <a:rPr lang="es-ES" sz="1200" b="1" dirty="0"/>
              <a:t>Número de particiones = Número de consumidores:</a:t>
            </a:r>
            <a:r>
              <a:rPr lang="es-ES" sz="1200" dirty="0"/>
              <a:t> Cada consumidor procesa una partición.</a:t>
            </a:r>
          </a:p>
          <a:p>
            <a:pPr>
              <a:buFont typeface="Arial" panose="020B0604020202020204" pitchFamily="34" charset="0"/>
              <a:buChar char="•"/>
            </a:pPr>
            <a:r>
              <a:rPr lang="es-ES" sz="1200" b="1" dirty="0"/>
              <a:t>Número de particiones &gt; Número de consumidores:</a:t>
            </a:r>
            <a:r>
              <a:rPr lang="es-ES" sz="1200" dirty="0"/>
              <a:t> Algunos consumidores procesarán varias particiones.</a:t>
            </a:r>
          </a:p>
          <a:p>
            <a:pPr>
              <a:buFont typeface="Arial" panose="020B0604020202020204" pitchFamily="34" charset="0"/>
              <a:buChar char="•"/>
            </a:pPr>
            <a:r>
              <a:rPr lang="es-ES" sz="1200" b="1" dirty="0"/>
              <a:t>Número de consumidores &gt; Número de particiones:</a:t>
            </a:r>
            <a:r>
              <a:rPr lang="es-ES" sz="1200" dirty="0"/>
              <a:t> Algunos consumidores quedarán inactivos (no recibirán mensajes).</a:t>
            </a:r>
            <a:endParaRPr lang="es-ES" sz="1400" dirty="0"/>
          </a:p>
          <a:p>
            <a:r>
              <a:rPr lang="es-ES" sz="1800" dirty="0"/>
              <a:t>Vamos a crear un </a:t>
            </a:r>
            <a:r>
              <a:rPr lang="es-ES" sz="1800" dirty="0" err="1"/>
              <a:t>topic</a:t>
            </a:r>
            <a:r>
              <a:rPr lang="es-ES" sz="1800" dirty="0"/>
              <a:t> nuevo (</a:t>
            </a:r>
            <a:r>
              <a:rPr lang="es-ES" sz="1800" dirty="0" err="1"/>
              <a:t>third_topic</a:t>
            </a:r>
            <a:r>
              <a:rPr lang="es-ES" sz="1800" dirty="0"/>
              <a:t>) con 3 particiones para empezar de cero.</a:t>
            </a:r>
          </a:p>
          <a:p>
            <a:r>
              <a:rPr lang="es-ES" sz="1800" dirty="0"/>
              <a:t>Lanzamos</a:t>
            </a:r>
          </a:p>
          <a:p>
            <a:pPr lvl="1"/>
            <a:r>
              <a:rPr lang="en-US" sz="1400" b="0" dirty="0">
                <a:effectLst/>
              </a:rPr>
              <a:t>kafka-console-consumer.sh </a:t>
            </a:r>
            <a:r>
              <a:rPr lang="en-US" sz="1400" b="0" dirty="0">
                <a:solidFill>
                  <a:srgbClr val="569CD6"/>
                </a:solidFill>
                <a:effectLst/>
              </a:rPr>
              <a:t>--bootstrap-server</a:t>
            </a:r>
            <a:r>
              <a:rPr lang="en-US" sz="1400" b="0" dirty="0">
                <a:solidFill>
                  <a:srgbClr val="CCCCCC"/>
                </a:solidFill>
                <a:effectLst/>
              </a:rPr>
              <a:t> </a:t>
            </a:r>
            <a:r>
              <a:rPr lang="en-US" sz="1400" b="0" dirty="0">
                <a:solidFill>
                  <a:srgbClr val="CE9178"/>
                </a:solidFill>
                <a:effectLst/>
              </a:rPr>
              <a:t>127.0.0.1:9092</a:t>
            </a:r>
            <a:r>
              <a:rPr lang="en-US" sz="1400" b="0" dirty="0">
                <a:solidFill>
                  <a:srgbClr val="CCCCCC"/>
                </a:solidFill>
                <a:effectLst/>
              </a:rPr>
              <a:t> </a:t>
            </a:r>
            <a:r>
              <a:rPr lang="en-US" sz="1400" b="0" dirty="0">
                <a:solidFill>
                  <a:srgbClr val="569CD6"/>
                </a:solidFill>
                <a:effectLst/>
              </a:rPr>
              <a:t>--topic</a:t>
            </a:r>
            <a:r>
              <a:rPr lang="en-US" sz="1400" b="0" dirty="0">
                <a:solidFill>
                  <a:srgbClr val="CCCCCC"/>
                </a:solidFill>
                <a:effectLst/>
              </a:rPr>
              <a:t> </a:t>
            </a:r>
            <a:r>
              <a:rPr lang="en-US" sz="1400" b="0" dirty="0" err="1">
                <a:solidFill>
                  <a:srgbClr val="CE9178"/>
                </a:solidFill>
                <a:effectLst/>
              </a:rPr>
              <a:t>third_topic</a:t>
            </a:r>
            <a:r>
              <a:rPr lang="en-US" sz="1400" b="0" dirty="0">
                <a:solidFill>
                  <a:srgbClr val="CCCCCC"/>
                </a:solidFill>
                <a:effectLst/>
              </a:rPr>
              <a:t> </a:t>
            </a:r>
            <a:r>
              <a:rPr lang="en-US" sz="1400" b="0" dirty="0">
                <a:solidFill>
                  <a:srgbClr val="569CD6"/>
                </a:solidFill>
                <a:effectLst/>
              </a:rPr>
              <a:t>--group</a:t>
            </a:r>
            <a:r>
              <a:rPr lang="en-US" sz="1400" b="0" dirty="0">
                <a:solidFill>
                  <a:srgbClr val="CCCCCC"/>
                </a:solidFill>
                <a:effectLst/>
              </a:rPr>
              <a:t> </a:t>
            </a:r>
            <a:r>
              <a:rPr lang="en-US" sz="1400" b="0" dirty="0">
                <a:solidFill>
                  <a:srgbClr val="CE9178"/>
                </a:solidFill>
                <a:effectLst/>
              </a:rPr>
              <a:t>my-first-app</a:t>
            </a:r>
          </a:p>
          <a:p>
            <a:pPr lvl="1"/>
            <a:r>
              <a:rPr lang="es-ES" sz="1400" b="0" dirty="0">
                <a:effectLst/>
              </a:rPr>
              <a:t>kafka-console-producer.sh </a:t>
            </a:r>
            <a:r>
              <a:rPr lang="es-ES" sz="1400" b="0" dirty="0">
                <a:solidFill>
                  <a:srgbClr val="569CD6"/>
                </a:solidFill>
                <a:effectLst/>
              </a:rPr>
              <a:t>--</a:t>
            </a:r>
            <a:r>
              <a:rPr lang="es-ES" sz="1400" b="0" dirty="0" err="1">
                <a:solidFill>
                  <a:srgbClr val="569CD6"/>
                </a:solidFill>
                <a:effectLst/>
              </a:rPr>
              <a:t>bootstrap</a:t>
            </a:r>
            <a:r>
              <a:rPr lang="es-ES" sz="1400" b="0" dirty="0">
                <a:solidFill>
                  <a:srgbClr val="569CD6"/>
                </a:solidFill>
                <a:effectLst/>
              </a:rPr>
              <a:t>-server</a:t>
            </a:r>
            <a:r>
              <a:rPr lang="es-ES" sz="1400" b="0" dirty="0">
                <a:solidFill>
                  <a:srgbClr val="CCCCCC"/>
                </a:solidFill>
                <a:effectLst/>
              </a:rPr>
              <a:t> </a:t>
            </a:r>
            <a:r>
              <a:rPr lang="es-ES" sz="1400" b="0" dirty="0">
                <a:solidFill>
                  <a:srgbClr val="CE9178"/>
                </a:solidFill>
                <a:effectLst/>
              </a:rPr>
              <a:t>127.0.0.1:9092</a:t>
            </a:r>
            <a:r>
              <a:rPr lang="es-ES" sz="1400" b="0" dirty="0">
                <a:solidFill>
                  <a:srgbClr val="CCCCCC"/>
                </a:solidFill>
                <a:effectLst/>
              </a:rPr>
              <a:t> </a:t>
            </a:r>
            <a:r>
              <a:rPr lang="es-ES" sz="1400" b="0" dirty="0">
                <a:solidFill>
                  <a:srgbClr val="569CD6"/>
                </a:solidFill>
                <a:effectLst/>
              </a:rPr>
              <a:t>--</a:t>
            </a:r>
            <a:r>
              <a:rPr lang="es-ES" sz="1400" b="0" dirty="0" err="1">
                <a:solidFill>
                  <a:srgbClr val="569CD6"/>
                </a:solidFill>
                <a:effectLst/>
              </a:rPr>
              <a:t>topic</a:t>
            </a:r>
            <a:r>
              <a:rPr lang="es-ES" sz="1400" b="0" dirty="0">
                <a:solidFill>
                  <a:srgbClr val="CCCCCC"/>
                </a:solidFill>
                <a:effectLst/>
              </a:rPr>
              <a:t> </a:t>
            </a:r>
            <a:r>
              <a:rPr lang="es-ES" sz="1400" b="0" dirty="0" err="1">
                <a:solidFill>
                  <a:srgbClr val="CE9178"/>
                </a:solidFill>
                <a:effectLst/>
              </a:rPr>
              <a:t>third_topic</a:t>
            </a:r>
            <a:r>
              <a:rPr lang="es-ES" sz="1400" b="0" dirty="0">
                <a:solidFill>
                  <a:srgbClr val="CCCCCC"/>
                </a:solidFill>
                <a:effectLst/>
              </a:rPr>
              <a:t> </a:t>
            </a:r>
            <a:r>
              <a:rPr lang="es-ES" sz="1400" b="0" dirty="0">
                <a:solidFill>
                  <a:srgbClr val="569CD6"/>
                </a:solidFill>
                <a:effectLst/>
              </a:rPr>
              <a:t>--</a:t>
            </a:r>
            <a:r>
              <a:rPr lang="es-ES" sz="1400" b="0" dirty="0" err="1">
                <a:solidFill>
                  <a:srgbClr val="569CD6"/>
                </a:solidFill>
                <a:effectLst/>
              </a:rPr>
              <a:t>producer-property</a:t>
            </a:r>
            <a:r>
              <a:rPr lang="es-ES" sz="1400" b="0" dirty="0">
                <a:solidFill>
                  <a:srgbClr val="CCCCCC"/>
                </a:solidFill>
                <a:effectLst/>
              </a:rPr>
              <a:t> </a:t>
            </a:r>
            <a:r>
              <a:rPr lang="es-ES" sz="1400" b="0" dirty="0" err="1">
                <a:solidFill>
                  <a:srgbClr val="CE9178"/>
                </a:solidFill>
                <a:effectLst/>
              </a:rPr>
              <a:t>partitioner.class</a:t>
            </a:r>
            <a:r>
              <a:rPr lang="es-ES" sz="1400" b="0" dirty="0">
                <a:solidFill>
                  <a:srgbClr val="CE9178"/>
                </a:solidFill>
                <a:effectLst/>
              </a:rPr>
              <a:t>=</a:t>
            </a:r>
            <a:r>
              <a:rPr lang="es-ES" sz="1400" b="0" dirty="0" err="1">
                <a:solidFill>
                  <a:srgbClr val="CE9178"/>
                </a:solidFill>
                <a:effectLst/>
              </a:rPr>
              <a:t>org.apache.kafka.clients.producer.RoundRobinPartitioner</a:t>
            </a:r>
            <a:r>
              <a:rPr lang="es-ES" sz="1400" b="0" dirty="0">
                <a:solidFill>
                  <a:srgbClr val="CE9178"/>
                </a:solidFill>
                <a:effectLst/>
              </a:rPr>
              <a:t>  </a:t>
            </a:r>
            <a:r>
              <a:rPr lang="es-ES" sz="1400" b="0" dirty="0">
                <a:effectLst/>
              </a:rPr>
              <a:t>(así cada mensaje va a una partición).</a:t>
            </a:r>
          </a:p>
          <a:p>
            <a:pPr lvl="1"/>
            <a:r>
              <a:rPr lang="en-US" sz="1400" dirty="0"/>
              <a:t>Vamos </a:t>
            </a:r>
            <a:r>
              <a:rPr lang="en-US" sz="1400" dirty="0" err="1"/>
              <a:t>creando</a:t>
            </a:r>
            <a:r>
              <a:rPr lang="en-US" sz="1400" dirty="0"/>
              <a:t> </a:t>
            </a:r>
            <a:r>
              <a:rPr lang="en-US" sz="1400" dirty="0" err="1"/>
              <a:t>mensajes</a:t>
            </a:r>
            <a:r>
              <a:rPr lang="en-US" sz="1400" dirty="0"/>
              <a:t> y </a:t>
            </a:r>
            <a:r>
              <a:rPr lang="en-US" sz="1400" dirty="0" err="1"/>
              <a:t>veremos</a:t>
            </a:r>
            <a:r>
              <a:rPr lang="en-US" sz="1400" dirty="0"/>
              <a:t> que </a:t>
            </a:r>
            <a:r>
              <a:rPr lang="en-US" sz="1400" dirty="0" err="1"/>
              <a:t>el</a:t>
            </a:r>
            <a:r>
              <a:rPr lang="en-US" sz="1400" dirty="0"/>
              <a:t> consumer </a:t>
            </a:r>
            <a:r>
              <a:rPr lang="en-US" sz="1400" dirty="0" err="1"/>
              <a:t>coge</a:t>
            </a:r>
            <a:r>
              <a:rPr lang="en-US" sz="1400" dirty="0"/>
              <a:t> </a:t>
            </a:r>
            <a:r>
              <a:rPr lang="en-US" sz="1400" dirty="0" err="1"/>
              <a:t>todo</a:t>
            </a:r>
            <a:r>
              <a:rPr lang="en-US" sz="1400" dirty="0"/>
              <a:t>.</a:t>
            </a:r>
          </a:p>
          <a:p>
            <a:pPr lvl="1"/>
            <a:r>
              <a:rPr lang="en-US" sz="1400" b="0" dirty="0">
                <a:effectLst/>
              </a:rPr>
              <a:t>Si </a:t>
            </a:r>
            <a:r>
              <a:rPr lang="en-US" sz="1400" b="0" dirty="0" err="1">
                <a:effectLst/>
              </a:rPr>
              <a:t>lanzamos</a:t>
            </a:r>
            <a:r>
              <a:rPr lang="en-US" sz="1400" b="0" dirty="0">
                <a:effectLst/>
              </a:rPr>
              <a:t> </a:t>
            </a:r>
            <a:r>
              <a:rPr lang="en-US" sz="1400" b="0" dirty="0" err="1">
                <a:effectLst/>
              </a:rPr>
              <a:t>en</a:t>
            </a:r>
            <a:r>
              <a:rPr lang="en-US" sz="1400" b="0" dirty="0">
                <a:effectLst/>
              </a:rPr>
              <a:t> </a:t>
            </a:r>
            <a:r>
              <a:rPr lang="en-US" sz="1400" b="0" dirty="0" err="1">
                <a:effectLst/>
              </a:rPr>
              <a:t>una</a:t>
            </a:r>
            <a:r>
              <a:rPr lang="en-US" sz="1400" b="0" dirty="0">
                <a:effectLst/>
              </a:rPr>
              <a:t> </a:t>
            </a:r>
            <a:r>
              <a:rPr lang="en-US" sz="1400" b="0" dirty="0" err="1">
                <a:effectLst/>
              </a:rPr>
              <a:t>tercera</a:t>
            </a:r>
            <a:r>
              <a:rPr lang="en-US" sz="1400" b="0" dirty="0">
                <a:effectLst/>
              </a:rPr>
              <a:t> terminal de nuevo </a:t>
            </a:r>
            <a:r>
              <a:rPr lang="en-US" sz="1400" b="0" dirty="0" err="1">
                <a:effectLst/>
              </a:rPr>
              <a:t>el</a:t>
            </a:r>
            <a:r>
              <a:rPr lang="en-US" sz="1400" b="0" dirty="0">
                <a:effectLst/>
              </a:rPr>
              <a:t> consumer “my-first-app”, </a:t>
            </a:r>
            <a:r>
              <a:rPr lang="en-US" sz="1400" b="0" dirty="0" err="1">
                <a:effectLst/>
              </a:rPr>
              <a:t>veremos</a:t>
            </a:r>
            <a:r>
              <a:rPr lang="en-US" sz="1400" b="0" dirty="0">
                <a:effectLst/>
              </a:rPr>
              <a:t> que </a:t>
            </a:r>
            <a:r>
              <a:rPr lang="en-US" sz="1400" b="0" dirty="0" err="1">
                <a:effectLst/>
              </a:rPr>
              <a:t>los</a:t>
            </a:r>
            <a:r>
              <a:rPr lang="en-US" sz="1400" b="0" dirty="0">
                <a:effectLst/>
              </a:rPr>
              <a:t> </a:t>
            </a:r>
            <a:r>
              <a:rPr lang="en-US" sz="1400" b="0" dirty="0" err="1">
                <a:effectLst/>
              </a:rPr>
              <a:t>mensajes</a:t>
            </a:r>
            <a:r>
              <a:rPr lang="en-US" sz="1400" b="0" dirty="0">
                <a:effectLst/>
              </a:rPr>
              <a:t> se </a:t>
            </a:r>
            <a:r>
              <a:rPr lang="en-US" sz="1400" b="0" dirty="0" err="1">
                <a:effectLst/>
              </a:rPr>
              <a:t>dividen</a:t>
            </a:r>
            <a:r>
              <a:rPr lang="en-US" sz="1400" b="0" dirty="0">
                <a:effectLst/>
              </a:rPr>
              <a:t> en</a:t>
            </a:r>
            <a:r>
              <a:rPr lang="en-US" sz="1400" dirty="0"/>
              <a:t>tre </a:t>
            </a:r>
            <a:r>
              <a:rPr lang="en-US" sz="1400" dirty="0" err="1"/>
              <a:t>los</a:t>
            </a:r>
            <a:r>
              <a:rPr lang="en-US" sz="1400" dirty="0"/>
              <a:t> dos.</a:t>
            </a:r>
            <a:endParaRPr lang="en-US" sz="1400" b="0" dirty="0">
              <a:effectLst/>
            </a:endParaRPr>
          </a:p>
          <a:p>
            <a:pPr lvl="1"/>
            <a:r>
              <a:rPr lang="es-ES" sz="1400" dirty="0"/>
              <a:t>Si lanzamos otro grupo distinto “</a:t>
            </a:r>
            <a:r>
              <a:rPr lang="es-ES" sz="1400" dirty="0" err="1"/>
              <a:t>my</a:t>
            </a:r>
            <a:r>
              <a:rPr lang="es-ES" sz="1400" dirty="0"/>
              <a:t>-</a:t>
            </a:r>
            <a:r>
              <a:rPr lang="es-ES" sz="1400" dirty="0" err="1"/>
              <a:t>second</a:t>
            </a:r>
            <a:r>
              <a:rPr lang="es-ES" sz="1400" dirty="0"/>
              <a:t>-app”, funcionará a parte de “</a:t>
            </a:r>
            <a:r>
              <a:rPr lang="es-ES" sz="1400" dirty="0" err="1"/>
              <a:t>my</a:t>
            </a:r>
            <a:r>
              <a:rPr lang="es-ES" sz="1400" dirty="0"/>
              <a:t>-</a:t>
            </a:r>
            <a:r>
              <a:rPr lang="es-ES" sz="1400" dirty="0" err="1"/>
              <a:t>first</a:t>
            </a:r>
            <a:r>
              <a:rPr lang="es-ES" sz="1400" dirty="0"/>
              <a:t>-app”, leyendo todos los mensajes del </a:t>
            </a:r>
            <a:r>
              <a:rPr lang="es-ES" sz="1400" dirty="0" err="1"/>
              <a:t>topic</a:t>
            </a:r>
            <a:r>
              <a:rPr lang="es-ES" sz="1400" dirty="0"/>
              <a:t>.</a:t>
            </a:r>
          </a:p>
        </p:txBody>
      </p:sp>
      <p:sp>
        <p:nvSpPr>
          <p:cNvPr id="4" name="Título 1">
            <a:extLst>
              <a:ext uri="{FF2B5EF4-FFF2-40B4-BE49-F238E27FC236}">
                <a16:creationId xmlns:a16="http://schemas.microsoft.com/office/drawing/2014/main" id="{AD3FAD85-975C-7F9E-3DE9-1E780FC2EE53}"/>
              </a:ext>
            </a:extLst>
          </p:cNvPr>
          <p:cNvSpPr>
            <a:spLocks noGrp="1"/>
          </p:cNvSpPr>
          <p:nvPr>
            <p:ph type="title"/>
          </p:nvPr>
        </p:nvSpPr>
        <p:spPr>
          <a:xfrm>
            <a:off x="1484311" y="685800"/>
            <a:ext cx="10018713" cy="846221"/>
          </a:xfrm>
        </p:spPr>
        <p:txBody>
          <a:bodyPr/>
          <a:lstStyle/>
          <a:p>
            <a:r>
              <a:rPr lang="es-ES" dirty="0"/>
              <a:t>Kafka </a:t>
            </a:r>
            <a:r>
              <a:rPr lang="es-ES" dirty="0" err="1"/>
              <a:t>console</a:t>
            </a:r>
            <a:r>
              <a:rPr lang="es-ES" dirty="0"/>
              <a:t> </a:t>
            </a:r>
            <a:r>
              <a:rPr lang="es-ES" dirty="0" err="1"/>
              <a:t>consumer</a:t>
            </a:r>
            <a:r>
              <a:rPr lang="es-ES" dirty="0"/>
              <a:t> CLI</a:t>
            </a:r>
          </a:p>
        </p:txBody>
      </p:sp>
    </p:spTree>
    <p:extLst>
      <p:ext uri="{BB962C8B-B14F-4D97-AF65-F5344CB8AC3E}">
        <p14:creationId xmlns:p14="http://schemas.microsoft.com/office/powerpoint/2010/main" val="42892575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DAE0F2-F63C-3278-D75D-4CCACF13EFAD}"/>
              </a:ext>
            </a:extLst>
          </p:cNvPr>
          <p:cNvSpPr>
            <a:spLocks noGrp="1"/>
          </p:cNvSpPr>
          <p:nvPr>
            <p:ph type="title"/>
          </p:nvPr>
        </p:nvSpPr>
        <p:spPr>
          <a:xfrm>
            <a:off x="1484311" y="685801"/>
            <a:ext cx="10018713" cy="773883"/>
          </a:xfrm>
        </p:spPr>
        <p:txBody>
          <a:bodyPr/>
          <a:lstStyle/>
          <a:p>
            <a:r>
              <a:rPr lang="es-ES" dirty="0"/>
              <a:t>Kafka </a:t>
            </a:r>
            <a:r>
              <a:rPr lang="es-ES" dirty="0" err="1"/>
              <a:t>console</a:t>
            </a:r>
            <a:r>
              <a:rPr lang="es-ES" dirty="0"/>
              <a:t> </a:t>
            </a:r>
            <a:r>
              <a:rPr lang="es-ES" dirty="0" err="1"/>
              <a:t>consumer</a:t>
            </a:r>
            <a:r>
              <a:rPr lang="es-ES" dirty="0"/>
              <a:t> CLI</a:t>
            </a:r>
          </a:p>
        </p:txBody>
      </p:sp>
      <p:sp>
        <p:nvSpPr>
          <p:cNvPr id="3" name="Marcador de contenido 2">
            <a:extLst>
              <a:ext uri="{FF2B5EF4-FFF2-40B4-BE49-F238E27FC236}">
                <a16:creationId xmlns:a16="http://schemas.microsoft.com/office/drawing/2014/main" id="{46E1A194-EEEC-77B5-DD9F-D558415984D3}"/>
              </a:ext>
            </a:extLst>
          </p:cNvPr>
          <p:cNvSpPr>
            <a:spLocks noGrp="1"/>
          </p:cNvSpPr>
          <p:nvPr>
            <p:ph idx="1"/>
          </p:nvPr>
        </p:nvSpPr>
        <p:spPr>
          <a:xfrm>
            <a:off x="1484310" y="1879135"/>
            <a:ext cx="10018713" cy="3912066"/>
          </a:xfrm>
        </p:spPr>
        <p:txBody>
          <a:bodyPr anchor="t">
            <a:normAutofit/>
          </a:bodyPr>
          <a:lstStyle/>
          <a:p>
            <a:r>
              <a:rPr lang="es-ES" sz="1800" dirty="0"/>
              <a:t>Hacer pruebas con</a:t>
            </a:r>
          </a:p>
          <a:p>
            <a:pPr lvl="1"/>
            <a:r>
              <a:rPr lang="es-ES" sz="1400" dirty="0"/>
              <a:t>Quitar </a:t>
            </a:r>
            <a:r>
              <a:rPr lang="es-ES" sz="1400" dirty="0" err="1"/>
              <a:t>roundrobin</a:t>
            </a:r>
            <a:r>
              <a:rPr lang="es-ES" sz="1400" dirty="0"/>
              <a:t> del productor y poner </a:t>
            </a:r>
            <a:r>
              <a:rPr lang="es-ES" sz="1400" dirty="0" err="1"/>
              <a:t>key</a:t>
            </a:r>
            <a:endParaRPr lang="es-ES" sz="1400" dirty="0"/>
          </a:p>
          <a:p>
            <a:pPr lvl="1"/>
            <a:r>
              <a:rPr lang="es-ES" sz="1400" dirty="0"/>
              <a:t>kafka-console-producer.sh --</a:t>
            </a:r>
            <a:r>
              <a:rPr lang="es-ES" sz="1400" dirty="0" err="1"/>
              <a:t>bootstrap</a:t>
            </a:r>
            <a:r>
              <a:rPr lang="es-ES" sz="1400" dirty="0"/>
              <a:t>-server 127.0.0.1:9092 --</a:t>
            </a:r>
            <a:r>
              <a:rPr lang="es-ES" sz="1400" dirty="0" err="1"/>
              <a:t>topic</a:t>
            </a:r>
            <a:r>
              <a:rPr lang="es-ES" sz="1400" dirty="0"/>
              <a:t> </a:t>
            </a:r>
            <a:r>
              <a:rPr lang="es-ES" sz="1400" dirty="0" err="1"/>
              <a:t>third_topic</a:t>
            </a:r>
            <a:r>
              <a:rPr lang="es-ES" sz="1400" dirty="0"/>
              <a:t> --</a:t>
            </a:r>
            <a:r>
              <a:rPr lang="es-ES" sz="1400" dirty="0" err="1"/>
              <a:t>property</a:t>
            </a:r>
            <a:r>
              <a:rPr lang="es-ES" sz="1400" dirty="0"/>
              <a:t> </a:t>
            </a:r>
            <a:r>
              <a:rPr lang="es-ES" sz="1400" dirty="0" err="1"/>
              <a:t>parse.key</a:t>
            </a:r>
            <a:r>
              <a:rPr lang="es-ES" sz="1400" dirty="0"/>
              <a:t>=true --</a:t>
            </a:r>
            <a:r>
              <a:rPr lang="es-ES" sz="1400" dirty="0" err="1"/>
              <a:t>property</a:t>
            </a:r>
            <a:r>
              <a:rPr lang="es-ES" sz="1400" dirty="0"/>
              <a:t> </a:t>
            </a:r>
            <a:r>
              <a:rPr lang="es-ES" sz="1400" dirty="0" err="1"/>
              <a:t>key.separator</a:t>
            </a:r>
            <a:r>
              <a:rPr lang="es-ES" sz="1400" dirty="0"/>
              <a:t>=":”</a:t>
            </a:r>
          </a:p>
          <a:p>
            <a:pPr lvl="1"/>
            <a:r>
              <a:rPr lang="es-ES" sz="1400" dirty="0"/>
              <a:t>Lanzar mensajes con user1: x, user2:y y ver cómo se reparten.</a:t>
            </a:r>
          </a:p>
          <a:p>
            <a:pPr marL="457200" lvl="1" indent="0">
              <a:buNone/>
            </a:pPr>
            <a:endParaRPr lang="es-ES" sz="1400" dirty="0"/>
          </a:p>
        </p:txBody>
      </p:sp>
    </p:spTree>
    <p:extLst>
      <p:ext uri="{BB962C8B-B14F-4D97-AF65-F5344CB8AC3E}">
        <p14:creationId xmlns:p14="http://schemas.microsoft.com/office/powerpoint/2010/main" val="31520597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CCE69A1-1B3E-3309-8C46-9B7B5A5B5FCB}"/>
              </a:ext>
            </a:extLst>
          </p:cNvPr>
          <p:cNvSpPr>
            <a:spLocks noGrp="1"/>
          </p:cNvSpPr>
          <p:nvPr>
            <p:ph idx="1"/>
          </p:nvPr>
        </p:nvSpPr>
        <p:spPr>
          <a:xfrm>
            <a:off x="1484310" y="4419600"/>
            <a:ext cx="10018713" cy="1859280"/>
          </a:xfrm>
        </p:spPr>
        <p:txBody>
          <a:bodyPr anchor="t">
            <a:normAutofit/>
          </a:bodyPr>
          <a:lstStyle/>
          <a:p>
            <a:r>
              <a:rPr lang="es-ES" sz="1800" dirty="0"/>
              <a:t>Listar grupos</a:t>
            </a:r>
          </a:p>
          <a:p>
            <a:r>
              <a:rPr lang="es-ES" sz="1800" dirty="0"/>
              <a:t>Describir un grupo</a:t>
            </a:r>
          </a:p>
        </p:txBody>
      </p:sp>
      <p:sp>
        <p:nvSpPr>
          <p:cNvPr id="4" name="Título 1">
            <a:extLst>
              <a:ext uri="{FF2B5EF4-FFF2-40B4-BE49-F238E27FC236}">
                <a16:creationId xmlns:a16="http://schemas.microsoft.com/office/drawing/2014/main" id="{313644E7-D2C0-8087-55EF-54324E640E46}"/>
              </a:ext>
            </a:extLst>
          </p:cNvPr>
          <p:cNvSpPr>
            <a:spLocks noGrp="1"/>
          </p:cNvSpPr>
          <p:nvPr>
            <p:ph type="title"/>
          </p:nvPr>
        </p:nvSpPr>
        <p:spPr>
          <a:xfrm>
            <a:off x="1484311" y="685800"/>
            <a:ext cx="10018713" cy="846221"/>
          </a:xfrm>
        </p:spPr>
        <p:txBody>
          <a:bodyPr/>
          <a:lstStyle/>
          <a:p>
            <a:r>
              <a:rPr lang="es-ES" dirty="0"/>
              <a:t>Kafka </a:t>
            </a:r>
            <a:r>
              <a:rPr lang="es-ES" dirty="0" err="1"/>
              <a:t>consumer</a:t>
            </a:r>
            <a:r>
              <a:rPr lang="es-ES" dirty="0"/>
              <a:t> </a:t>
            </a:r>
            <a:r>
              <a:rPr lang="es-ES" dirty="0" err="1"/>
              <a:t>groups</a:t>
            </a:r>
            <a:r>
              <a:rPr lang="es-ES" dirty="0"/>
              <a:t> CLI</a:t>
            </a:r>
          </a:p>
        </p:txBody>
      </p:sp>
      <p:pic>
        <p:nvPicPr>
          <p:cNvPr id="6" name="Imagen 5">
            <a:extLst>
              <a:ext uri="{FF2B5EF4-FFF2-40B4-BE49-F238E27FC236}">
                <a16:creationId xmlns:a16="http://schemas.microsoft.com/office/drawing/2014/main" id="{BFCE799E-F7FF-AF0B-0480-3F15D6A47955}"/>
              </a:ext>
            </a:extLst>
          </p:cNvPr>
          <p:cNvPicPr>
            <a:picLocks noChangeAspect="1"/>
          </p:cNvPicPr>
          <p:nvPr/>
        </p:nvPicPr>
        <p:blipFill>
          <a:blip r:embed="rId2"/>
          <a:stretch>
            <a:fillRect/>
          </a:stretch>
        </p:blipFill>
        <p:spPr>
          <a:xfrm>
            <a:off x="2005930" y="1532021"/>
            <a:ext cx="8408070" cy="2811031"/>
          </a:xfrm>
          <a:prstGeom prst="rect">
            <a:avLst/>
          </a:prstGeom>
        </p:spPr>
      </p:pic>
    </p:spTree>
    <p:extLst>
      <p:ext uri="{BB962C8B-B14F-4D97-AF65-F5344CB8AC3E}">
        <p14:creationId xmlns:p14="http://schemas.microsoft.com/office/powerpoint/2010/main" val="18767672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6EB4EE0-D368-1AD9-2BF2-7A62DE9F0025}"/>
              </a:ext>
            </a:extLst>
          </p:cNvPr>
          <p:cNvSpPr>
            <a:spLocks noGrp="1"/>
          </p:cNvSpPr>
          <p:nvPr>
            <p:ph idx="1"/>
          </p:nvPr>
        </p:nvSpPr>
        <p:spPr>
          <a:xfrm>
            <a:off x="1484310" y="1596189"/>
            <a:ext cx="10018713" cy="4860758"/>
          </a:xfrm>
        </p:spPr>
        <p:txBody>
          <a:bodyPr anchor="t">
            <a:normAutofit/>
          </a:bodyPr>
          <a:lstStyle/>
          <a:p>
            <a:r>
              <a:rPr lang="es-ES" sz="1800" dirty="0"/>
              <a:t>Lista de grupos de consumo</a:t>
            </a:r>
          </a:p>
          <a:p>
            <a:pPr lvl="1"/>
            <a:r>
              <a:rPr lang="es-ES" sz="1400" b="0" dirty="0">
                <a:effectLst/>
              </a:rPr>
              <a:t>kafka-consumer-groups.sh </a:t>
            </a:r>
            <a:r>
              <a:rPr lang="es-ES" sz="1400" b="0" dirty="0">
                <a:solidFill>
                  <a:srgbClr val="569CD6"/>
                </a:solidFill>
                <a:effectLst/>
              </a:rPr>
              <a:t>--</a:t>
            </a:r>
            <a:r>
              <a:rPr lang="es-ES" sz="1400" b="0" dirty="0" err="1">
                <a:solidFill>
                  <a:srgbClr val="569CD6"/>
                </a:solidFill>
                <a:effectLst/>
              </a:rPr>
              <a:t>bootstrap</a:t>
            </a:r>
            <a:r>
              <a:rPr lang="es-ES" sz="1400" b="0" dirty="0">
                <a:solidFill>
                  <a:srgbClr val="569CD6"/>
                </a:solidFill>
                <a:effectLst/>
              </a:rPr>
              <a:t>-server</a:t>
            </a:r>
            <a:r>
              <a:rPr lang="es-ES" sz="1400" b="0" dirty="0">
                <a:solidFill>
                  <a:srgbClr val="CCCCCC"/>
                </a:solidFill>
                <a:effectLst/>
              </a:rPr>
              <a:t> </a:t>
            </a:r>
            <a:r>
              <a:rPr lang="es-ES" sz="1400" b="0" dirty="0">
                <a:solidFill>
                  <a:srgbClr val="CE9178"/>
                </a:solidFill>
                <a:effectLst/>
              </a:rPr>
              <a:t>localhost:9092</a:t>
            </a:r>
            <a:r>
              <a:rPr lang="es-ES" sz="1400" b="0" dirty="0">
                <a:solidFill>
                  <a:srgbClr val="CCCCCC"/>
                </a:solidFill>
                <a:effectLst/>
              </a:rPr>
              <a:t> </a:t>
            </a:r>
            <a:r>
              <a:rPr lang="es-ES" sz="1400" b="0" dirty="0">
                <a:solidFill>
                  <a:srgbClr val="569CD6"/>
                </a:solidFill>
                <a:effectLst/>
              </a:rPr>
              <a:t>--</a:t>
            </a:r>
            <a:r>
              <a:rPr lang="es-ES" sz="1400" b="0" dirty="0" err="1">
                <a:solidFill>
                  <a:srgbClr val="569CD6"/>
                </a:solidFill>
                <a:effectLst/>
              </a:rPr>
              <a:t>list</a:t>
            </a:r>
            <a:endParaRPr lang="es-ES" sz="1400" b="0" dirty="0">
              <a:solidFill>
                <a:srgbClr val="CCCCCC"/>
              </a:solidFill>
              <a:effectLst/>
            </a:endParaRPr>
          </a:p>
          <a:p>
            <a:r>
              <a:rPr lang="es-ES" sz="1800" dirty="0"/>
              <a:t>Describir un grupo</a:t>
            </a:r>
          </a:p>
          <a:p>
            <a:pPr lvl="1"/>
            <a:r>
              <a:rPr lang="es-ES" sz="1400" b="0" dirty="0">
                <a:effectLst/>
              </a:rPr>
              <a:t>kafka-consumer-groups.sh </a:t>
            </a:r>
            <a:r>
              <a:rPr lang="es-ES" sz="1400" b="0" dirty="0">
                <a:solidFill>
                  <a:srgbClr val="569CD6"/>
                </a:solidFill>
                <a:effectLst/>
              </a:rPr>
              <a:t>--</a:t>
            </a:r>
            <a:r>
              <a:rPr lang="es-ES" sz="1400" b="0" dirty="0" err="1">
                <a:solidFill>
                  <a:srgbClr val="569CD6"/>
                </a:solidFill>
                <a:effectLst/>
              </a:rPr>
              <a:t>bootstrap</a:t>
            </a:r>
            <a:r>
              <a:rPr lang="es-ES" sz="1400" b="0" dirty="0">
                <a:solidFill>
                  <a:srgbClr val="569CD6"/>
                </a:solidFill>
                <a:effectLst/>
              </a:rPr>
              <a:t>-server</a:t>
            </a:r>
            <a:r>
              <a:rPr lang="es-ES" sz="1400" b="0" dirty="0">
                <a:solidFill>
                  <a:srgbClr val="CCCCCC"/>
                </a:solidFill>
                <a:effectLst/>
              </a:rPr>
              <a:t> </a:t>
            </a:r>
            <a:r>
              <a:rPr lang="es-ES" sz="1400" b="0" dirty="0">
                <a:solidFill>
                  <a:srgbClr val="CE9178"/>
                </a:solidFill>
                <a:effectLst/>
              </a:rPr>
              <a:t>localhost:9092</a:t>
            </a:r>
            <a:r>
              <a:rPr lang="es-ES" sz="1400" b="0" dirty="0">
                <a:solidFill>
                  <a:srgbClr val="CCCCCC"/>
                </a:solidFill>
                <a:effectLst/>
              </a:rPr>
              <a:t> </a:t>
            </a:r>
            <a:r>
              <a:rPr lang="es-ES" sz="1400" b="0" dirty="0">
                <a:solidFill>
                  <a:srgbClr val="569CD6"/>
                </a:solidFill>
                <a:effectLst/>
              </a:rPr>
              <a:t>--describe</a:t>
            </a:r>
            <a:r>
              <a:rPr lang="es-ES" sz="1400" b="0" dirty="0">
                <a:solidFill>
                  <a:srgbClr val="CCCCCC"/>
                </a:solidFill>
                <a:effectLst/>
              </a:rPr>
              <a:t> </a:t>
            </a:r>
            <a:r>
              <a:rPr lang="es-ES" sz="1400" b="0" dirty="0">
                <a:solidFill>
                  <a:srgbClr val="569CD6"/>
                </a:solidFill>
                <a:effectLst/>
              </a:rPr>
              <a:t>--</a:t>
            </a:r>
            <a:r>
              <a:rPr lang="es-ES" sz="1400" b="0" dirty="0" err="1">
                <a:solidFill>
                  <a:srgbClr val="569CD6"/>
                </a:solidFill>
                <a:effectLst/>
              </a:rPr>
              <a:t>group</a:t>
            </a:r>
            <a:r>
              <a:rPr lang="es-ES" sz="1400" b="0" dirty="0">
                <a:solidFill>
                  <a:srgbClr val="CCCCCC"/>
                </a:solidFill>
                <a:effectLst/>
              </a:rPr>
              <a:t> </a:t>
            </a:r>
            <a:r>
              <a:rPr lang="es-ES" sz="1400" b="0" dirty="0" err="1">
                <a:solidFill>
                  <a:srgbClr val="CE9178"/>
                </a:solidFill>
                <a:effectLst/>
              </a:rPr>
              <a:t>my</a:t>
            </a:r>
            <a:r>
              <a:rPr lang="es-ES" sz="1400" b="0" dirty="0">
                <a:solidFill>
                  <a:srgbClr val="CE9178"/>
                </a:solidFill>
                <a:effectLst/>
              </a:rPr>
              <a:t>-</a:t>
            </a:r>
            <a:r>
              <a:rPr lang="es-ES" sz="1400" b="0" dirty="0" err="1">
                <a:solidFill>
                  <a:srgbClr val="CE9178"/>
                </a:solidFill>
                <a:effectLst/>
              </a:rPr>
              <a:t>first</a:t>
            </a:r>
            <a:r>
              <a:rPr lang="es-ES" sz="1400" b="0" dirty="0">
                <a:solidFill>
                  <a:srgbClr val="CE9178"/>
                </a:solidFill>
                <a:effectLst/>
              </a:rPr>
              <a:t>-app</a:t>
            </a:r>
            <a:endParaRPr lang="es-ES" sz="1400" b="0" dirty="0">
              <a:solidFill>
                <a:srgbClr val="CCCCCC"/>
              </a:solidFill>
              <a:effectLst/>
            </a:endParaRPr>
          </a:p>
          <a:p>
            <a:pPr lvl="1"/>
            <a:endParaRPr lang="es-ES" sz="1400" dirty="0"/>
          </a:p>
          <a:p>
            <a:pPr lvl="1"/>
            <a:endParaRPr lang="es-ES" sz="1400" dirty="0"/>
          </a:p>
          <a:p>
            <a:pPr marL="285750" lvl="1"/>
            <a:endParaRPr lang="es-ES" sz="1800" dirty="0"/>
          </a:p>
          <a:p>
            <a:pPr marL="742950" lvl="2" fontAlgn="base"/>
            <a:r>
              <a:rPr lang="es-ES" altLang="es-ES" sz="1400" dirty="0"/>
              <a:t>TOPIC: Nombre del </a:t>
            </a:r>
            <a:r>
              <a:rPr lang="es-ES" altLang="es-ES" sz="1400" dirty="0" err="1"/>
              <a:t>topic</a:t>
            </a:r>
            <a:r>
              <a:rPr lang="es-ES" altLang="es-ES" sz="1400" dirty="0"/>
              <a:t> que el grupo está consumiendo (</a:t>
            </a:r>
            <a:r>
              <a:rPr lang="es-ES" altLang="es-ES" sz="1400" dirty="0" err="1"/>
              <a:t>third_topic</a:t>
            </a:r>
            <a:r>
              <a:rPr lang="es-ES" altLang="es-ES" sz="1400" dirty="0"/>
              <a:t>).</a:t>
            </a:r>
          </a:p>
          <a:p>
            <a:pPr marL="742950" lvl="2" fontAlgn="base"/>
            <a:r>
              <a:rPr lang="es-ES" altLang="es-ES" sz="1400" dirty="0"/>
              <a:t>PARTITION: Número de la partición del </a:t>
            </a:r>
            <a:r>
              <a:rPr lang="es-ES" altLang="es-ES" sz="1400" dirty="0" err="1"/>
              <a:t>topic</a:t>
            </a:r>
            <a:r>
              <a:rPr lang="es-ES" altLang="es-ES" sz="1400" dirty="0"/>
              <a:t> asignada al consumidor.</a:t>
            </a:r>
          </a:p>
          <a:p>
            <a:pPr marL="742950" lvl="2" fontAlgn="base"/>
            <a:r>
              <a:rPr lang="es-ES" altLang="es-ES" sz="1400" dirty="0"/>
              <a:t>CURRENT-OFFSET: Último mensaje que el consumidor ha leído en esa partición.</a:t>
            </a:r>
          </a:p>
          <a:p>
            <a:pPr marL="742950" lvl="2" fontAlgn="base"/>
            <a:r>
              <a:rPr lang="es-ES" altLang="es-ES" sz="1400" dirty="0"/>
              <a:t>LOG-END-OFFSET: Última posición del log en la partición (el mensaje más reciente).</a:t>
            </a:r>
          </a:p>
          <a:p>
            <a:pPr marL="742950" lvl="2" fontAlgn="base"/>
            <a:r>
              <a:rPr lang="es-ES" altLang="es-ES" sz="1400" dirty="0"/>
              <a:t>LAG: Diferencia entre LOG-END-OFFSET y CURRENT-OFFSET, indica cuántos mensajes pendientes tiene el consumidor.</a:t>
            </a:r>
          </a:p>
          <a:p>
            <a:pPr marL="742950" lvl="2" fontAlgn="base"/>
            <a:r>
              <a:rPr lang="es-ES" altLang="es-ES" sz="1400" dirty="0"/>
              <a:t>CONSUMER-ID: Identificador del consumidor dentro del grupo (console-consumer-41...). </a:t>
            </a:r>
          </a:p>
          <a:p>
            <a:pPr lvl="1"/>
            <a:endParaRPr lang="es-ES" sz="1400" dirty="0"/>
          </a:p>
        </p:txBody>
      </p:sp>
      <p:sp>
        <p:nvSpPr>
          <p:cNvPr id="4" name="Título 1">
            <a:extLst>
              <a:ext uri="{FF2B5EF4-FFF2-40B4-BE49-F238E27FC236}">
                <a16:creationId xmlns:a16="http://schemas.microsoft.com/office/drawing/2014/main" id="{FA54003A-3038-DD67-B967-168247E07B89}"/>
              </a:ext>
            </a:extLst>
          </p:cNvPr>
          <p:cNvSpPr>
            <a:spLocks noGrp="1"/>
          </p:cNvSpPr>
          <p:nvPr>
            <p:ph type="title"/>
          </p:nvPr>
        </p:nvSpPr>
        <p:spPr>
          <a:xfrm>
            <a:off x="1484311" y="685800"/>
            <a:ext cx="10018713" cy="846221"/>
          </a:xfrm>
        </p:spPr>
        <p:txBody>
          <a:bodyPr/>
          <a:lstStyle/>
          <a:p>
            <a:r>
              <a:rPr lang="es-ES" dirty="0"/>
              <a:t>Kafka </a:t>
            </a:r>
            <a:r>
              <a:rPr lang="es-ES" dirty="0" err="1"/>
              <a:t>consumer</a:t>
            </a:r>
            <a:r>
              <a:rPr lang="es-ES" dirty="0"/>
              <a:t> </a:t>
            </a:r>
            <a:r>
              <a:rPr lang="es-ES" dirty="0" err="1"/>
              <a:t>groups</a:t>
            </a:r>
            <a:r>
              <a:rPr lang="es-ES" dirty="0"/>
              <a:t> CLI</a:t>
            </a:r>
          </a:p>
        </p:txBody>
      </p:sp>
      <p:pic>
        <p:nvPicPr>
          <p:cNvPr id="6" name="Imagen 5">
            <a:extLst>
              <a:ext uri="{FF2B5EF4-FFF2-40B4-BE49-F238E27FC236}">
                <a16:creationId xmlns:a16="http://schemas.microsoft.com/office/drawing/2014/main" id="{D2EB2BC6-97AE-D7A8-EBE8-4F69DA4B5B7E}"/>
              </a:ext>
            </a:extLst>
          </p:cNvPr>
          <p:cNvPicPr>
            <a:picLocks noChangeAspect="1"/>
          </p:cNvPicPr>
          <p:nvPr/>
        </p:nvPicPr>
        <p:blipFill>
          <a:blip r:embed="rId2"/>
          <a:stretch>
            <a:fillRect/>
          </a:stretch>
        </p:blipFill>
        <p:spPr>
          <a:xfrm>
            <a:off x="6011010" y="1532021"/>
            <a:ext cx="4937727" cy="424682"/>
          </a:xfrm>
          <a:prstGeom prst="rect">
            <a:avLst/>
          </a:prstGeom>
        </p:spPr>
      </p:pic>
      <p:pic>
        <p:nvPicPr>
          <p:cNvPr id="10" name="Imagen 9">
            <a:extLst>
              <a:ext uri="{FF2B5EF4-FFF2-40B4-BE49-F238E27FC236}">
                <a16:creationId xmlns:a16="http://schemas.microsoft.com/office/drawing/2014/main" id="{BC91184B-23D2-A0AF-8B2D-71794E823984}"/>
              </a:ext>
            </a:extLst>
          </p:cNvPr>
          <p:cNvPicPr>
            <a:picLocks noChangeAspect="1"/>
          </p:cNvPicPr>
          <p:nvPr/>
        </p:nvPicPr>
        <p:blipFill>
          <a:blip r:embed="rId3"/>
          <a:stretch>
            <a:fillRect/>
          </a:stretch>
        </p:blipFill>
        <p:spPr>
          <a:xfrm>
            <a:off x="3323808" y="3066591"/>
            <a:ext cx="4937727" cy="959977"/>
          </a:xfrm>
          <a:prstGeom prst="rect">
            <a:avLst/>
          </a:prstGeom>
        </p:spPr>
      </p:pic>
    </p:spTree>
    <p:extLst>
      <p:ext uri="{BB962C8B-B14F-4D97-AF65-F5344CB8AC3E}">
        <p14:creationId xmlns:p14="http://schemas.microsoft.com/office/powerpoint/2010/main" val="905619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5338AE-6E48-DE72-001C-A0754E4A29A3}"/>
              </a:ext>
            </a:extLst>
          </p:cNvPr>
          <p:cNvSpPr>
            <a:spLocks noGrp="1"/>
          </p:cNvSpPr>
          <p:nvPr>
            <p:ph type="title"/>
          </p:nvPr>
        </p:nvSpPr>
        <p:spPr>
          <a:xfrm>
            <a:off x="1484311" y="685800"/>
            <a:ext cx="10018713" cy="832607"/>
          </a:xfrm>
        </p:spPr>
        <p:txBody>
          <a:bodyPr/>
          <a:lstStyle/>
          <a:p>
            <a:r>
              <a:rPr lang="es-ES" dirty="0" err="1"/>
              <a:t>Consumer</a:t>
            </a:r>
            <a:r>
              <a:rPr lang="es-ES" dirty="0"/>
              <a:t> </a:t>
            </a:r>
            <a:r>
              <a:rPr lang="es-ES" dirty="0" err="1"/>
              <a:t>groups</a:t>
            </a:r>
            <a:r>
              <a:rPr lang="es-ES" dirty="0"/>
              <a:t> en </a:t>
            </a:r>
            <a:r>
              <a:rPr lang="es-ES" dirty="0" err="1"/>
              <a:t>python</a:t>
            </a:r>
            <a:endParaRPr lang="es-ES" dirty="0"/>
          </a:p>
        </p:txBody>
      </p:sp>
      <p:sp>
        <p:nvSpPr>
          <p:cNvPr id="3" name="Marcador de contenido 2">
            <a:extLst>
              <a:ext uri="{FF2B5EF4-FFF2-40B4-BE49-F238E27FC236}">
                <a16:creationId xmlns:a16="http://schemas.microsoft.com/office/drawing/2014/main" id="{4C794ED1-C98A-C76C-2A35-4EF702469A29}"/>
              </a:ext>
            </a:extLst>
          </p:cNvPr>
          <p:cNvSpPr>
            <a:spLocks noGrp="1"/>
          </p:cNvSpPr>
          <p:nvPr>
            <p:ph idx="1"/>
          </p:nvPr>
        </p:nvSpPr>
        <p:spPr>
          <a:xfrm>
            <a:off x="1484310" y="1803633"/>
            <a:ext cx="10018713" cy="4672668"/>
          </a:xfrm>
        </p:spPr>
        <p:txBody>
          <a:bodyPr anchor="t">
            <a:normAutofit/>
          </a:bodyPr>
          <a:lstStyle/>
          <a:p>
            <a:r>
              <a:rPr lang="es-ES" sz="1800" dirty="0"/>
              <a:t>Vamos a utilizar de base el script kafka-producer-3keys.py y kafka-consumer-3keys.py</a:t>
            </a:r>
          </a:p>
          <a:p>
            <a:r>
              <a:rPr lang="es-ES" sz="1800" dirty="0"/>
              <a:t>Vamos a borrar el </a:t>
            </a:r>
            <a:r>
              <a:rPr lang="es-ES" sz="1800" dirty="0" err="1"/>
              <a:t>topic</a:t>
            </a:r>
            <a:r>
              <a:rPr lang="es-ES" sz="1800" dirty="0"/>
              <a:t> </a:t>
            </a:r>
            <a:r>
              <a:rPr lang="es-ES" sz="1800" dirty="0" err="1"/>
              <a:t>demo_python</a:t>
            </a:r>
            <a:r>
              <a:rPr lang="es-ES" sz="1800" dirty="0"/>
              <a:t> y vamos a crearlo con 3 particiones.</a:t>
            </a:r>
          </a:p>
          <a:p>
            <a:r>
              <a:rPr lang="es-ES" sz="1800" dirty="0"/>
              <a:t>Lanzamos el </a:t>
            </a:r>
            <a:r>
              <a:rPr lang="es-ES" sz="1800" dirty="0" err="1"/>
              <a:t>producer</a:t>
            </a:r>
            <a:r>
              <a:rPr lang="es-ES" sz="1800" dirty="0"/>
              <a:t> y lanzamos una vez el </a:t>
            </a:r>
            <a:r>
              <a:rPr lang="es-ES" sz="1800" dirty="0" err="1"/>
              <a:t>consumer</a:t>
            </a:r>
            <a:r>
              <a:rPr lang="es-ES" sz="1800" dirty="0"/>
              <a:t>, vemos qué pasa.</a:t>
            </a:r>
          </a:p>
          <a:p>
            <a:r>
              <a:rPr lang="es-ES" sz="1800" dirty="0"/>
              <a:t>Lanzamos en otra terminal un segundo </a:t>
            </a:r>
            <a:r>
              <a:rPr lang="es-ES" sz="1800" dirty="0" err="1"/>
              <a:t>consumer</a:t>
            </a:r>
            <a:r>
              <a:rPr lang="es-ES" sz="1800" dirty="0"/>
              <a:t>. ¿Qué pasa? ¿Cómo se dividen los mensajes?</a:t>
            </a:r>
          </a:p>
        </p:txBody>
      </p:sp>
      <p:pic>
        <p:nvPicPr>
          <p:cNvPr id="5" name="Imagen 4" descr="Imagen de la pantalla de un computador&#10;&#10;El contenido generado por IA puede ser incorrecto.">
            <a:extLst>
              <a:ext uri="{FF2B5EF4-FFF2-40B4-BE49-F238E27FC236}">
                <a16:creationId xmlns:a16="http://schemas.microsoft.com/office/drawing/2014/main" id="{999CA5F4-1179-60A9-2940-7C2000ED5AE1}"/>
              </a:ext>
            </a:extLst>
          </p:cNvPr>
          <p:cNvPicPr>
            <a:picLocks noChangeAspect="1"/>
          </p:cNvPicPr>
          <p:nvPr/>
        </p:nvPicPr>
        <p:blipFill>
          <a:blip r:embed="rId2"/>
          <a:stretch>
            <a:fillRect/>
          </a:stretch>
        </p:blipFill>
        <p:spPr>
          <a:xfrm>
            <a:off x="1172845" y="3519091"/>
            <a:ext cx="4137387" cy="1428384"/>
          </a:xfrm>
          <a:prstGeom prst="rect">
            <a:avLst/>
          </a:prstGeom>
        </p:spPr>
      </p:pic>
      <p:pic>
        <p:nvPicPr>
          <p:cNvPr id="7" name="Imagen 6" descr="Texto&#10;&#10;El contenido generado por IA puede ser incorrecto.">
            <a:extLst>
              <a:ext uri="{FF2B5EF4-FFF2-40B4-BE49-F238E27FC236}">
                <a16:creationId xmlns:a16="http://schemas.microsoft.com/office/drawing/2014/main" id="{B0CC90BA-E59A-81C5-8E3F-904E47A440A9}"/>
              </a:ext>
            </a:extLst>
          </p:cNvPr>
          <p:cNvPicPr>
            <a:picLocks noChangeAspect="1"/>
          </p:cNvPicPr>
          <p:nvPr/>
        </p:nvPicPr>
        <p:blipFill>
          <a:blip r:embed="rId3"/>
          <a:stretch>
            <a:fillRect/>
          </a:stretch>
        </p:blipFill>
        <p:spPr>
          <a:xfrm>
            <a:off x="5723731" y="3519091"/>
            <a:ext cx="4351448" cy="1118531"/>
          </a:xfrm>
          <a:prstGeom prst="rect">
            <a:avLst/>
          </a:prstGeom>
        </p:spPr>
      </p:pic>
    </p:spTree>
    <p:extLst>
      <p:ext uri="{BB962C8B-B14F-4D97-AF65-F5344CB8AC3E}">
        <p14:creationId xmlns:p14="http://schemas.microsoft.com/office/powerpoint/2010/main" val="40284059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814118A-5A93-D848-BE12-E2424F872602}"/>
              </a:ext>
            </a:extLst>
          </p:cNvPr>
          <p:cNvSpPr>
            <a:spLocks noGrp="1"/>
          </p:cNvSpPr>
          <p:nvPr>
            <p:ph idx="1"/>
          </p:nvPr>
        </p:nvSpPr>
        <p:spPr>
          <a:xfrm>
            <a:off x="1484310" y="4098757"/>
            <a:ext cx="10018713" cy="1692443"/>
          </a:xfrm>
        </p:spPr>
        <p:txBody>
          <a:bodyPr anchor="t">
            <a:normAutofit/>
          </a:bodyPr>
          <a:lstStyle/>
          <a:p>
            <a:r>
              <a:rPr lang="es-ES" sz="1800" dirty="0"/>
              <a:t>Iniciar/apagar un </a:t>
            </a:r>
            <a:r>
              <a:rPr lang="es-ES" sz="1800" dirty="0" err="1"/>
              <a:t>console</a:t>
            </a:r>
            <a:r>
              <a:rPr lang="es-ES" sz="1800" dirty="0"/>
              <a:t> </a:t>
            </a:r>
            <a:r>
              <a:rPr lang="es-ES" sz="1800" dirty="0" err="1"/>
              <a:t>consumer</a:t>
            </a:r>
            <a:endParaRPr lang="es-ES" sz="1800" dirty="0"/>
          </a:p>
          <a:p>
            <a:r>
              <a:rPr lang="es-ES" sz="1800" dirty="0"/>
              <a:t>Resetear </a:t>
            </a:r>
            <a:r>
              <a:rPr lang="es-ES" sz="1800" dirty="0" err="1"/>
              <a:t>offsets</a:t>
            </a:r>
            <a:endParaRPr lang="es-ES" sz="1800" dirty="0"/>
          </a:p>
          <a:p>
            <a:r>
              <a:rPr lang="es-ES" sz="1800" dirty="0"/>
              <a:t>Empezar el </a:t>
            </a:r>
            <a:r>
              <a:rPr lang="es-ES" sz="1800" dirty="0" err="1"/>
              <a:t>console</a:t>
            </a:r>
            <a:r>
              <a:rPr lang="es-ES" sz="1800" dirty="0"/>
              <a:t> </a:t>
            </a:r>
            <a:r>
              <a:rPr lang="es-ES" sz="1800" dirty="0" err="1"/>
              <a:t>consumer</a:t>
            </a:r>
            <a:r>
              <a:rPr lang="es-ES" sz="1800" dirty="0"/>
              <a:t> y ver qué ocurre.</a:t>
            </a:r>
          </a:p>
        </p:txBody>
      </p:sp>
      <p:sp>
        <p:nvSpPr>
          <p:cNvPr id="4" name="Título 1">
            <a:extLst>
              <a:ext uri="{FF2B5EF4-FFF2-40B4-BE49-F238E27FC236}">
                <a16:creationId xmlns:a16="http://schemas.microsoft.com/office/drawing/2014/main" id="{97B7AB0F-7992-8D3D-AEA0-23D9283A0143}"/>
              </a:ext>
            </a:extLst>
          </p:cNvPr>
          <p:cNvSpPr>
            <a:spLocks noGrp="1"/>
          </p:cNvSpPr>
          <p:nvPr>
            <p:ph type="title"/>
          </p:nvPr>
        </p:nvSpPr>
        <p:spPr>
          <a:xfrm>
            <a:off x="1484311" y="685800"/>
            <a:ext cx="10018713" cy="846221"/>
          </a:xfrm>
        </p:spPr>
        <p:txBody>
          <a:bodyPr/>
          <a:lstStyle/>
          <a:p>
            <a:r>
              <a:rPr lang="es-ES" dirty="0"/>
              <a:t>Kafka </a:t>
            </a:r>
            <a:r>
              <a:rPr lang="es-ES" dirty="0" err="1"/>
              <a:t>consumer</a:t>
            </a:r>
            <a:r>
              <a:rPr lang="es-ES" dirty="0"/>
              <a:t> </a:t>
            </a:r>
            <a:r>
              <a:rPr lang="es-ES" dirty="0" err="1"/>
              <a:t>groups</a:t>
            </a:r>
            <a:r>
              <a:rPr lang="es-ES" dirty="0"/>
              <a:t> CLI – </a:t>
            </a:r>
            <a:r>
              <a:rPr lang="es-ES" dirty="0" err="1"/>
              <a:t>Reset</a:t>
            </a:r>
            <a:r>
              <a:rPr lang="es-ES" dirty="0"/>
              <a:t> </a:t>
            </a:r>
            <a:r>
              <a:rPr lang="es-ES" dirty="0" err="1"/>
              <a:t>offsets</a:t>
            </a:r>
            <a:endParaRPr lang="es-ES" dirty="0"/>
          </a:p>
        </p:txBody>
      </p:sp>
      <p:pic>
        <p:nvPicPr>
          <p:cNvPr id="6" name="Imagen 5">
            <a:extLst>
              <a:ext uri="{FF2B5EF4-FFF2-40B4-BE49-F238E27FC236}">
                <a16:creationId xmlns:a16="http://schemas.microsoft.com/office/drawing/2014/main" id="{AA772377-136E-50A5-8CBC-27D55B62C501}"/>
              </a:ext>
            </a:extLst>
          </p:cNvPr>
          <p:cNvPicPr>
            <a:picLocks noChangeAspect="1"/>
          </p:cNvPicPr>
          <p:nvPr/>
        </p:nvPicPr>
        <p:blipFill>
          <a:blip r:embed="rId2"/>
          <a:stretch>
            <a:fillRect/>
          </a:stretch>
        </p:blipFill>
        <p:spPr>
          <a:xfrm>
            <a:off x="2956961" y="1672715"/>
            <a:ext cx="5973679" cy="2044044"/>
          </a:xfrm>
          <a:prstGeom prst="rect">
            <a:avLst/>
          </a:prstGeom>
        </p:spPr>
      </p:pic>
    </p:spTree>
    <p:extLst>
      <p:ext uri="{BB962C8B-B14F-4D97-AF65-F5344CB8AC3E}">
        <p14:creationId xmlns:p14="http://schemas.microsoft.com/office/powerpoint/2010/main" val="34871053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14D321C-E6D4-B264-EABE-20A22D0E2A24}"/>
              </a:ext>
            </a:extLst>
          </p:cNvPr>
          <p:cNvSpPr>
            <a:spLocks noGrp="1"/>
          </p:cNvSpPr>
          <p:nvPr>
            <p:ph idx="1"/>
          </p:nvPr>
        </p:nvSpPr>
        <p:spPr>
          <a:xfrm>
            <a:off x="1484310" y="1748590"/>
            <a:ext cx="10018713" cy="4034590"/>
          </a:xfrm>
        </p:spPr>
        <p:txBody>
          <a:bodyPr anchor="t">
            <a:normAutofit/>
          </a:bodyPr>
          <a:lstStyle/>
          <a:p>
            <a:pPr>
              <a:lnSpc>
                <a:spcPts val="1425"/>
              </a:lnSpc>
            </a:pPr>
            <a:r>
              <a:rPr lang="es-ES" sz="1400" b="0" dirty="0">
                <a:effectLst/>
              </a:rPr>
              <a:t>Describir el grupo de consumo</a:t>
            </a:r>
          </a:p>
          <a:p>
            <a:pPr lvl="1">
              <a:lnSpc>
                <a:spcPts val="1425"/>
              </a:lnSpc>
            </a:pPr>
            <a:r>
              <a:rPr lang="es-ES" sz="1400" b="0" dirty="0">
                <a:effectLst/>
              </a:rPr>
              <a:t>kafka-consumer-groups.sh </a:t>
            </a:r>
            <a:r>
              <a:rPr lang="es-ES" sz="1400" b="0" dirty="0">
                <a:solidFill>
                  <a:srgbClr val="569CD6"/>
                </a:solidFill>
                <a:effectLst/>
              </a:rPr>
              <a:t>--</a:t>
            </a:r>
            <a:r>
              <a:rPr lang="es-ES" sz="1400" b="0" dirty="0" err="1">
                <a:solidFill>
                  <a:srgbClr val="569CD6"/>
                </a:solidFill>
                <a:effectLst/>
              </a:rPr>
              <a:t>bootstrap</a:t>
            </a:r>
            <a:r>
              <a:rPr lang="es-ES" sz="1400" b="0" dirty="0">
                <a:solidFill>
                  <a:srgbClr val="569CD6"/>
                </a:solidFill>
                <a:effectLst/>
              </a:rPr>
              <a:t>-server</a:t>
            </a:r>
            <a:r>
              <a:rPr lang="es-ES" sz="1400" b="0" dirty="0">
                <a:solidFill>
                  <a:srgbClr val="CCCCCC"/>
                </a:solidFill>
                <a:effectLst/>
              </a:rPr>
              <a:t> </a:t>
            </a:r>
            <a:r>
              <a:rPr lang="es-ES" sz="1400" b="0" dirty="0">
                <a:solidFill>
                  <a:srgbClr val="CE9178"/>
                </a:solidFill>
                <a:effectLst/>
              </a:rPr>
              <a:t>localhost:9092</a:t>
            </a:r>
            <a:r>
              <a:rPr lang="es-ES" sz="1400" b="0" dirty="0">
                <a:solidFill>
                  <a:srgbClr val="CCCCCC"/>
                </a:solidFill>
                <a:effectLst/>
              </a:rPr>
              <a:t> </a:t>
            </a:r>
            <a:r>
              <a:rPr lang="es-ES" sz="1400" b="0" dirty="0">
                <a:solidFill>
                  <a:srgbClr val="569CD6"/>
                </a:solidFill>
                <a:effectLst/>
              </a:rPr>
              <a:t>--describe</a:t>
            </a:r>
            <a:r>
              <a:rPr lang="es-ES" sz="1400" b="0" dirty="0">
                <a:solidFill>
                  <a:srgbClr val="CCCCCC"/>
                </a:solidFill>
                <a:effectLst/>
              </a:rPr>
              <a:t> </a:t>
            </a:r>
            <a:r>
              <a:rPr lang="es-ES" sz="1400" b="0" dirty="0">
                <a:solidFill>
                  <a:srgbClr val="569CD6"/>
                </a:solidFill>
                <a:effectLst/>
              </a:rPr>
              <a:t>--</a:t>
            </a:r>
            <a:r>
              <a:rPr lang="es-ES" sz="1400" b="0" dirty="0" err="1">
                <a:solidFill>
                  <a:srgbClr val="569CD6"/>
                </a:solidFill>
                <a:effectLst/>
              </a:rPr>
              <a:t>group</a:t>
            </a:r>
            <a:r>
              <a:rPr lang="es-ES" sz="1400" b="0" dirty="0">
                <a:solidFill>
                  <a:srgbClr val="CCCCCC"/>
                </a:solidFill>
                <a:effectLst/>
              </a:rPr>
              <a:t> </a:t>
            </a:r>
            <a:r>
              <a:rPr lang="es-ES" sz="1400" b="0" dirty="0" err="1">
                <a:solidFill>
                  <a:srgbClr val="CE9178"/>
                </a:solidFill>
                <a:effectLst/>
              </a:rPr>
              <a:t>my</a:t>
            </a:r>
            <a:r>
              <a:rPr lang="es-ES" sz="1400" b="0" dirty="0">
                <a:solidFill>
                  <a:srgbClr val="CE9178"/>
                </a:solidFill>
                <a:effectLst/>
              </a:rPr>
              <a:t>-</a:t>
            </a:r>
            <a:r>
              <a:rPr lang="es-ES" sz="1400" b="0" dirty="0" err="1">
                <a:solidFill>
                  <a:srgbClr val="CE9178"/>
                </a:solidFill>
                <a:effectLst/>
              </a:rPr>
              <a:t>first</a:t>
            </a:r>
            <a:r>
              <a:rPr lang="es-ES" sz="1400" b="0" dirty="0">
                <a:solidFill>
                  <a:srgbClr val="CE9178"/>
                </a:solidFill>
                <a:effectLst/>
              </a:rPr>
              <a:t>-app</a:t>
            </a:r>
            <a:endParaRPr lang="es-ES" sz="1400" b="0" dirty="0">
              <a:solidFill>
                <a:srgbClr val="CCCCCC"/>
              </a:solidFill>
              <a:effectLst/>
            </a:endParaRPr>
          </a:p>
          <a:p>
            <a:pPr>
              <a:lnSpc>
                <a:spcPts val="1425"/>
              </a:lnSpc>
            </a:pPr>
            <a:r>
              <a:rPr lang="es-ES" sz="1400" b="0" dirty="0" err="1">
                <a:effectLst/>
              </a:rPr>
              <a:t>Dry</a:t>
            </a:r>
            <a:r>
              <a:rPr lang="es-ES" sz="1400" b="0" dirty="0">
                <a:effectLst/>
              </a:rPr>
              <a:t> Run: </a:t>
            </a:r>
            <a:r>
              <a:rPr lang="es-ES" sz="1400" b="0" dirty="0" err="1">
                <a:effectLst/>
              </a:rPr>
              <a:t>reset</a:t>
            </a:r>
            <a:r>
              <a:rPr lang="es-ES" sz="1400" b="0" dirty="0">
                <a:effectLst/>
              </a:rPr>
              <a:t> los </a:t>
            </a:r>
            <a:r>
              <a:rPr lang="es-ES" sz="1400" b="0" dirty="0" err="1">
                <a:effectLst/>
              </a:rPr>
              <a:t>offsets</a:t>
            </a:r>
            <a:r>
              <a:rPr lang="es-ES" sz="1400" b="0" dirty="0">
                <a:effectLst/>
              </a:rPr>
              <a:t> al principio de cada partición</a:t>
            </a:r>
          </a:p>
          <a:p>
            <a:pPr lvl="1">
              <a:lnSpc>
                <a:spcPts val="1425"/>
              </a:lnSpc>
            </a:pPr>
            <a:r>
              <a:rPr lang="es-ES" sz="1400" b="0" dirty="0">
                <a:effectLst/>
              </a:rPr>
              <a:t>kafka-consumer-groups.sh </a:t>
            </a:r>
            <a:r>
              <a:rPr lang="es-ES" sz="1400" b="0" dirty="0">
                <a:solidFill>
                  <a:srgbClr val="569CD6"/>
                </a:solidFill>
                <a:effectLst/>
              </a:rPr>
              <a:t>--</a:t>
            </a:r>
            <a:r>
              <a:rPr lang="es-ES" sz="1400" b="0" dirty="0" err="1">
                <a:solidFill>
                  <a:srgbClr val="569CD6"/>
                </a:solidFill>
                <a:effectLst/>
              </a:rPr>
              <a:t>bootstrap</a:t>
            </a:r>
            <a:r>
              <a:rPr lang="es-ES" sz="1400" b="0" dirty="0">
                <a:solidFill>
                  <a:srgbClr val="569CD6"/>
                </a:solidFill>
                <a:effectLst/>
              </a:rPr>
              <a:t>-server</a:t>
            </a:r>
            <a:r>
              <a:rPr lang="es-ES" sz="1400" b="0" dirty="0">
                <a:solidFill>
                  <a:srgbClr val="CCCCCC"/>
                </a:solidFill>
                <a:effectLst/>
              </a:rPr>
              <a:t> </a:t>
            </a:r>
            <a:r>
              <a:rPr lang="es-ES" sz="1400" b="0" dirty="0">
                <a:solidFill>
                  <a:srgbClr val="CE9178"/>
                </a:solidFill>
                <a:effectLst/>
              </a:rPr>
              <a:t>localhost:9092</a:t>
            </a:r>
            <a:r>
              <a:rPr lang="es-ES" sz="1400" b="0" dirty="0">
                <a:solidFill>
                  <a:srgbClr val="CCCCCC"/>
                </a:solidFill>
                <a:effectLst/>
              </a:rPr>
              <a:t> </a:t>
            </a:r>
            <a:r>
              <a:rPr lang="es-ES" sz="1400" b="0" dirty="0">
                <a:solidFill>
                  <a:srgbClr val="569CD6"/>
                </a:solidFill>
                <a:effectLst/>
              </a:rPr>
              <a:t>--</a:t>
            </a:r>
            <a:r>
              <a:rPr lang="es-ES" sz="1400" b="0" dirty="0" err="1">
                <a:solidFill>
                  <a:srgbClr val="569CD6"/>
                </a:solidFill>
                <a:effectLst/>
              </a:rPr>
              <a:t>group</a:t>
            </a:r>
            <a:r>
              <a:rPr lang="es-ES" sz="1400" b="0" dirty="0">
                <a:solidFill>
                  <a:srgbClr val="CCCCCC"/>
                </a:solidFill>
                <a:effectLst/>
              </a:rPr>
              <a:t> </a:t>
            </a:r>
            <a:r>
              <a:rPr lang="es-ES" sz="1400" b="0" dirty="0" err="1">
                <a:solidFill>
                  <a:srgbClr val="CE9178"/>
                </a:solidFill>
                <a:effectLst/>
              </a:rPr>
              <a:t>my</a:t>
            </a:r>
            <a:r>
              <a:rPr lang="es-ES" sz="1400" b="0" dirty="0">
                <a:solidFill>
                  <a:srgbClr val="CE9178"/>
                </a:solidFill>
                <a:effectLst/>
              </a:rPr>
              <a:t>-</a:t>
            </a:r>
            <a:r>
              <a:rPr lang="es-ES" sz="1400" b="0" dirty="0" err="1">
                <a:solidFill>
                  <a:srgbClr val="CE9178"/>
                </a:solidFill>
                <a:effectLst/>
              </a:rPr>
              <a:t>first</a:t>
            </a:r>
            <a:r>
              <a:rPr lang="es-ES" sz="1400" b="0" dirty="0">
                <a:solidFill>
                  <a:srgbClr val="CE9178"/>
                </a:solidFill>
                <a:effectLst/>
              </a:rPr>
              <a:t>-app</a:t>
            </a:r>
            <a:r>
              <a:rPr lang="es-ES" sz="1400" b="0" dirty="0">
                <a:solidFill>
                  <a:srgbClr val="CCCCCC"/>
                </a:solidFill>
                <a:effectLst/>
              </a:rPr>
              <a:t> </a:t>
            </a:r>
            <a:r>
              <a:rPr lang="es-ES" sz="1400" b="0" dirty="0">
                <a:solidFill>
                  <a:srgbClr val="569CD6"/>
                </a:solidFill>
                <a:effectLst/>
              </a:rPr>
              <a:t>--</a:t>
            </a:r>
            <a:r>
              <a:rPr lang="es-ES" sz="1400" b="0" dirty="0" err="1">
                <a:solidFill>
                  <a:srgbClr val="569CD6"/>
                </a:solidFill>
                <a:effectLst/>
              </a:rPr>
              <a:t>reset-offsets</a:t>
            </a:r>
            <a:r>
              <a:rPr lang="es-ES" sz="1400" b="0" dirty="0">
                <a:solidFill>
                  <a:srgbClr val="CCCCCC"/>
                </a:solidFill>
                <a:effectLst/>
              </a:rPr>
              <a:t> </a:t>
            </a:r>
            <a:r>
              <a:rPr lang="es-ES" sz="1400" b="0" dirty="0">
                <a:solidFill>
                  <a:srgbClr val="569CD6"/>
                </a:solidFill>
                <a:effectLst/>
              </a:rPr>
              <a:t>--</a:t>
            </a:r>
            <a:r>
              <a:rPr lang="es-ES" sz="1400" b="0" dirty="0" err="1">
                <a:solidFill>
                  <a:srgbClr val="569CD6"/>
                </a:solidFill>
                <a:effectLst/>
              </a:rPr>
              <a:t>to-earliest</a:t>
            </a:r>
            <a:r>
              <a:rPr lang="es-ES" sz="1400" b="0" dirty="0">
                <a:solidFill>
                  <a:srgbClr val="CCCCCC"/>
                </a:solidFill>
                <a:effectLst/>
              </a:rPr>
              <a:t> </a:t>
            </a:r>
            <a:r>
              <a:rPr lang="es-ES" sz="1400" b="0" dirty="0">
                <a:solidFill>
                  <a:srgbClr val="569CD6"/>
                </a:solidFill>
                <a:effectLst/>
              </a:rPr>
              <a:t>--</a:t>
            </a:r>
            <a:r>
              <a:rPr lang="es-ES" sz="1400" b="0" dirty="0" err="1">
                <a:solidFill>
                  <a:srgbClr val="569CD6"/>
                </a:solidFill>
                <a:effectLst/>
              </a:rPr>
              <a:t>topic</a:t>
            </a:r>
            <a:r>
              <a:rPr lang="es-ES" sz="1400" b="0" dirty="0">
                <a:solidFill>
                  <a:srgbClr val="CCCCCC"/>
                </a:solidFill>
                <a:effectLst/>
              </a:rPr>
              <a:t> </a:t>
            </a:r>
            <a:r>
              <a:rPr lang="es-ES" sz="1400" b="0" dirty="0" err="1">
                <a:solidFill>
                  <a:srgbClr val="CE9178"/>
                </a:solidFill>
                <a:effectLst/>
              </a:rPr>
              <a:t>third_topic</a:t>
            </a:r>
            <a:r>
              <a:rPr lang="es-ES" sz="1400" b="0" dirty="0">
                <a:solidFill>
                  <a:srgbClr val="CCCCCC"/>
                </a:solidFill>
                <a:effectLst/>
              </a:rPr>
              <a:t> </a:t>
            </a:r>
            <a:r>
              <a:rPr lang="es-ES" sz="1400" b="0" dirty="0">
                <a:solidFill>
                  <a:srgbClr val="569CD6"/>
                </a:solidFill>
                <a:effectLst/>
              </a:rPr>
              <a:t>--</a:t>
            </a:r>
            <a:r>
              <a:rPr lang="es-ES" sz="1400" b="0" dirty="0" err="1">
                <a:solidFill>
                  <a:srgbClr val="569CD6"/>
                </a:solidFill>
                <a:effectLst/>
              </a:rPr>
              <a:t>dry</a:t>
            </a:r>
            <a:r>
              <a:rPr lang="es-ES" sz="1400" b="0" dirty="0">
                <a:solidFill>
                  <a:srgbClr val="569CD6"/>
                </a:solidFill>
                <a:effectLst/>
              </a:rPr>
              <a:t>-run</a:t>
            </a:r>
            <a:endParaRPr lang="es-ES" sz="1400" b="0" dirty="0">
              <a:solidFill>
                <a:srgbClr val="CCCCCC"/>
              </a:solidFill>
              <a:effectLst/>
            </a:endParaRPr>
          </a:p>
          <a:p>
            <a:pPr>
              <a:lnSpc>
                <a:spcPts val="1425"/>
              </a:lnSpc>
            </a:pPr>
            <a:r>
              <a:rPr lang="es-ES" sz="1400" b="0" dirty="0">
                <a:effectLst/>
              </a:rPr>
              <a:t>Ejecutar el offset</a:t>
            </a:r>
          </a:p>
          <a:p>
            <a:pPr lvl="1">
              <a:lnSpc>
                <a:spcPts val="1425"/>
              </a:lnSpc>
            </a:pPr>
            <a:r>
              <a:rPr lang="es-ES" sz="1400" b="0" dirty="0">
                <a:effectLst/>
              </a:rPr>
              <a:t>kafka-consumer-groups.sh </a:t>
            </a:r>
            <a:r>
              <a:rPr lang="es-ES" sz="1400" b="0" dirty="0">
                <a:solidFill>
                  <a:srgbClr val="569CD6"/>
                </a:solidFill>
                <a:effectLst/>
              </a:rPr>
              <a:t>--</a:t>
            </a:r>
            <a:r>
              <a:rPr lang="es-ES" sz="1400" b="0" dirty="0" err="1">
                <a:solidFill>
                  <a:srgbClr val="569CD6"/>
                </a:solidFill>
                <a:effectLst/>
              </a:rPr>
              <a:t>bootstrap</a:t>
            </a:r>
            <a:r>
              <a:rPr lang="es-ES" sz="1400" b="0" dirty="0">
                <a:solidFill>
                  <a:srgbClr val="569CD6"/>
                </a:solidFill>
                <a:effectLst/>
              </a:rPr>
              <a:t>-server</a:t>
            </a:r>
            <a:r>
              <a:rPr lang="es-ES" sz="1400" b="0" dirty="0">
                <a:solidFill>
                  <a:srgbClr val="CCCCCC"/>
                </a:solidFill>
                <a:effectLst/>
              </a:rPr>
              <a:t> </a:t>
            </a:r>
            <a:r>
              <a:rPr lang="es-ES" sz="1400" b="0" dirty="0">
                <a:solidFill>
                  <a:srgbClr val="CE9178"/>
                </a:solidFill>
                <a:effectLst/>
              </a:rPr>
              <a:t>localhost:9092</a:t>
            </a:r>
            <a:r>
              <a:rPr lang="es-ES" sz="1400" b="0" dirty="0">
                <a:solidFill>
                  <a:srgbClr val="CCCCCC"/>
                </a:solidFill>
                <a:effectLst/>
              </a:rPr>
              <a:t> </a:t>
            </a:r>
            <a:r>
              <a:rPr lang="es-ES" sz="1400" b="0" dirty="0">
                <a:solidFill>
                  <a:srgbClr val="569CD6"/>
                </a:solidFill>
                <a:effectLst/>
              </a:rPr>
              <a:t>--</a:t>
            </a:r>
            <a:r>
              <a:rPr lang="es-ES" sz="1400" b="0" dirty="0" err="1">
                <a:solidFill>
                  <a:srgbClr val="569CD6"/>
                </a:solidFill>
                <a:effectLst/>
              </a:rPr>
              <a:t>group</a:t>
            </a:r>
            <a:r>
              <a:rPr lang="es-ES" sz="1400" b="0" dirty="0">
                <a:solidFill>
                  <a:srgbClr val="CCCCCC"/>
                </a:solidFill>
                <a:effectLst/>
              </a:rPr>
              <a:t> </a:t>
            </a:r>
            <a:r>
              <a:rPr lang="es-ES" sz="1400" b="0" dirty="0" err="1">
                <a:solidFill>
                  <a:srgbClr val="CE9178"/>
                </a:solidFill>
                <a:effectLst/>
              </a:rPr>
              <a:t>my</a:t>
            </a:r>
            <a:r>
              <a:rPr lang="es-ES" sz="1400" b="0" dirty="0">
                <a:solidFill>
                  <a:srgbClr val="CE9178"/>
                </a:solidFill>
                <a:effectLst/>
              </a:rPr>
              <a:t>-</a:t>
            </a:r>
            <a:r>
              <a:rPr lang="es-ES" sz="1400" b="0" dirty="0" err="1">
                <a:solidFill>
                  <a:srgbClr val="CE9178"/>
                </a:solidFill>
                <a:effectLst/>
              </a:rPr>
              <a:t>first</a:t>
            </a:r>
            <a:r>
              <a:rPr lang="es-ES" sz="1400" b="0" dirty="0">
                <a:solidFill>
                  <a:srgbClr val="CE9178"/>
                </a:solidFill>
                <a:effectLst/>
              </a:rPr>
              <a:t>-app</a:t>
            </a:r>
            <a:r>
              <a:rPr lang="es-ES" sz="1400" b="0" dirty="0">
                <a:solidFill>
                  <a:srgbClr val="CCCCCC"/>
                </a:solidFill>
                <a:effectLst/>
              </a:rPr>
              <a:t> </a:t>
            </a:r>
            <a:r>
              <a:rPr lang="es-ES" sz="1400" b="0" dirty="0">
                <a:solidFill>
                  <a:srgbClr val="569CD6"/>
                </a:solidFill>
                <a:effectLst/>
              </a:rPr>
              <a:t>--</a:t>
            </a:r>
            <a:r>
              <a:rPr lang="es-ES" sz="1400" b="0" dirty="0" err="1">
                <a:solidFill>
                  <a:srgbClr val="569CD6"/>
                </a:solidFill>
                <a:effectLst/>
              </a:rPr>
              <a:t>reset-offsets</a:t>
            </a:r>
            <a:r>
              <a:rPr lang="es-ES" sz="1400" b="0" dirty="0">
                <a:solidFill>
                  <a:srgbClr val="CCCCCC"/>
                </a:solidFill>
                <a:effectLst/>
              </a:rPr>
              <a:t> </a:t>
            </a:r>
            <a:r>
              <a:rPr lang="es-ES" sz="1400" b="0" dirty="0">
                <a:solidFill>
                  <a:srgbClr val="569CD6"/>
                </a:solidFill>
                <a:effectLst/>
              </a:rPr>
              <a:t>--</a:t>
            </a:r>
            <a:r>
              <a:rPr lang="es-ES" sz="1400" b="0" dirty="0" err="1">
                <a:solidFill>
                  <a:srgbClr val="569CD6"/>
                </a:solidFill>
                <a:effectLst/>
              </a:rPr>
              <a:t>to-earliest</a:t>
            </a:r>
            <a:r>
              <a:rPr lang="es-ES" sz="1400" b="0" dirty="0">
                <a:solidFill>
                  <a:srgbClr val="CCCCCC"/>
                </a:solidFill>
                <a:effectLst/>
              </a:rPr>
              <a:t> </a:t>
            </a:r>
            <a:r>
              <a:rPr lang="es-ES" sz="1400" b="0" dirty="0">
                <a:solidFill>
                  <a:srgbClr val="569CD6"/>
                </a:solidFill>
                <a:effectLst/>
              </a:rPr>
              <a:t>--</a:t>
            </a:r>
            <a:r>
              <a:rPr lang="es-ES" sz="1400" b="0" dirty="0" err="1">
                <a:solidFill>
                  <a:srgbClr val="569CD6"/>
                </a:solidFill>
                <a:effectLst/>
              </a:rPr>
              <a:t>topic</a:t>
            </a:r>
            <a:r>
              <a:rPr lang="es-ES" sz="1400" b="0" dirty="0">
                <a:solidFill>
                  <a:srgbClr val="CCCCCC"/>
                </a:solidFill>
                <a:effectLst/>
              </a:rPr>
              <a:t> </a:t>
            </a:r>
            <a:r>
              <a:rPr lang="es-ES" sz="1400" b="0" dirty="0" err="1">
                <a:solidFill>
                  <a:srgbClr val="CE9178"/>
                </a:solidFill>
                <a:effectLst/>
              </a:rPr>
              <a:t>third_topic</a:t>
            </a:r>
            <a:r>
              <a:rPr lang="es-ES" sz="1400" b="0" dirty="0">
                <a:solidFill>
                  <a:srgbClr val="CCCCCC"/>
                </a:solidFill>
                <a:effectLst/>
              </a:rPr>
              <a:t> </a:t>
            </a:r>
            <a:r>
              <a:rPr lang="es-ES" sz="1400" b="0" dirty="0">
                <a:solidFill>
                  <a:srgbClr val="569CD6"/>
                </a:solidFill>
                <a:effectLst/>
              </a:rPr>
              <a:t>--</a:t>
            </a:r>
            <a:r>
              <a:rPr lang="es-ES" sz="1400" b="0" dirty="0" err="1">
                <a:solidFill>
                  <a:srgbClr val="569CD6"/>
                </a:solidFill>
                <a:effectLst/>
              </a:rPr>
              <a:t>execute</a:t>
            </a:r>
            <a:endParaRPr lang="es-ES" sz="1400" b="0" dirty="0">
              <a:solidFill>
                <a:srgbClr val="CCCCCC"/>
              </a:solidFill>
              <a:effectLst/>
            </a:endParaRPr>
          </a:p>
          <a:p>
            <a:pPr>
              <a:lnSpc>
                <a:spcPts val="1425"/>
              </a:lnSpc>
            </a:pPr>
            <a:r>
              <a:rPr lang="es-ES" sz="1400" b="0" dirty="0">
                <a:effectLst/>
              </a:rPr>
              <a:t>Volver a describir</a:t>
            </a:r>
          </a:p>
          <a:p>
            <a:pPr lvl="1">
              <a:lnSpc>
                <a:spcPts val="1425"/>
              </a:lnSpc>
            </a:pPr>
            <a:r>
              <a:rPr lang="es-ES" sz="1400" b="0" dirty="0">
                <a:effectLst/>
              </a:rPr>
              <a:t>kafka-consumer-groups.sh </a:t>
            </a:r>
            <a:r>
              <a:rPr lang="es-ES" sz="1400" b="0" dirty="0">
                <a:solidFill>
                  <a:srgbClr val="569CD6"/>
                </a:solidFill>
                <a:effectLst/>
              </a:rPr>
              <a:t>--</a:t>
            </a:r>
            <a:r>
              <a:rPr lang="es-ES" sz="1400" b="0" dirty="0" err="1">
                <a:solidFill>
                  <a:srgbClr val="569CD6"/>
                </a:solidFill>
                <a:effectLst/>
              </a:rPr>
              <a:t>bootstrap</a:t>
            </a:r>
            <a:r>
              <a:rPr lang="es-ES" sz="1400" b="0" dirty="0">
                <a:solidFill>
                  <a:srgbClr val="569CD6"/>
                </a:solidFill>
                <a:effectLst/>
              </a:rPr>
              <a:t>-server</a:t>
            </a:r>
            <a:r>
              <a:rPr lang="es-ES" sz="1400" b="0" dirty="0">
                <a:solidFill>
                  <a:srgbClr val="CCCCCC"/>
                </a:solidFill>
                <a:effectLst/>
              </a:rPr>
              <a:t> </a:t>
            </a:r>
            <a:r>
              <a:rPr lang="es-ES" sz="1400" b="0" dirty="0">
                <a:solidFill>
                  <a:srgbClr val="CE9178"/>
                </a:solidFill>
                <a:effectLst/>
              </a:rPr>
              <a:t>localhost:9092</a:t>
            </a:r>
            <a:r>
              <a:rPr lang="es-ES" sz="1400" b="0" dirty="0">
                <a:solidFill>
                  <a:srgbClr val="CCCCCC"/>
                </a:solidFill>
                <a:effectLst/>
              </a:rPr>
              <a:t> </a:t>
            </a:r>
            <a:r>
              <a:rPr lang="es-ES" sz="1400" b="0" dirty="0">
                <a:solidFill>
                  <a:srgbClr val="569CD6"/>
                </a:solidFill>
                <a:effectLst/>
              </a:rPr>
              <a:t>--describe</a:t>
            </a:r>
            <a:r>
              <a:rPr lang="es-ES" sz="1400" b="0" dirty="0">
                <a:solidFill>
                  <a:srgbClr val="CCCCCC"/>
                </a:solidFill>
                <a:effectLst/>
              </a:rPr>
              <a:t> </a:t>
            </a:r>
            <a:r>
              <a:rPr lang="es-ES" sz="1400" b="0" dirty="0">
                <a:solidFill>
                  <a:srgbClr val="569CD6"/>
                </a:solidFill>
                <a:effectLst/>
              </a:rPr>
              <a:t>--</a:t>
            </a:r>
            <a:r>
              <a:rPr lang="es-ES" sz="1400" b="0" dirty="0" err="1">
                <a:solidFill>
                  <a:srgbClr val="569CD6"/>
                </a:solidFill>
                <a:effectLst/>
              </a:rPr>
              <a:t>group</a:t>
            </a:r>
            <a:r>
              <a:rPr lang="es-ES" sz="1400" b="0" dirty="0">
                <a:solidFill>
                  <a:srgbClr val="CCCCCC"/>
                </a:solidFill>
                <a:effectLst/>
              </a:rPr>
              <a:t> </a:t>
            </a:r>
            <a:r>
              <a:rPr lang="es-ES" sz="1400" b="0" dirty="0" err="1">
                <a:solidFill>
                  <a:srgbClr val="CE9178"/>
                </a:solidFill>
                <a:effectLst/>
              </a:rPr>
              <a:t>my</a:t>
            </a:r>
            <a:r>
              <a:rPr lang="es-ES" sz="1400" b="0" dirty="0">
                <a:solidFill>
                  <a:srgbClr val="CE9178"/>
                </a:solidFill>
                <a:effectLst/>
              </a:rPr>
              <a:t>-</a:t>
            </a:r>
            <a:r>
              <a:rPr lang="es-ES" sz="1400" b="0" dirty="0" err="1">
                <a:solidFill>
                  <a:srgbClr val="CE9178"/>
                </a:solidFill>
                <a:effectLst/>
              </a:rPr>
              <a:t>first</a:t>
            </a:r>
            <a:r>
              <a:rPr lang="es-ES" sz="1400" b="0" dirty="0">
                <a:solidFill>
                  <a:srgbClr val="CE9178"/>
                </a:solidFill>
                <a:effectLst/>
              </a:rPr>
              <a:t>-app</a:t>
            </a:r>
            <a:endParaRPr lang="es-ES" sz="1400" b="0" dirty="0">
              <a:solidFill>
                <a:srgbClr val="CCCCCC"/>
              </a:solidFill>
              <a:effectLst/>
            </a:endParaRPr>
          </a:p>
          <a:p>
            <a:pPr>
              <a:lnSpc>
                <a:spcPts val="1425"/>
              </a:lnSpc>
            </a:pPr>
            <a:r>
              <a:rPr lang="es-ES" sz="1400" b="0" dirty="0">
                <a:effectLst/>
              </a:rPr>
              <a:t>Consumir desde donde se ha hecho el </a:t>
            </a:r>
            <a:r>
              <a:rPr lang="es-ES" sz="1400" b="0" dirty="0" err="1">
                <a:effectLst/>
              </a:rPr>
              <a:t>reset</a:t>
            </a:r>
            <a:endParaRPr lang="es-ES" sz="1400" b="0" dirty="0">
              <a:effectLst/>
            </a:endParaRPr>
          </a:p>
          <a:p>
            <a:pPr lvl="1">
              <a:lnSpc>
                <a:spcPts val="1425"/>
              </a:lnSpc>
            </a:pPr>
            <a:r>
              <a:rPr lang="es-ES" sz="1400" b="0" dirty="0">
                <a:effectLst/>
              </a:rPr>
              <a:t>kafka-console-consumer.sh </a:t>
            </a:r>
            <a:r>
              <a:rPr lang="es-ES" sz="1400" b="0" dirty="0">
                <a:solidFill>
                  <a:srgbClr val="569CD6"/>
                </a:solidFill>
                <a:effectLst/>
              </a:rPr>
              <a:t>--</a:t>
            </a:r>
            <a:r>
              <a:rPr lang="es-ES" sz="1400" b="0" dirty="0" err="1">
                <a:solidFill>
                  <a:srgbClr val="569CD6"/>
                </a:solidFill>
                <a:effectLst/>
              </a:rPr>
              <a:t>bootstrap</a:t>
            </a:r>
            <a:r>
              <a:rPr lang="es-ES" sz="1400" b="0" dirty="0">
                <a:solidFill>
                  <a:srgbClr val="569CD6"/>
                </a:solidFill>
                <a:effectLst/>
              </a:rPr>
              <a:t>-server</a:t>
            </a:r>
            <a:r>
              <a:rPr lang="es-ES" sz="1400" b="0" dirty="0">
                <a:solidFill>
                  <a:srgbClr val="CCCCCC"/>
                </a:solidFill>
                <a:effectLst/>
              </a:rPr>
              <a:t> </a:t>
            </a:r>
            <a:r>
              <a:rPr lang="es-ES" sz="1400" b="0" dirty="0">
                <a:solidFill>
                  <a:srgbClr val="CE9178"/>
                </a:solidFill>
                <a:effectLst/>
              </a:rPr>
              <a:t>localhost:9092</a:t>
            </a:r>
            <a:r>
              <a:rPr lang="es-ES" sz="1400" b="0" dirty="0">
                <a:solidFill>
                  <a:srgbClr val="CCCCCC"/>
                </a:solidFill>
                <a:effectLst/>
              </a:rPr>
              <a:t> </a:t>
            </a:r>
            <a:r>
              <a:rPr lang="es-ES" sz="1400" b="0" dirty="0">
                <a:solidFill>
                  <a:srgbClr val="569CD6"/>
                </a:solidFill>
                <a:effectLst/>
              </a:rPr>
              <a:t>--</a:t>
            </a:r>
            <a:r>
              <a:rPr lang="es-ES" sz="1400" b="0" dirty="0" err="1">
                <a:solidFill>
                  <a:srgbClr val="569CD6"/>
                </a:solidFill>
                <a:effectLst/>
              </a:rPr>
              <a:t>topic</a:t>
            </a:r>
            <a:r>
              <a:rPr lang="es-ES" sz="1400" b="0" dirty="0">
                <a:solidFill>
                  <a:srgbClr val="CCCCCC"/>
                </a:solidFill>
                <a:effectLst/>
              </a:rPr>
              <a:t> </a:t>
            </a:r>
            <a:r>
              <a:rPr lang="es-ES" sz="1400" b="0" dirty="0" err="1">
                <a:solidFill>
                  <a:srgbClr val="CE9178"/>
                </a:solidFill>
                <a:effectLst/>
              </a:rPr>
              <a:t>third_topic</a:t>
            </a:r>
            <a:r>
              <a:rPr lang="es-ES" sz="1400" b="0" dirty="0">
                <a:solidFill>
                  <a:srgbClr val="CCCCCC"/>
                </a:solidFill>
                <a:effectLst/>
              </a:rPr>
              <a:t> </a:t>
            </a:r>
            <a:r>
              <a:rPr lang="es-ES" sz="1400" b="0" dirty="0">
                <a:solidFill>
                  <a:srgbClr val="569CD6"/>
                </a:solidFill>
                <a:effectLst/>
              </a:rPr>
              <a:t>--</a:t>
            </a:r>
            <a:r>
              <a:rPr lang="es-ES" sz="1400" b="0" dirty="0" err="1">
                <a:solidFill>
                  <a:srgbClr val="569CD6"/>
                </a:solidFill>
                <a:effectLst/>
              </a:rPr>
              <a:t>group</a:t>
            </a:r>
            <a:r>
              <a:rPr lang="es-ES" sz="1400" b="0" dirty="0">
                <a:solidFill>
                  <a:srgbClr val="CCCCCC"/>
                </a:solidFill>
                <a:effectLst/>
              </a:rPr>
              <a:t> </a:t>
            </a:r>
            <a:r>
              <a:rPr lang="es-ES" sz="1400" b="0" dirty="0" err="1">
                <a:solidFill>
                  <a:srgbClr val="CE9178"/>
                </a:solidFill>
                <a:effectLst/>
              </a:rPr>
              <a:t>my</a:t>
            </a:r>
            <a:r>
              <a:rPr lang="es-ES" sz="1400" b="0" dirty="0">
                <a:solidFill>
                  <a:srgbClr val="CE9178"/>
                </a:solidFill>
                <a:effectLst/>
              </a:rPr>
              <a:t>-</a:t>
            </a:r>
            <a:r>
              <a:rPr lang="es-ES" sz="1400" b="0" dirty="0" err="1">
                <a:solidFill>
                  <a:srgbClr val="CE9178"/>
                </a:solidFill>
                <a:effectLst/>
              </a:rPr>
              <a:t>first</a:t>
            </a:r>
            <a:r>
              <a:rPr lang="es-ES" sz="1400" b="0" dirty="0">
                <a:solidFill>
                  <a:srgbClr val="CE9178"/>
                </a:solidFill>
                <a:effectLst/>
              </a:rPr>
              <a:t>-app</a:t>
            </a:r>
            <a:endParaRPr lang="es-ES" sz="1400" b="0" dirty="0">
              <a:solidFill>
                <a:srgbClr val="CCCCCC"/>
              </a:solidFill>
              <a:effectLst/>
            </a:endParaRPr>
          </a:p>
          <a:p>
            <a:endParaRPr lang="es-ES" dirty="0"/>
          </a:p>
        </p:txBody>
      </p:sp>
      <p:sp>
        <p:nvSpPr>
          <p:cNvPr id="4" name="Título 1">
            <a:extLst>
              <a:ext uri="{FF2B5EF4-FFF2-40B4-BE49-F238E27FC236}">
                <a16:creationId xmlns:a16="http://schemas.microsoft.com/office/drawing/2014/main" id="{6CEC17E8-F67F-C2E8-B68C-3FB78923FE44}"/>
              </a:ext>
            </a:extLst>
          </p:cNvPr>
          <p:cNvSpPr>
            <a:spLocks noGrp="1"/>
          </p:cNvSpPr>
          <p:nvPr>
            <p:ph type="title"/>
          </p:nvPr>
        </p:nvSpPr>
        <p:spPr>
          <a:xfrm>
            <a:off x="1484313" y="685800"/>
            <a:ext cx="10018712" cy="927100"/>
          </a:xfrm>
        </p:spPr>
        <p:txBody>
          <a:bodyPr/>
          <a:lstStyle/>
          <a:p>
            <a:r>
              <a:rPr lang="es-ES" dirty="0"/>
              <a:t>Kafka </a:t>
            </a:r>
            <a:r>
              <a:rPr lang="es-ES" dirty="0" err="1"/>
              <a:t>consumer</a:t>
            </a:r>
            <a:r>
              <a:rPr lang="es-ES" dirty="0"/>
              <a:t> </a:t>
            </a:r>
            <a:r>
              <a:rPr lang="es-ES" dirty="0" err="1"/>
              <a:t>groups</a:t>
            </a:r>
            <a:r>
              <a:rPr lang="es-ES" dirty="0"/>
              <a:t> CLI – </a:t>
            </a:r>
            <a:r>
              <a:rPr lang="es-ES" dirty="0" err="1"/>
              <a:t>Reset</a:t>
            </a:r>
            <a:r>
              <a:rPr lang="es-ES" dirty="0"/>
              <a:t> </a:t>
            </a:r>
            <a:r>
              <a:rPr lang="es-ES" dirty="0" err="1"/>
              <a:t>offsets</a:t>
            </a:r>
            <a:endParaRPr lang="es-ES" dirty="0"/>
          </a:p>
        </p:txBody>
      </p:sp>
    </p:spTree>
    <p:extLst>
      <p:ext uri="{BB962C8B-B14F-4D97-AF65-F5344CB8AC3E}">
        <p14:creationId xmlns:p14="http://schemas.microsoft.com/office/powerpoint/2010/main" val="30473708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E20610A0-3143-C789-CD2B-BE78326BFDD2}"/>
            </a:ext>
          </a:extLst>
        </p:cNvPr>
        <p:cNvGrpSpPr/>
        <p:nvPr/>
      </p:nvGrpSpPr>
      <p:grpSpPr>
        <a:xfrm>
          <a:off x="0" y="0"/>
          <a:ext cx="0" cy="0"/>
          <a:chOff x="0" y="0"/>
          <a:chExt cx="0" cy="0"/>
        </a:xfrm>
      </p:grpSpPr>
      <p:sp useBgFill="1">
        <p:nvSpPr>
          <p:cNvPr id="21" name="Rectángulo 20">
            <a:extLst>
              <a:ext uri="{FF2B5EF4-FFF2-40B4-BE49-F238E27FC236}">
                <a16:creationId xmlns:a16="http://schemas.microsoft.com/office/drawing/2014/main" id="{FF06B2A5-2808-A4D0-8982-691E6D8251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a:p>
        </p:txBody>
      </p:sp>
      <p:grpSp>
        <p:nvGrpSpPr>
          <p:cNvPr id="23" name="Grupo 22">
            <a:extLst>
              <a:ext uri="{FF2B5EF4-FFF2-40B4-BE49-F238E27FC236}">
                <a16:creationId xmlns:a16="http://schemas.microsoft.com/office/drawing/2014/main" id="{31ED652C-EA7A-B3D6-3961-11A7D94DB81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0"/>
            <a:ext cx="5014912" cy="6862763"/>
            <a:chOff x="2928938" y="-4763"/>
            <a:chExt cx="5014912" cy="6862763"/>
          </a:xfrm>
        </p:grpSpPr>
        <p:sp>
          <p:nvSpPr>
            <p:cNvPr id="24" name="Forma libre 6">
              <a:extLst>
                <a:ext uri="{FF2B5EF4-FFF2-40B4-BE49-F238E27FC236}">
                  <a16:creationId xmlns:a16="http://schemas.microsoft.com/office/drawing/2014/main" id="{AA3D4B24-1EC3-F1A3-A6DD-CDC1304DE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s-ES"/>
            </a:p>
          </p:txBody>
        </p:sp>
        <p:sp>
          <p:nvSpPr>
            <p:cNvPr id="25" name="Forma libre 7">
              <a:extLst>
                <a:ext uri="{FF2B5EF4-FFF2-40B4-BE49-F238E27FC236}">
                  <a16:creationId xmlns:a16="http://schemas.microsoft.com/office/drawing/2014/main" id="{5FDE5982-CE4E-01AD-F3ED-19B0852C17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s-ES"/>
            </a:p>
          </p:txBody>
        </p:sp>
        <p:sp>
          <p:nvSpPr>
            <p:cNvPr id="26" name="Forma libre 12">
              <a:extLst>
                <a:ext uri="{FF2B5EF4-FFF2-40B4-BE49-F238E27FC236}">
                  <a16:creationId xmlns:a16="http://schemas.microsoft.com/office/drawing/2014/main" id="{EB03BD6D-14AD-CA53-56BF-7D811E58C2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s-ES"/>
            </a:p>
          </p:txBody>
        </p:sp>
        <p:sp>
          <p:nvSpPr>
            <p:cNvPr id="27" name="Forma libre 13">
              <a:extLst>
                <a:ext uri="{FF2B5EF4-FFF2-40B4-BE49-F238E27FC236}">
                  <a16:creationId xmlns:a16="http://schemas.microsoft.com/office/drawing/2014/main" id="{B205836E-6D6A-59AC-FEC4-76026B2693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s-ES"/>
            </a:p>
          </p:txBody>
        </p:sp>
        <p:sp>
          <p:nvSpPr>
            <p:cNvPr id="28" name="Forma libre 14">
              <a:extLst>
                <a:ext uri="{FF2B5EF4-FFF2-40B4-BE49-F238E27FC236}">
                  <a16:creationId xmlns:a16="http://schemas.microsoft.com/office/drawing/2014/main" id="{B14FF7BA-B2A4-C329-102A-06BF80C322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s-ES"/>
            </a:p>
          </p:txBody>
        </p:sp>
        <p:sp>
          <p:nvSpPr>
            <p:cNvPr id="29" name="Forma libre 15">
              <a:extLst>
                <a:ext uri="{FF2B5EF4-FFF2-40B4-BE49-F238E27FC236}">
                  <a16:creationId xmlns:a16="http://schemas.microsoft.com/office/drawing/2014/main" id="{1D46FCB2-C9E1-FCB4-DD07-51946D04C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s-ES"/>
            </a:p>
          </p:txBody>
        </p:sp>
      </p:grpSp>
      <p:sp>
        <p:nvSpPr>
          <p:cNvPr id="2" name="Título 1">
            <a:extLst>
              <a:ext uri="{FF2B5EF4-FFF2-40B4-BE49-F238E27FC236}">
                <a16:creationId xmlns:a16="http://schemas.microsoft.com/office/drawing/2014/main" id="{22154D4D-C4CA-3E97-91E0-F6723C4EA005}"/>
              </a:ext>
            </a:extLst>
          </p:cNvPr>
          <p:cNvSpPr>
            <a:spLocks noGrp="1"/>
          </p:cNvSpPr>
          <p:nvPr>
            <p:ph type="title"/>
          </p:nvPr>
        </p:nvSpPr>
        <p:spPr>
          <a:xfrm>
            <a:off x="946001" y="788196"/>
            <a:ext cx="7411825" cy="1752599"/>
          </a:xfrm>
        </p:spPr>
        <p:txBody>
          <a:bodyPr rtlCol="0">
            <a:normAutofit/>
          </a:bodyPr>
          <a:lstStyle/>
          <a:p>
            <a:pPr algn="l"/>
            <a:r>
              <a:rPr lang="es-ES" dirty="0"/>
              <a:t>Eligiendo número de particiones y factor de replicación</a:t>
            </a:r>
          </a:p>
        </p:txBody>
      </p:sp>
    </p:spTree>
    <p:extLst>
      <p:ext uri="{BB962C8B-B14F-4D97-AF65-F5344CB8AC3E}">
        <p14:creationId xmlns:p14="http://schemas.microsoft.com/office/powerpoint/2010/main" val="2080201738"/>
      </p:ext>
    </p:extLst>
  </p:cSld>
  <p:clrMapOvr>
    <a:overrideClrMapping bg1="dk1" tx1="lt1" bg2="dk2" tx2="lt2" accent1="accent1" accent2="accent2" accent3="accent3" accent4="accent4" accent5="accent5" accent6="accent6" hlink="hlink" folHlink="folHlink"/>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DCF1F4-3C92-D014-7C08-56D9B716ED0E}"/>
              </a:ext>
            </a:extLst>
          </p:cNvPr>
          <p:cNvSpPr>
            <a:spLocks noGrp="1"/>
          </p:cNvSpPr>
          <p:nvPr>
            <p:ph type="title"/>
          </p:nvPr>
        </p:nvSpPr>
        <p:spPr>
          <a:xfrm>
            <a:off x="1484311" y="685801"/>
            <a:ext cx="10018713" cy="1110916"/>
          </a:xfrm>
        </p:spPr>
        <p:txBody>
          <a:bodyPr/>
          <a:lstStyle/>
          <a:p>
            <a:r>
              <a:rPr lang="es-ES" dirty="0" err="1"/>
              <a:t>Nº</a:t>
            </a:r>
            <a:r>
              <a:rPr lang="es-ES" dirty="0"/>
              <a:t> de particiones</a:t>
            </a:r>
          </a:p>
        </p:txBody>
      </p:sp>
      <p:sp>
        <p:nvSpPr>
          <p:cNvPr id="3" name="Marcador de contenido 2">
            <a:extLst>
              <a:ext uri="{FF2B5EF4-FFF2-40B4-BE49-F238E27FC236}">
                <a16:creationId xmlns:a16="http://schemas.microsoft.com/office/drawing/2014/main" id="{170EFC64-48F1-A27C-6A31-D84FE8B1F013}"/>
              </a:ext>
            </a:extLst>
          </p:cNvPr>
          <p:cNvSpPr>
            <a:spLocks noGrp="1"/>
          </p:cNvSpPr>
          <p:nvPr>
            <p:ph idx="1"/>
          </p:nvPr>
        </p:nvSpPr>
        <p:spPr>
          <a:xfrm>
            <a:off x="1484310" y="1909011"/>
            <a:ext cx="10018713" cy="3882189"/>
          </a:xfrm>
        </p:spPr>
        <p:txBody>
          <a:bodyPr anchor="t">
            <a:normAutofit/>
          </a:bodyPr>
          <a:lstStyle/>
          <a:p>
            <a:r>
              <a:rPr lang="es-ES" sz="1800" dirty="0"/>
              <a:t>Cada partición puede gestionar unos pocos MB/s</a:t>
            </a:r>
          </a:p>
          <a:p>
            <a:r>
              <a:rPr lang="es-ES" sz="1800" dirty="0"/>
              <a:t>Más particiones:</a:t>
            </a:r>
          </a:p>
          <a:p>
            <a:pPr lvl="1"/>
            <a:r>
              <a:rPr lang="es-ES" sz="1400" dirty="0"/>
              <a:t>Mejor paralelismo, mejor rendimiento.</a:t>
            </a:r>
          </a:p>
          <a:p>
            <a:pPr lvl="1"/>
            <a:r>
              <a:rPr lang="es-ES" sz="1400" dirty="0"/>
              <a:t>Posibilidad de tener más consumidores en un grupo para escalar.</a:t>
            </a:r>
          </a:p>
          <a:p>
            <a:pPr lvl="1"/>
            <a:r>
              <a:rPr lang="es-ES" sz="1400" dirty="0"/>
              <a:t>Poder lanzar más </a:t>
            </a:r>
            <a:r>
              <a:rPr lang="es-ES" sz="1400" dirty="0" err="1"/>
              <a:t>brokers</a:t>
            </a:r>
            <a:r>
              <a:rPr lang="es-ES" sz="1400" dirty="0"/>
              <a:t> si tenemos un </a:t>
            </a:r>
            <a:r>
              <a:rPr lang="es-ES" sz="1400" dirty="0" err="1"/>
              <a:t>cluster</a:t>
            </a:r>
            <a:r>
              <a:rPr lang="es-ES" sz="1400" dirty="0"/>
              <a:t> grande.</a:t>
            </a:r>
          </a:p>
          <a:p>
            <a:pPr lvl="1"/>
            <a:r>
              <a:rPr lang="es-ES" sz="1400" dirty="0"/>
              <a:t>Mayor latencia.</a:t>
            </a:r>
          </a:p>
          <a:p>
            <a:pPr lvl="1"/>
            <a:endParaRPr lang="es-ES" sz="1400" dirty="0"/>
          </a:p>
          <a:p>
            <a:r>
              <a:rPr lang="es-ES" sz="1800" dirty="0"/>
              <a:t>Guía:</a:t>
            </a:r>
          </a:p>
          <a:p>
            <a:pPr lvl="1"/>
            <a:r>
              <a:rPr lang="es-ES" sz="1400" dirty="0" err="1"/>
              <a:t>Cluster</a:t>
            </a:r>
            <a:r>
              <a:rPr lang="es-ES" sz="1400" dirty="0"/>
              <a:t> pequeño (&lt; 6 </a:t>
            </a:r>
            <a:r>
              <a:rPr lang="es-ES" sz="1400" dirty="0" err="1"/>
              <a:t>brokers</a:t>
            </a:r>
            <a:r>
              <a:rPr lang="es-ES" sz="1400" dirty="0"/>
              <a:t>): 3 x </a:t>
            </a:r>
            <a:r>
              <a:rPr lang="es-ES" sz="1400" dirty="0" err="1"/>
              <a:t>nº</a:t>
            </a:r>
            <a:r>
              <a:rPr lang="es-ES" sz="1400" dirty="0"/>
              <a:t>  </a:t>
            </a:r>
            <a:r>
              <a:rPr lang="es-ES" sz="1400" dirty="0" err="1"/>
              <a:t>brokers</a:t>
            </a:r>
            <a:endParaRPr lang="es-ES" sz="1400" dirty="0"/>
          </a:p>
          <a:p>
            <a:pPr lvl="1"/>
            <a:r>
              <a:rPr lang="es-ES" sz="1400" dirty="0" err="1"/>
              <a:t>Cluster</a:t>
            </a:r>
            <a:r>
              <a:rPr lang="es-ES" sz="1400" dirty="0"/>
              <a:t> grande (&gt; 12 </a:t>
            </a:r>
            <a:r>
              <a:rPr lang="es-ES" sz="1400" dirty="0" err="1"/>
              <a:t>brokers</a:t>
            </a:r>
            <a:r>
              <a:rPr lang="es-ES" sz="1400" dirty="0"/>
              <a:t>): 2 x </a:t>
            </a:r>
            <a:r>
              <a:rPr lang="es-ES" sz="1400" dirty="0" err="1"/>
              <a:t>nº</a:t>
            </a:r>
            <a:r>
              <a:rPr lang="es-ES" sz="1400" dirty="0"/>
              <a:t> de </a:t>
            </a:r>
            <a:r>
              <a:rPr lang="es-ES" sz="1400" dirty="0" err="1"/>
              <a:t>brokers</a:t>
            </a:r>
            <a:endParaRPr lang="es-ES" sz="1400" dirty="0"/>
          </a:p>
          <a:p>
            <a:pPr lvl="1"/>
            <a:r>
              <a:rPr lang="es-ES" sz="1400" dirty="0"/>
              <a:t>Ajustar el </a:t>
            </a:r>
            <a:r>
              <a:rPr lang="es-ES" sz="1400" dirty="0" err="1"/>
              <a:t>nº</a:t>
            </a:r>
            <a:r>
              <a:rPr lang="es-ES" sz="1400" dirty="0"/>
              <a:t> de consumidores que necesitamos corriendo en paralelo en el pico de rendimiento.</a:t>
            </a:r>
          </a:p>
        </p:txBody>
      </p:sp>
    </p:spTree>
    <p:extLst>
      <p:ext uri="{BB962C8B-B14F-4D97-AF65-F5344CB8AC3E}">
        <p14:creationId xmlns:p14="http://schemas.microsoft.com/office/powerpoint/2010/main" val="4293766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DF328-30F3-E109-2EDA-9F3207D8271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0BD4DCD-A1FA-6D87-0ADF-27796F8924E9}"/>
              </a:ext>
            </a:extLst>
          </p:cNvPr>
          <p:cNvSpPr>
            <a:spLocks noGrp="1"/>
          </p:cNvSpPr>
          <p:nvPr>
            <p:ph type="title"/>
          </p:nvPr>
        </p:nvSpPr>
        <p:spPr>
          <a:xfrm>
            <a:off x="1484311" y="685801"/>
            <a:ext cx="10018713" cy="1110916"/>
          </a:xfrm>
        </p:spPr>
        <p:txBody>
          <a:bodyPr/>
          <a:lstStyle/>
          <a:p>
            <a:r>
              <a:rPr lang="es-ES" dirty="0"/>
              <a:t>Factor de replicación</a:t>
            </a:r>
          </a:p>
        </p:txBody>
      </p:sp>
      <p:sp>
        <p:nvSpPr>
          <p:cNvPr id="3" name="Marcador de contenido 2">
            <a:extLst>
              <a:ext uri="{FF2B5EF4-FFF2-40B4-BE49-F238E27FC236}">
                <a16:creationId xmlns:a16="http://schemas.microsoft.com/office/drawing/2014/main" id="{6C15B520-EB80-E280-FDB8-8674621874E4}"/>
              </a:ext>
            </a:extLst>
          </p:cNvPr>
          <p:cNvSpPr>
            <a:spLocks noGrp="1"/>
          </p:cNvSpPr>
          <p:nvPr>
            <p:ph idx="1"/>
          </p:nvPr>
        </p:nvSpPr>
        <p:spPr>
          <a:xfrm>
            <a:off x="1484310" y="1909011"/>
            <a:ext cx="10018713" cy="3882189"/>
          </a:xfrm>
        </p:spPr>
        <p:txBody>
          <a:bodyPr anchor="t">
            <a:normAutofit/>
          </a:bodyPr>
          <a:lstStyle/>
          <a:p>
            <a:r>
              <a:rPr lang="es-ES" sz="1800" dirty="0"/>
              <a:t>Debería ser mínimo 2, normalmente es 3, máximo 4.</a:t>
            </a:r>
          </a:p>
          <a:p>
            <a:r>
              <a:rPr lang="es-ES" sz="1800" dirty="0"/>
              <a:t>Mayor factor de replicación (N).</a:t>
            </a:r>
          </a:p>
          <a:p>
            <a:pPr lvl="1"/>
            <a:r>
              <a:rPr lang="es-ES" sz="1600" dirty="0"/>
              <a:t>Más durabilidad del sistema (N-1 </a:t>
            </a:r>
            <a:r>
              <a:rPr lang="es-ES" sz="1600" dirty="0" err="1"/>
              <a:t>brokers</a:t>
            </a:r>
            <a:r>
              <a:rPr lang="es-ES" sz="1600" dirty="0"/>
              <a:t> pueden fallar).</a:t>
            </a:r>
          </a:p>
          <a:p>
            <a:pPr lvl="1"/>
            <a:r>
              <a:rPr lang="es-ES" sz="1600" dirty="0"/>
              <a:t>Mayor latencia (si </a:t>
            </a:r>
            <a:r>
              <a:rPr lang="es-ES" sz="1600" dirty="0" err="1"/>
              <a:t>acks</a:t>
            </a:r>
            <a:r>
              <a:rPr lang="es-ES" sz="1600" dirty="0"/>
              <a:t>=</a:t>
            </a:r>
            <a:r>
              <a:rPr lang="es-ES" sz="1600" dirty="0" err="1"/>
              <a:t>all</a:t>
            </a:r>
            <a:r>
              <a:rPr lang="es-ES" sz="1600" dirty="0"/>
              <a:t>)</a:t>
            </a:r>
          </a:p>
          <a:p>
            <a:pPr lvl="1"/>
            <a:r>
              <a:rPr lang="es-ES" sz="1600" dirty="0"/>
              <a:t>Mayor espacio necesario en disco.</a:t>
            </a:r>
          </a:p>
        </p:txBody>
      </p:sp>
    </p:spTree>
    <p:extLst>
      <p:ext uri="{BB962C8B-B14F-4D97-AF65-F5344CB8AC3E}">
        <p14:creationId xmlns:p14="http://schemas.microsoft.com/office/powerpoint/2010/main" val="14078946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72B9098-3437-A639-2FE2-1E569B154690}"/>
            </a:ext>
          </a:extLst>
        </p:cNvPr>
        <p:cNvGrpSpPr/>
        <p:nvPr/>
      </p:nvGrpSpPr>
      <p:grpSpPr>
        <a:xfrm>
          <a:off x="0" y="0"/>
          <a:ext cx="0" cy="0"/>
          <a:chOff x="0" y="0"/>
          <a:chExt cx="0" cy="0"/>
        </a:xfrm>
      </p:grpSpPr>
      <p:sp useBgFill="1">
        <p:nvSpPr>
          <p:cNvPr id="21" name="Rectángulo 20">
            <a:extLst>
              <a:ext uri="{FF2B5EF4-FFF2-40B4-BE49-F238E27FC236}">
                <a16:creationId xmlns:a16="http://schemas.microsoft.com/office/drawing/2014/main" id="{B8C60A1B-373A-7A68-74A1-41B7B35AB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a:p>
        </p:txBody>
      </p:sp>
      <p:grpSp>
        <p:nvGrpSpPr>
          <p:cNvPr id="23" name="Grupo 22">
            <a:extLst>
              <a:ext uri="{FF2B5EF4-FFF2-40B4-BE49-F238E27FC236}">
                <a16:creationId xmlns:a16="http://schemas.microsoft.com/office/drawing/2014/main" id="{0F37C08C-4544-0518-B5E4-641357C59B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0"/>
            <a:ext cx="5014912" cy="6862763"/>
            <a:chOff x="2928938" y="-4763"/>
            <a:chExt cx="5014912" cy="6862763"/>
          </a:xfrm>
        </p:grpSpPr>
        <p:sp>
          <p:nvSpPr>
            <p:cNvPr id="24" name="Forma libre 6">
              <a:extLst>
                <a:ext uri="{FF2B5EF4-FFF2-40B4-BE49-F238E27FC236}">
                  <a16:creationId xmlns:a16="http://schemas.microsoft.com/office/drawing/2014/main" id="{A2B15B73-D86C-EFDA-C94F-6FC8AD4355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s-ES"/>
            </a:p>
          </p:txBody>
        </p:sp>
        <p:sp>
          <p:nvSpPr>
            <p:cNvPr id="25" name="Forma libre 7">
              <a:extLst>
                <a:ext uri="{FF2B5EF4-FFF2-40B4-BE49-F238E27FC236}">
                  <a16:creationId xmlns:a16="http://schemas.microsoft.com/office/drawing/2014/main" id="{EC288080-2C62-7D76-7640-2728D2B676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s-ES"/>
            </a:p>
          </p:txBody>
        </p:sp>
        <p:sp>
          <p:nvSpPr>
            <p:cNvPr id="26" name="Forma libre 12">
              <a:extLst>
                <a:ext uri="{FF2B5EF4-FFF2-40B4-BE49-F238E27FC236}">
                  <a16:creationId xmlns:a16="http://schemas.microsoft.com/office/drawing/2014/main" id="{BFB22023-C914-27A7-87A8-A07F888F16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s-ES"/>
            </a:p>
          </p:txBody>
        </p:sp>
        <p:sp>
          <p:nvSpPr>
            <p:cNvPr id="27" name="Forma libre 13">
              <a:extLst>
                <a:ext uri="{FF2B5EF4-FFF2-40B4-BE49-F238E27FC236}">
                  <a16:creationId xmlns:a16="http://schemas.microsoft.com/office/drawing/2014/main" id="{5EE4ADA4-F4F4-29A1-E7B9-09D544F0F4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s-ES"/>
            </a:p>
          </p:txBody>
        </p:sp>
        <p:sp>
          <p:nvSpPr>
            <p:cNvPr id="28" name="Forma libre 14">
              <a:extLst>
                <a:ext uri="{FF2B5EF4-FFF2-40B4-BE49-F238E27FC236}">
                  <a16:creationId xmlns:a16="http://schemas.microsoft.com/office/drawing/2014/main" id="{0AFE2E0C-6D75-69F5-390E-F3128F41A8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s-ES"/>
            </a:p>
          </p:txBody>
        </p:sp>
        <p:sp>
          <p:nvSpPr>
            <p:cNvPr id="29" name="Forma libre 15">
              <a:extLst>
                <a:ext uri="{FF2B5EF4-FFF2-40B4-BE49-F238E27FC236}">
                  <a16:creationId xmlns:a16="http://schemas.microsoft.com/office/drawing/2014/main" id="{373543FB-26C2-EEF4-B501-DB7F68DB8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s-ES"/>
            </a:p>
          </p:txBody>
        </p:sp>
      </p:grpSp>
      <p:sp>
        <p:nvSpPr>
          <p:cNvPr id="2" name="Título 1">
            <a:extLst>
              <a:ext uri="{FF2B5EF4-FFF2-40B4-BE49-F238E27FC236}">
                <a16:creationId xmlns:a16="http://schemas.microsoft.com/office/drawing/2014/main" id="{0FF7BCFB-E451-A6F9-0119-23BA530F1E42}"/>
              </a:ext>
            </a:extLst>
          </p:cNvPr>
          <p:cNvSpPr>
            <a:spLocks noGrp="1"/>
          </p:cNvSpPr>
          <p:nvPr>
            <p:ph type="title"/>
          </p:nvPr>
        </p:nvSpPr>
        <p:spPr>
          <a:xfrm>
            <a:off x="946001" y="788196"/>
            <a:ext cx="7411825" cy="1752599"/>
          </a:xfrm>
        </p:spPr>
        <p:txBody>
          <a:bodyPr rtlCol="0">
            <a:normAutofit/>
          </a:bodyPr>
          <a:lstStyle/>
          <a:p>
            <a:pPr algn="l"/>
            <a:r>
              <a:rPr lang="es-ES" dirty="0"/>
              <a:t>Programación </a:t>
            </a:r>
            <a:r>
              <a:rPr lang="es-ES" dirty="0" err="1"/>
              <a:t>python</a:t>
            </a:r>
            <a:r>
              <a:rPr lang="es-ES" dirty="0"/>
              <a:t> Kafka</a:t>
            </a:r>
          </a:p>
        </p:txBody>
      </p:sp>
    </p:spTree>
    <p:extLst>
      <p:ext uri="{BB962C8B-B14F-4D97-AF65-F5344CB8AC3E}">
        <p14:creationId xmlns:p14="http://schemas.microsoft.com/office/powerpoint/2010/main" val="2940055454"/>
      </p:ext>
    </p:extLst>
  </p:cSld>
  <p:clrMapOvr>
    <a:overrideClrMapping bg1="dk1" tx1="lt1" bg2="dk2" tx2="lt2" accent1="accent1" accent2="accent2" accent3="accent3" accent4="accent4" accent5="accent5" accent6="accent6" hlink="hlink" folHlink="folHlink"/>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9BBF8E-5452-9574-08AC-ACE3AFA795BE}"/>
              </a:ext>
            </a:extLst>
          </p:cNvPr>
          <p:cNvSpPr>
            <a:spLocks noGrp="1"/>
          </p:cNvSpPr>
          <p:nvPr>
            <p:ph type="title"/>
          </p:nvPr>
        </p:nvSpPr>
        <p:spPr>
          <a:xfrm>
            <a:off x="1484312" y="1600200"/>
            <a:ext cx="3549121" cy="1371600"/>
          </a:xfrm>
        </p:spPr>
        <p:txBody>
          <a:bodyPr anchor="b">
            <a:normAutofit/>
          </a:bodyPr>
          <a:lstStyle/>
          <a:p>
            <a:r>
              <a:rPr lang="es-ES"/>
              <a:t>Creación de un flujo para MIR250</a:t>
            </a:r>
          </a:p>
        </p:txBody>
      </p:sp>
      <p:pic>
        <p:nvPicPr>
          <p:cNvPr id="9" name="Imagen 8">
            <a:extLst>
              <a:ext uri="{FF2B5EF4-FFF2-40B4-BE49-F238E27FC236}">
                <a16:creationId xmlns:a16="http://schemas.microsoft.com/office/drawing/2014/main" id="{68253BDE-870A-08FB-B0AB-2F9FE71FAE9B}"/>
              </a:ext>
            </a:extLst>
          </p:cNvPr>
          <p:cNvPicPr>
            <a:picLocks noChangeAspect="1"/>
          </p:cNvPicPr>
          <p:nvPr/>
        </p:nvPicPr>
        <p:blipFill>
          <a:blip r:embed="rId2"/>
          <a:stretch>
            <a:fillRect/>
          </a:stretch>
        </p:blipFill>
        <p:spPr>
          <a:xfrm>
            <a:off x="5262033" y="1631445"/>
            <a:ext cx="6240990" cy="3214109"/>
          </a:xfrm>
          <a:prstGeom prst="rect">
            <a:avLst/>
          </a:prstGeom>
          <a:noFill/>
        </p:spPr>
      </p:pic>
      <p:sp>
        <p:nvSpPr>
          <p:cNvPr id="3" name="Marcador de contenido 2">
            <a:extLst>
              <a:ext uri="{FF2B5EF4-FFF2-40B4-BE49-F238E27FC236}">
                <a16:creationId xmlns:a16="http://schemas.microsoft.com/office/drawing/2014/main" id="{7C426629-B565-D52A-DA7E-1AAC0BB846DF}"/>
              </a:ext>
            </a:extLst>
          </p:cNvPr>
          <p:cNvSpPr>
            <a:spLocks noGrp="1"/>
          </p:cNvSpPr>
          <p:nvPr>
            <p:ph type="body" sz="half" idx="2"/>
          </p:nvPr>
        </p:nvSpPr>
        <p:spPr>
          <a:xfrm>
            <a:off x="1484312" y="2971800"/>
            <a:ext cx="3549650" cy="2514600"/>
          </a:xfrm>
        </p:spPr>
        <p:txBody>
          <a:bodyPr anchor="ctr">
            <a:normAutofit/>
          </a:bodyPr>
          <a:lstStyle/>
          <a:p>
            <a:r>
              <a:rPr lang="es-ES" dirty="0"/>
              <a:t>Flujo de trabajo para obtener información del MIR250, mandar a server de Kafka, procesarla y subirla a </a:t>
            </a:r>
            <a:r>
              <a:rPr lang="es-ES" dirty="0" err="1"/>
              <a:t>influxdb</a:t>
            </a:r>
            <a:r>
              <a:rPr lang="es-ES" dirty="0"/>
              <a:t> + </a:t>
            </a:r>
            <a:r>
              <a:rPr lang="es-ES" dirty="0" err="1"/>
              <a:t>grafana</a:t>
            </a:r>
            <a:endParaRPr lang="es-ES" dirty="0"/>
          </a:p>
        </p:txBody>
      </p:sp>
    </p:spTree>
    <p:extLst>
      <p:ext uri="{BB962C8B-B14F-4D97-AF65-F5344CB8AC3E}">
        <p14:creationId xmlns:p14="http://schemas.microsoft.com/office/powerpoint/2010/main" val="34864953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D568F61-3822-E2FA-95B1-EF1B158E4185}"/>
              </a:ext>
            </a:extLst>
          </p:cNvPr>
          <p:cNvSpPr>
            <a:spLocks noGrp="1"/>
          </p:cNvSpPr>
          <p:nvPr>
            <p:ph type="title"/>
          </p:nvPr>
        </p:nvSpPr>
        <p:spPr>
          <a:xfrm>
            <a:off x="1484311" y="685801"/>
            <a:ext cx="10018713" cy="939800"/>
          </a:xfrm>
        </p:spPr>
        <p:txBody>
          <a:bodyPr/>
          <a:lstStyle/>
          <a:p>
            <a:r>
              <a:rPr lang="en-US" dirty="0"/>
              <a:t>Pasos</a:t>
            </a:r>
          </a:p>
        </p:txBody>
      </p:sp>
      <p:sp>
        <p:nvSpPr>
          <p:cNvPr id="11" name="Content Placeholder 2">
            <a:extLst>
              <a:ext uri="{FF2B5EF4-FFF2-40B4-BE49-F238E27FC236}">
                <a16:creationId xmlns:a16="http://schemas.microsoft.com/office/drawing/2014/main" id="{49BE92B1-CAE9-471F-2A10-9525AAF2919D}"/>
              </a:ext>
            </a:extLst>
          </p:cNvPr>
          <p:cNvSpPr>
            <a:spLocks noGrp="1"/>
          </p:cNvSpPr>
          <p:nvPr>
            <p:ph idx="1"/>
          </p:nvPr>
        </p:nvSpPr>
        <p:spPr>
          <a:xfrm>
            <a:off x="1484310" y="1625601"/>
            <a:ext cx="10018713" cy="4165599"/>
          </a:xfrm>
        </p:spPr>
        <p:txBody>
          <a:bodyPr anchor="t"/>
          <a:lstStyle/>
          <a:p>
            <a:r>
              <a:rPr lang="en-US" dirty="0" err="1"/>
              <a:t>Creación</a:t>
            </a:r>
            <a:r>
              <a:rPr lang="en-US" dirty="0"/>
              <a:t> del topic</a:t>
            </a:r>
          </a:p>
          <a:p>
            <a:r>
              <a:rPr lang="en-US" dirty="0" err="1"/>
              <a:t>Lanzar</a:t>
            </a:r>
            <a:r>
              <a:rPr lang="en-US" dirty="0"/>
              <a:t> </a:t>
            </a:r>
            <a:r>
              <a:rPr lang="en-US" dirty="0" err="1"/>
              <a:t>el</a:t>
            </a:r>
            <a:r>
              <a:rPr lang="en-US" dirty="0"/>
              <a:t> producer que se </a:t>
            </a:r>
            <a:r>
              <a:rPr lang="en-US" dirty="0" err="1"/>
              <a:t>comunica</a:t>
            </a:r>
            <a:r>
              <a:rPr lang="en-US" dirty="0"/>
              <a:t> con la API</a:t>
            </a:r>
          </a:p>
          <a:p>
            <a:r>
              <a:rPr lang="en-US" dirty="0" err="1"/>
              <a:t>Creación</a:t>
            </a:r>
            <a:r>
              <a:rPr lang="en-US" dirty="0"/>
              <a:t> del bucket </a:t>
            </a:r>
            <a:r>
              <a:rPr lang="en-US" dirty="0" err="1"/>
              <a:t>en</a:t>
            </a:r>
            <a:r>
              <a:rPr lang="en-US" dirty="0"/>
              <a:t> </a:t>
            </a:r>
            <a:r>
              <a:rPr lang="en-US" dirty="0" err="1"/>
              <a:t>influxdb</a:t>
            </a:r>
            <a:endParaRPr lang="en-US" dirty="0"/>
          </a:p>
          <a:p>
            <a:r>
              <a:rPr lang="en-US" dirty="0" err="1"/>
              <a:t>Lanzar</a:t>
            </a:r>
            <a:r>
              <a:rPr lang="en-US" dirty="0"/>
              <a:t> </a:t>
            </a:r>
            <a:r>
              <a:rPr lang="en-US" dirty="0" err="1"/>
              <a:t>el</a:t>
            </a:r>
            <a:r>
              <a:rPr lang="en-US" dirty="0"/>
              <a:t> </a:t>
            </a:r>
            <a:r>
              <a:rPr lang="en-US" dirty="0" err="1"/>
              <a:t>consumidor</a:t>
            </a:r>
            <a:endParaRPr lang="en-US" dirty="0"/>
          </a:p>
          <a:p>
            <a:r>
              <a:rPr lang="en-US" dirty="0" err="1"/>
              <a:t>Graficar</a:t>
            </a:r>
            <a:r>
              <a:rPr lang="en-US" dirty="0"/>
              <a:t> </a:t>
            </a:r>
            <a:r>
              <a:rPr lang="en-US" dirty="0" err="1"/>
              <a:t>el</a:t>
            </a:r>
            <a:r>
              <a:rPr lang="en-US" dirty="0"/>
              <a:t> </a:t>
            </a:r>
            <a:r>
              <a:rPr lang="en-US" dirty="0" err="1"/>
              <a:t>grafana</a:t>
            </a:r>
            <a:endParaRPr lang="en-US" dirty="0"/>
          </a:p>
        </p:txBody>
      </p:sp>
    </p:spTree>
    <p:extLst>
      <p:ext uri="{BB962C8B-B14F-4D97-AF65-F5344CB8AC3E}">
        <p14:creationId xmlns:p14="http://schemas.microsoft.com/office/powerpoint/2010/main" val="1075462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15F04B-B575-BEFC-27D9-F696C39C684E}"/>
              </a:ext>
            </a:extLst>
          </p:cNvPr>
          <p:cNvSpPr>
            <a:spLocks noGrp="1"/>
          </p:cNvSpPr>
          <p:nvPr>
            <p:ph type="title"/>
          </p:nvPr>
        </p:nvSpPr>
        <p:spPr/>
        <p:txBody>
          <a:bodyPr/>
          <a:lstStyle/>
          <a:p>
            <a:r>
              <a:rPr lang="es-ES" dirty="0"/>
              <a:t>Configuración del </a:t>
            </a:r>
            <a:r>
              <a:rPr lang="es-ES" dirty="0" err="1"/>
              <a:t>producer</a:t>
            </a:r>
            <a:br>
              <a:rPr lang="es-ES" dirty="0"/>
            </a:br>
            <a:r>
              <a:rPr lang="es-ES" dirty="0"/>
              <a:t>Wikimedia </a:t>
            </a:r>
            <a:r>
              <a:rPr lang="es-ES" dirty="0" err="1"/>
              <a:t>producer</a:t>
            </a:r>
            <a:endParaRPr lang="es-ES" dirty="0"/>
          </a:p>
        </p:txBody>
      </p:sp>
      <p:pic>
        <p:nvPicPr>
          <p:cNvPr id="5" name="Imagen 4">
            <a:extLst>
              <a:ext uri="{FF2B5EF4-FFF2-40B4-BE49-F238E27FC236}">
                <a16:creationId xmlns:a16="http://schemas.microsoft.com/office/drawing/2014/main" id="{6C8182AA-C070-655F-9F06-F410DCAE7A4A}"/>
              </a:ext>
            </a:extLst>
          </p:cNvPr>
          <p:cNvPicPr>
            <a:picLocks noChangeAspect="1"/>
          </p:cNvPicPr>
          <p:nvPr/>
        </p:nvPicPr>
        <p:blipFill>
          <a:blip r:embed="rId2"/>
          <a:stretch>
            <a:fillRect/>
          </a:stretch>
        </p:blipFill>
        <p:spPr>
          <a:xfrm>
            <a:off x="0" y="2666999"/>
            <a:ext cx="5728666" cy="3013935"/>
          </a:xfrm>
          <a:prstGeom prst="rect">
            <a:avLst/>
          </a:prstGeom>
        </p:spPr>
      </p:pic>
      <p:graphicFrame>
        <p:nvGraphicFramePr>
          <p:cNvPr id="6" name="Tabla 5">
            <a:extLst>
              <a:ext uri="{FF2B5EF4-FFF2-40B4-BE49-F238E27FC236}">
                <a16:creationId xmlns:a16="http://schemas.microsoft.com/office/drawing/2014/main" id="{2D3FDB69-B2A5-98E0-6D60-A41349018B0D}"/>
              </a:ext>
            </a:extLst>
          </p:cNvPr>
          <p:cNvGraphicFramePr>
            <a:graphicFrameLocks noGrp="1"/>
          </p:cNvGraphicFramePr>
          <p:nvPr>
            <p:extLst>
              <p:ext uri="{D42A27DB-BD31-4B8C-83A1-F6EECF244321}">
                <p14:modId xmlns:p14="http://schemas.microsoft.com/office/powerpoint/2010/main" val="289255020"/>
              </p:ext>
            </p:extLst>
          </p:nvPr>
        </p:nvGraphicFramePr>
        <p:xfrm>
          <a:off x="5852234" y="3216243"/>
          <a:ext cx="6133820" cy="865824"/>
        </p:xfrm>
        <a:graphic>
          <a:graphicData uri="http://schemas.openxmlformats.org/drawingml/2006/table">
            <a:tbl>
              <a:tblPr firstRow="1" firstCol="1" bandRow="1">
                <a:tableStyleId>{5C22544A-7EE6-4342-B048-85BDC9FD1C3A}</a:tableStyleId>
              </a:tblPr>
              <a:tblGrid>
                <a:gridCol w="1314685">
                  <a:extLst>
                    <a:ext uri="{9D8B030D-6E8A-4147-A177-3AD203B41FA5}">
                      <a16:colId xmlns:a16="http://schemas.microsoft.com/office/drawing/2014/main" val="1738989780"/>
                    </a:ext>
                  </a:extLst>
                </a:gridCol>
                <a:gridCol w="1661242">
                  <a:extLst>
                    <a:ext uri="{9D8B030D-6E8A-4147-A177-3AD203B41FA5}">
                      <a16:colId xmlns:a16="http://schemas.microsoft.com/office/drawing/2014/main" val="1368687184"/>
                    </a:ext>
                  </a:extLst>
                </a:gridCol>
                <a:gridCol w="1472102">
                  <a:extLst>
                    <a:ext uri="{9D8B030D-6E8A-4147-A177-3AD203B41FA5}">
                      <a16:colId xmlns:a16="http://schemas.microsoft.com/office/drawing/2014/main" val="2747758697"/>
                    </a:ext>
                  </a:extLst>
                </a:gridCol>
                <a:gridCol w="1685791">
                  <a:extLst>
                    <a:ext uri="{9D8B030D-6E8A-4147-A177-3AD203B41FA5}">
                      <a16:colId xmlns:a16="http://schemas.microsoft.com/office/drawing/2014/main" val="3949941206"/>
                    </a:ext>
                  </a:extLst>
                </a:gridCol>
              </a:tblGrid>
              <a:tr h="0">
                <a:tc>
                  <a:txBody>
                    <a:bodyPr/>
                    <a:lstStyle/>
                    <a:p>
                      <a:pPr>
                        <a:lnSpc>
                          <a:spcPct val="115000"/>
                        </a:lnSpc>
                        <a:spcAft>
                          <a:spcPts val="800"/>
                        </a:spcAft>
                      </a:pPr>
                      <a:r>
                        <a:rPr lang="es-ES" sz="1200" kern="100">
                          <a:effectLst/>
                        </a:rPr>
                        <a:t>Configuración</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s-ES" sz="1200" kern="100" dirty="0">
                          <a:effectLst/>
                        </a:rPr>
                        <a:t>Predeterminado</a:t>
                      </a:r>
                      <a:endParaRPr lang="es-E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s-ES" sz="1200" kern="100">
                          <a:effectLst/>
                        </a:rPr>
                        <a:t>Recomendado</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s-ES" sz="1200" kern="100">
                          <a:effectLst/>
                        </a:rPr>
                        <a:t>Justificación</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88441576"/>
                  </a:ext>
                </a:extLst>
              </a:tr>
              <a:tr h="0">
                <a:tc>
                  <a:txBody>
                    <a:bodyPr/>
                    <a:lstStyle/>
                    <a:p>
                      <a:pPr>
                        <a:lnSpc>
                          <a:spcPct val="115000"/>
                        </a:lnSpc>
                        <a:spcAft>
                          <a:spcPts val="800"/>
                        </a:spcAft>
                      </a:pPr>
                      <a:r>
                        <a:rPr lang="es-ES" sz="1200" kern="100">
                          <a:effectLst/>
                        </a:rPr>
                        <a:t>bootstrap.servers</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s-ES" sz="1200" kern="100">
                          <a:effectLst/>
                        </a:rPr>
                        <a:t>-</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s-ES" sz="1200" kern="100">
                          <a:effectLst/>
                        </a:rPr>
                        <a:t>localhost:9092</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s-ES" sz="1200" kern="100">
                          <a:effectLst/>
                        </a:rPr>
                        <a:t>Conexión al broker local</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13529148"/>
                  </a:ext>
                </a:extLst>
              </a:tr>
              <a:tr h="0">
                <a:tc>
                  <a:txBody>
                    <a:bodyPr/>
                    <a:lstStyle/>
                    <a:p>
                      <a:pPr>
                        <a:lnSpc>
                          <a:spcPct val="115000"/>
                        </a:lnSpc>
                        <a:spcAft>
                          <a:spcPts val="800"/>
                        </a:spcAft>
                      </a:pPr>
                      <a:r>
                        <a:rPr lang="es-ES" sz="1200" kern="100">
                          <a:effectLst/>
                        </a:rPr>
                        <a:t>client.id</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s-ES" sz="1200" kern="100">
                          <a:effectLst/>
                        </a:rPr>
                        <a:t>-</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s-ES" sz="1200" kern="100">
                          <a:effectLst/>
                        </a:rPr>
                        <a:t>wikimedia-producer</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s-ES" sz="1200" kern="100" dirty="0">
                          <a:effectLst/>
                        </a:rPr>
                        <a:t>Identificación del cliente en logs y métricas</a:t>
                      </a:r>
                      <a:endParaRPr lang="es-E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18622092"/>
                  </a:ext>
                </a:extLst>
              </a:tr>
            </a:tbl>
          </a:graphicData>
        </a:graphic>
      </p:graphicFrame>
      <p:sp>
        <p:nvSpPr>
          <p:cNvPr id="7" name="Rectangle 1">
            <a:extLst>
              <a:ext uri="{FF2B5EF4-FFF2-40B4-BE49-F238E27FC236}">
                <a16:creationId xmlns:a16="http://schemas.microsoft.com/office/drawing/2014/main" id="{E4F01578-1509-E230-6577-0344C95A2F14}"/>
              </a:ext>
            </a:extLst>
          </p:cNvPr>
          <p:cNvSpPr>
            <a:spLocks noChangeArrowheads="1"/>
          </p:cNvSpPr>
          <p:nvPr/>
        </p:nvSpPr>
        <p:spPr bwMode="auto">
          <a:xfrm>
            <a:off x="5914769" y="2688821"/>
            <a:ext cx="19935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1"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Valores Básicos</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765536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0A57C-9391-FEC9-18F0-66249AE5F35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C2AB229-933B-1635-A141-3823C9407FBB}"/>
              </a:ext>
            </a:extLst>
          </p:cNvPr>
          <p:cNvSpPr>
            <a:spLocks noGrp="1"/>
          </p:cNvSpPr>
          <p:nvPr>
            <p:ph type="title"/>
          </p:nvPr>
        </p:nvSpPr>
        <p:spPr/>
        <p:txBody>
          <a:bodyPr/>
          <a:lstStyle/>
          <a:p>
            <a:r>
              <a:rPr lang="es-ES" dirty="0"/>
              <a:t>Configuración del </a:t>
            </a:r>
            <a:r>
              <a:rPr lang="es-ES" dirty="0" err="1"/>
              <a:t>producer</a:t>
            </a:r>
            <a:br>
              <a:rPr lang="es-ES" dirty="0"/>
            </a:br>
            <a:r>
              <a:rPr lang="es-ES" dirty="0"/>
              <a:t>Wikimedia </a:t>
            </a:r>
            <a:r>
              <a:rPr lang="es-ES" dirty="0" err="1"/>
              <a:t>producer</a:t>
            </a:r>
            <a:endParaRPr lang="es-ES" dirty="0"/>
          </a:p>
        </p:txBody>
      </p:sp>
      <p:pic>
        <p:nvPicPr>
          <p:cNvPr id="5" name="Imagen 4">
            <a:extLst>
              <a:ext uri="{FF2B5EF4-FFF2-40B4-BE49-F238E27FC236}">
                <a16:creationId xmlns:a16="http://schemas.microsoft.com/office/drawing/2014/main" id="{AC6ABB94-05DF-A3B8-0474-54B476DEFB98}"/>
              </a:ext>
            </a:extLst>
          </p:cNvPr>
          <p:cNvPicPr>
            <a:picLocks noChangeAspect="1"/>
          </p:cNvPicPr>
          <p:nvPr/>
        </p:nvPicPr>
        <p:blipFill>
          <a:blip r:embed="rId2"/>
          <a:stretch>
            <a:fillRect/>
          </a:stretch>
        </p:blipFill>
        <p:spPr>
          <a:xfrm>
            <a:off x="0" y="2666999"/>
            <a:ext cx="5728666" cy="3013935"/>
          </a:xfrm>
          <a:prstGeom prst="rect">
            <a:avLst/>
          </a:prstGeom>
        </p:spPr>
      </p:pic>
      <p:graphicFrame>
        <p:nvGraphicFramePr>
          <p:cNvPr id="3" name="Tabla 2">
            <a:extLst>
              <a:ext uri="{FF2B5EF4-FFF2-40B4-BE49-F238E27FC236}">
                <a16:creationId xmlns:a16="http://schemas.microsoft.com/office/drawing/2014/main" id="{45CE0452-E745-1CB0-5E65-437C1731C736}"/>
              </a:ext>
            </a:extLst>
          </p:cNvPr>
          <p:cNvGraphicFramePr>
            <a:graphicFrameLocks noGrp="1"/>
          </p:cNvGraphicFramePr>
          <p:nvPr>
            <p:extLst>
              <p:ext uri="{D42A27DB-BD31-4B8C-83A1-F6EECF244321}">
                <p14:modId xmlns:p14="http://schemas.microsoft.com/office/powerpoint/2010/main" val="1653871340"/>
              </p:ext>
            </p:extLst>
          </p:nvPr>
        </p:nvGraphicFramePr>
        <p:xfrm>
          <a:off x="5881584" y="3097830"/>
          <a:ext cx="5604563" cy="1286448"/>
        </p:xfrm>
        <a:graphic>
          <a:graphicData uri="http://schemas.openxmlformats.org/drawingml/2006/table">
            <a:tbl>
              <a:tblPr firstRow="1" firstCol="1" bandRow="1">
                <a:tableStyleId>{5C22544A-7EE6-4342-B048-85BDC9FD1C3A}</a:tableStyleId>
              </a:tblPr>
              <a:tblGrid>
                <a:gridCol w="1127081">
                  <a:extLst>
                    <a:ext uri="{9D8B030D-6E8A-4147-A177-3AD203B41FA5}">
                      <a16:colId xmlns:a16="http://schemas.microsoft.com/office/drawing/2014/main" val="1958663636"/>
                    </a:ext>
                  </a:extLst>
                </a:gridCol>
                <a:gridCol w="1309816">
                  <a:extLst>
                    <a:ext uri="{9D8B030D-6E8A-4147-A177-3AD203B41FA5}">
                      <a16:colId xmlns:a16="http://schemas.microsoft.com/office/drawing/2014/main" val="3883457630"/>
                    </a:ext>
                  </a:extLst>
                </a:gridCol>
                <a:gridCol w="1334530">
                  <a:extLst>
                    <a:ext uri="{9D8B030D-6E8A-4147-A177-3AD203B41FA5}">
                      <a16:colId xmlns:a16="http://schemas.microsoft.com/office/drawing/2014/main" val="1114157244"/>
                    </a:ext>
                  </a:extLst>
                </a:gridCol>
                <a:gridCol w="1833136">
                  <a:extLst>
                    <a:ext uri="{9D8B030D-6E8A-4147-A177-3AD203B41FA5}">
                      <a16:colId xmlns:a16="http://schemas.microsoft.com/office/drawing/2014/main" val="4230854946"/>
                    </a:ext>
                  </a:extLst>
                </a:gridCol>
              </a:tblGrid>
              <a:tr h="0">
                <a:tc>
                  <a:txBody>
                    <a:bodyPr/>
                    <a:lstStyle/>
                    <a:p>
                      <a:pPr>
                        <a:lnSpc>
                          <a:spcPct val="115000"/>
                        </a:lnSpc>
                        <a:spcAft>
                          <a:spcPts val="800"/>
                        </a:spcAft>
                      </a:pPr>
                      <a:r>
                        <a:rPr lang="es-ES" sz="1200" kern="100" dirty="0">
                          <a:effectLst/>
                        </a:rPr>
                        <a:t>Configuración</a:t>
                      </a:r>
                      <a:endParaRPr lang="es-E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s-ES" sz="1200" kern="100">
                          <a:effectLst/>
                        </a:rPr>
                        <a:t>Predeterminado</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s-ES" sz="1200" kern="100">
                          <a:effectLst/>
                        </a:rPr>
                        <a:t>Recomendado</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s-ES" sz="1200" kern="100" dirty="0">
                          <a:effectLst/>
                        </a:rPr>
                        <a:t>Justificación</a:t>
                      </a:r>
                      <a:endParaRPr lang="es-E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125245566"/>
                  </a:ext>
                </a:extLst>
              </a:tr>
              <a:tr h="0">
                <a:tc>
                  <a:txBody>
                    <a:bodyPr/>
                    <a:lstStyle/>
                    <a:p>
                      <a:pPr>
                        <a:lnSpc>
                          <a:spcPct val="115000"/>
                        </a:lnSpc>
                        <a:spcAft>
                          <a:spcPts val="800"/>
                        </a:spcAft>
                      </a:pPr>
                      <a:r>
                        <a:rPr lang="es-ES" sz="1200" kern="100">
                          <a:effectLst/>
                        </a:rPr>
                        <a:t>acks</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s-ES" sz="1200" kern="100" dirty="0">
                          <a:effectLst/>
                        </a:rPr>
                        <a:t>1</a:t>
                      </a:r>
                      <a:endParaRPr lang="es-E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s-ES" sz="1200" kern="100">
                          <a:effectLst/>
                        </a:rPr>
                        <a:t>all</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s-ES" sz="1200" kern="100" dirty="0">
                          <a:effectLst/>
                        </a:rPr>
                        <a:t>Garantiza que los datos se replican completamente antes de confirmar</a:t>
                      </a:r>
                      <a:endParaRPr lang="es-E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19169319"/>
                  </a:ext>
                </a:extLst>
              </a:tr>
              <a:tr h="0">
                <a:tc>
                  <a:txBody>
                    <a:bodyPr/>
                    <a:lstStyle/>
                    <a:p>
                      <a:pPr>
                        <a:lnSpc>
                          <a:spcPct val="115000"/>
                        </a:lnSpc>
                        <a:spcAft>
                          <a:spcPts val="800"/>
                        </a:spcAft>
                      </a:pPr>
                      <a:r>
                        <a:rPr lang="es-ES" sz="1200" kern="100">
                          <a:effectLst/>
                        </a:rPr>
                        <a:t>retries</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s-ES" sz="1200" kern="100">
                          <a:effectLst/>
                        </a:rPr>
                        <a:t>2147483647</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s-ES" sz="1200" kern="100">
                          <a:effectLst/>
                        </a:rPr>
                        <a:t>5</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s-ES" sz="1200" kern="100" dirty="0">
                          <a:effectLst/>
                        </a:rPr>
                        <a:t>Número razonable de reintentos en caso de fallos</a:t>
                      </a:r>
                      <a:endParaRPr lang="es-E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102473280"/>
                  </a:ext>
                </a:extLst>
              </a:tr>
            </a:tbl>
          </a:graphicData>
        </a:graphic>
      </p:graphicFrame>
      <p:sp>
        <p:nvSpPr>
          <p:cNvPr id="4" name="Rectangle 1">
            <a:extLst>
              <a:ext uri="{FF2B5EF4-FFF2-40B4-BE49-F238E27FC236}">
                <a16:creationId xmlns:a16="http://schemas.microsoft.com/office/drawing/2014/main" id="{0E8C8F30-38D5-FECA-23D0-BA917DCCD9CB}"/>
              </a:ext>
            </a:extLst>
          </p:cNvPr>
          <p:cNvSpPr>
            <a:spLocks noChangeArrowheads="1"/>
          </p:cNvSpPr>
          <p:nvPr/>
        </p:nvSpPr>
        <p:spPr bwMode="auto">
          <a:xfrm>
            <a:off x="5881584" y="2666999"/>
            <a:ext cx="282407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1"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Confiabilidad</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234096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A04D2-AB71-3459-0968-7BFD2CD8E5E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46C467A-1827-7990-D04B-C4996AEAA84E}"/>
              </a:ext>
            </a:extLst>
          </p:cNvPr>
          <p:cNvSpPr>
            <a:spLocks noGrp="1"/>
          </p:cNvSpPr>
          <p:nvPr>
            <p:ph type="title"/>
          </p:nvPr>
        </p:nvSpPr>
        <p:spPr/>
        <p:txBody>
          <a:bodyPr/>
          <a:lstStyle/>
          <a:p>
            <a:r>
              <a:rPr lang="es-ES" dirty="0"/>
              <a:t>Configuración del </a:t>
            </a:r>
            <a:r>
              <a:rPr lang="es-ES" dirty="0" err="1"/>
              <a:t>producer</a:t>
            </a:r>
            <a:br>
              <a:rPr lang="es-ES" dirty="0"/>
            </a:br>
            <a:r>
              <a:rPr lang="es-ES" dirty="0"/>
              <a:t>Wikimedia </a:t>
            </a:r>
            <a:r>
              <a:rPr lang="es-ES" dirty="0" err="1"/>
              <a:t>producer</a:t>
            </a:r>
            <a:endParaRPr lang="es-ES" dirty="0"/>
          </a:p>
        </p:txBody>
      </p:sp>
      <p:pic>
        <p:nvPicPr>
          <p:cNvPr id="5" name="Imagen 4">
            <a:extLst>
              <a:ext uri="{FF2B5EF4-FFF2-40B4-BE49-F238E27FC236}">
                <a16:creationId xmlns:a16="http://schemas.microsoft.com/office/drawing/2014/main" id="{6839270D-7AA2-6154-99F9-9D3EDF27F06E}"/>
              </a:ext>
            </a:extLst>
          </p:cNvPr>
          <p:cNvPicPr>
            <a:picLocks noChangeAspect="1"/>
          </p:cNvPicPr>
          <p:nvPr/>
        </p:nvPicPr>
        <p:blipFill>
          <a:blip r:embed="rId2"/>
          <a:stretch>
            <a:fillRect/>
          </a:stretch>
        </p:blipFill>
        <p:spPr>
          <a:xfrm>
            <a:off x="0" y="2666999"/>
            <a:ext cx="5728666" cy="3013935"/>
          </a:xfrm>
          <a:prstGeom prst="rect">
            <a:avLst/>
          </a:prstGeom>
        </p:spPr>
      </p:pic>
      <p:graphicFrame>
        <p:nvGraphicFramePr>
          <p:cNvPr id="6" name="Tabla 5">
            <a:extLst>
              <a:ext uri="{FF2B5EF4-FFF2-40B4-BE49-F238E27FC236}">
                <a16:creationId xmlns:a16="http://schemas.microsoft.com/office/drawing/2014/main" id="{21199890-3991-8699-6600-DDD08217338D}"/>
              </a:ext>
            </a:extLst>
          </p:cNvPr>
          <p:cNvGraphicFramePr>
            <a:graphicFrameLocks noGrp="1"/>
          </p:cNvGraphicFramePr>
          <p:nvPr>
            <p:extLst>
              <p:ext uri="{D42A27DB-BD31-4B8C-83A1-F6EECF244321}">
                <p14:modId xmlns:p14="http://schemas.microsoft.com/office/powerpoint/2010/main" val="2872961517"/>
              </p:ext>
            </p:extLst>
          </p:nvPr>
        </p:nvGraphicFramePr>
        <p:xfrm>
          <a:off x="5927976" y="3172598"/>
          <a:ext cx="6035098" cy="2144080"/>
        </p:xfrm>
        <a:graphic>
          <a:graphicData uri="http://schemas.openxmlformats.org/drawingml/2006/table">
            <a:tbl>
              <a:tblPr firstRow="1" firstCol="1" bandRow="1">
                <a:tableStyleId>{5C22544A-7EE6-4342-B048-85BDC9FD1C3A}</a:tableStyleId>
              </a:tblPr>
              <a:tblGrid>
                <a:gridCol w="1406951">
                  <a:extLst>
                    <a:ext uri="{9D8B030D-6E8A-4147-A177-3AD203B41FA5}">
                      <a16:colId xmlns:a16="http://schemas.microsoft.com/office/drawing/2014/main" val="2061627157"/>
                    </a:ext>
                  </a:extLst>
                </a:gridCol>
                <a:gridCol w="1275347">
                  <a:extLst>
                    <a:ext uri="{9D8B030D-6E8A-4147-A177-3AD203B41FA5}">
                      <a16:colId xmlns:a16="http://schemas.microsoft.com/office/drawing/2014/main" val="1346287843"/>
                    </a:ext>
                  </a:extLst>
                </a:gridCol>
                <a:gridCol w="1147011">
                  <a:extLst>
                    <a:ext uri="{9D8B030D-6E8A-4147-A177-3AD203B41FA5}">
                      <a16:colId xmlns:a16="http://schemas.microsoft.com/office/drawing/2014/main" val="1125547523"/>
                    </a:ext>
                  </a:extLst>
                </a:gridCol>
                <a:gridCol w="2205789">
                  <a:extLst>
                    <a:ext uri="{9D8B030D-6E8A-4147-A177-3AD203B41FA5}">
                      <a16:colId xmlns:a16="http://schemas.microsoft.com/office/drawing/2014/main" val="2439232454"/>
                    </a:ext>
                  </a:extLst>
                </a:gridCol>
              </a:tblGrid>
              <a:tr h="0">
                <a:tc>
                  <a:txBody>
                    <a:bodyPr/>
                    <a:lstStyle/>
                    <a:p>
                      <a:pPr>
                        <a:lnSpc>
                          <a:spcPct val="115000"/>
                        </a:lnSpc>
                        <a:spcAft>
                          <a:spcPts val="800"/>
                        </a:spcAft>
                      </a:pPr>
                      <a:r>
                        <a:rPr lang="es-ES" sz="1200" kern="100" dirty="0">
                          <a:effectLst/>
                        </a:rPr>
                        <a:t>Configuración</a:t>
                      </a:r>
                      <a:endParaRPr lang="es-E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s-ES" sz="1200" kern="100">
                          <a:effectLst/>
                        </a:rPr>
                        <a:t>Predeterminado</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s-ES" sz="1200" kern="100">
                          <a:effectLst/>
                        </a:rPr>
                        <a:t>Recomendado</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s-ES" sz="1200" kern="100">
                          <a:effectLst/>
                        </a:rPr>
                        <a:t>Justificación</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25869266"/>
                  </a:ext>
                </a:extLst>
              </a:tr>
              <a:tr h="0">
                <a:tc>
                  <a:txBody>
                    <a:bodyPr/>
                    <a:lstStyle/>
                    <a:p>
                      <a:pPr>
                        <a:lnSpc>
                          <a:spcPct val="115000"/>
                        </a:lnSpc>
                        <a:spcAft>
                          <a:spcPts val="800"/>
                        </a:spcAft>
                      </a:pPr>
                      <a:r>
                        <a:rPr lang="es-ES" sz="1200" kern="100">
                          <a:effectLst/>
                        </a:rPr>
                        <a:t>compression.type</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s-ES" sz="1200" kern="100">
                          <a:effectLst/>
                        </a:rPr>
                        <a:t>none</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s-ES" sz="1200" kern="100">
                          <a:effectLst/>
                        </a:rPr>
                        <a:t>snappy</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s-ES" sz="1200" kern="100">
                          <a:effectLst/>
                        </a:rPr>
                        <a:t>Buen equilibrio entre velocidad y ratio de compresión para datos JSON</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686410218"/>
                  </a:ext>
                </a:extLst>
              </a:tr>
              <a:tr h="0">
                <a:tc>
                  <a:txBody>
                    <a:bodyPr/>
                    <a:lstStyle/>
                    <a:p>
                      <a:pPr>
                        <a:lnSpc>
                          <a:spcPct val="115000"/>
                        </a:lnSpc>
                        <a:spcAft>
                          <a:spcPts val="800"/>
                        </a:spcAft>
                      </a:pPr>
                      <a:r>
                        <a:rPr lang="es-ES" sz="1200" kern="100">
                          <a:effectLst/>
                        </a:rPr>
                        <a:t>linger.ms</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s-ES" sz="1200" kern="100">
                          <a:effectLst/>
                        </a:rPr>
                        <a:t>0</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s-ES" sz="1200" kern="100">
                          <a:effectLst/>
                        </a:rPr>
                        <a:t>100</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s-ES" sz="1200" kern="100">
                          <a:effectLst/>
                        </a:rPr>
                        <a:t>Acumula mensajes 100ms para reducir overhead de red</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83801604"/>
                  </a:ext>
                </a:extLst>
              </a:tr>
              <a:tr h="0">
                <a:tc>
                  <a:txBody>
                    <a:bodyPr/>
                    <a:lstStyle/>
                    <a:p>
                      <a:pPr>
                        <a:lnSpc>
                          <a:spcPct val="115000"/>
                        </a:lnSpc>
                        <a:spcAft>
                          <a:spcPts val="800"/>
                        </a:spcAft>
                      </a:pPr>
                      <a:r>
                        <a:rPr lang="es-ES" sz="1200" kern="100">
                          <a:effectLst/>
                        </a:rPr>
                        <a:t>batch.size</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s-ES" sz="1200" kern="100">
                          <a:effectLst/>
                        </a:rPr>
                        <a:t>16384</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s-ES" sz="1200" kern="100">
                          <a:effectLst/>
                        </a:rPr>
                        <a:t>65536</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s-ES" sz="1200" kern="100">
                          <a:effectLst/>
                        </a:rPr>
                        <a:t>Lotes de 64KB para mejorar throughput y compresión</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57734209"/>
                  </a:ext>
                </a:extLst>
              </a:tr>
              <a:tr h="0">
                <a:tc>
                  <a:txBody>
                    <a:bodyPr/>
                    <a:lstStyle/>
                    <a:p>
                      <a:pPr>
                        <a:lnSpc>
                          <a:spcPct val="115000"/>
                        </a:lnSpc>
                        <a:spcAft>
                          <a:spcPts val="800"/>
                        </a:spcAft>
                      </a:pPr>
                      <a:r>
                        <a:rPr lang="es-ES" sz="1200" kern="100">
                          <a:effectLst/>
                        </a:rPr>
                        <a:t>buffer.memory</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s-ES" sz="1200" kern="100">
                          <a:effectLst/>
                        </a:rPr>
                        <a:t>33554432</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s-ES" sz="1200" kern="100">
                          <a:effectLst/>
                        </a:rPr>
                        <a:t>33554432</a:t>
                      </a:r>
                      <a:endParaRPr lang="es-ES"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pPr>
                      <a:r>
                        <a:rPr lang="es-ES" sz="1200" kern="100" dirty="0">
                          <a:effectLst/>
                        </a:rPr>
                        <a:t>Valor predeterminado adecuado (32MB)</a:t>
                      </a:r>
                      <a:endParaRPr lang="es-E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21328808"/>
                  </a:ext>
                </a:extLst>
              </a:tr>
            </a:tbl>
          </a:graphicData>
        </a:graphic>
      </p:graphicFrame>
      <p:sp>
        <p:nvSpPr>
          <p:cNvPr id="7" name="Rectangle 1">
            <a:extLst>
              <a:ext uri="{FF2B5EF4-FFF2-40B4-BE49-F238E27FC236}">
                <a16:creationId xmlns:a16="http://schemas.microsoft.com/office/drawing/2014/main" id="{70C4CD34-41CE-B470-AD60-C13CD805D7AF}"/>
              </a:ext>
            </a:extLst>
          </p:cNvPr>
          <p:cNvSpPr>
            <a:spLocks noChangeArrowheads="1"/>
          </p:cNvSpPr>
          <p:nvPr/>
        </p:nvSpPr>
        <p:spPr bwMode="auto">
          <a:xfrm>
            <a:off x="5927976" y="2666999"/>
            <a:ext cx="295132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200" b="1"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Rendimiento y Eficiencia</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477147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1EC723-04D3-3DA0-97F8-2D88709D18F3}"/>
              </a:ext>
            </a:extLst>
          </p:cNvPr>
          <p:cNvSpPr>
            <a:spLocks noGrp="1"/>
          </p:cNvSpPr>
          <p:nvPr>
            <p:ph type="title"/>
          </p:nvPr>
        </p:nvSpPr>
        <p:spPr/>
        <p:txBody>
          <a:bodyPr>
            <a:normAutofit fontScale="90000"/>
          </a:bodyPr>
          <a:lstStyle/>
          <a:p>
            <a:r>
              <a:rPr lang="es-ES" dirty="0"/>
              <a:t>Configuración del </a:t>
            </a:r>
            <a:r>
              <a:rPr lang="es-ES" dirty="0" err="1"/>
              <a:t>producer</a:t>
            </a:r>
            <a:br>
              <a:rPr lang="es-ES" dirty="0"/>
            </a:br>
            <a:r>
              <a:rPr lang="es-ES" dirty="0"/>
              <a:t>Idempotencia</a:t>
            </a:r>
            <a:br>
              <a:rPr lang="es-ES" dirty="0"/>
            </a:br>
            <a:endParaRPr lang="es-ES" dirty="0"/>
          </a:p>
        </p:txBody>
      </p:sp>
      <p:sp>
        <p:nvSpPr>
          <p:cNvPr id="3" name="Marcador de contenido 2">
            <a:extLst>
              <a:ext uri="{FF2B5EF4-FFF2-40B4-BE49-F238E27FC236}">
                <a16:creationId xmlns:a16="http://schemas.microsoft.com/office/drawing/2014/main" id="{CBDC1FE1-58E2-D9EC-C326-38351DFE60A5}"/>
              </a:ext>
            </a:extLst>
          </p:cNvPr>
          <p:cNvSpPr>
            <a:spLocks noGrp="1"/>
          </p:cNvSpPr>
          <p:nvPr>
            <p:ph idx="1"/>
          </p:nvPr>
        </p:nvSpPr>
        <p:spPr/>
        <p:txBody>
          <a:bodyPr>
            <a:normAutofit/>
          </a:bodyPr>
          <a:lstStyle/>
          <a:p>
            <a:r>
              <a:rPr lang="es-ES" sz="1600" dirty="0"/>
              <a:t>La idempotencia en Kafka es una propiedad que garantiza que los mensajes enviados por un productor se escriban exactamente una vez en el log, incluso si el productor reintenta el envío varias veces debido a errores de red o </a:t>
            </a:r>
            <a:r>
              <a:rPr lang="es-ES" sz="1600" dirty="0" err="1"/>
              <a:t>timeouts</a:t>
            </a:r>
            <a:r>
              <a:rPr lang="es-ES" sz="1600" dirty="0"/>
              <a:t>.</a:t>
            </a:r>
          </a:p>
          <a:p>
            <a:r>
              <a:rPr lang="es-ES" sz="1600" dirty="0"/>
              <a:t>Cuando un productor tiene habilitada la idempotencia:</a:t>
            </a:r>
          </a:p>
          <a:p>
            <a:pPr lvl="1" defTabSz="914400" eaLnBrk="0" fontAlgn="base" hangingPunct="0">
              <a:spcBef>
                <a:spcPct val="0"/>
              </a:spcBef>
              <a:spcAft>
                <a:spcPct val="0"/>
              </a:spcAft>
              <a:buClrTx/>
              <a:buSzTx/>
            </a:pPr>
            <a:r>
              <a:rPr kumimoji="0" lang="es-ES" altLang="es-ES" sz="1400" b="0" i="0" u="none" strike="noStrike" cap="none" normalizeH="0" baseline="0" dirty="0">
                <a:ln>
                  <a:noFill/>
                </a:ln>
                <a:solidFill>
                  <a:schemeClr val="tx1"/>
                </a:solidFill>
                <a:effectLst/>
              </a:rPr>
              <a:t>Se le asigna un ID único (PID) </a:t>
            </a:r>
          </a:p>
          <a:p>
            <a:pPr lvl="1" defTabSz="914400" eaLnBrk="0" fontAlgn="base" hangingPunct="0">
              <a:spcBef>
                <a:spcPct val="0"/>
              </a:spcBef>
              <a:spcAft>
                <a:spcPct val="0"/>
              </a:spcAft>
              <a:buClrTx/>
              <a:buSzTx/>
            </a:pPr>
            <a:r>
              <a:rPr kumimoji="0" lang="es-ES" altLang="es-ES" sz="1400" b="0" i="0" u="none" strike="noStrike" cap="none" normalizeH="0" baseline="0" dirty="0">
                <a:ln>
                  <a:noFill/>
                </a:ln>
                <a:solidFill>
                  <a:schemeClr val="tx1"/>
                </a:solidFill>
                <a:effectLst/>
              </a:rPr>
              <a:t>Cada mensaje lleva un número de secuencia </a:t>
            </a:r>
          </a:p>
          <a:p>
            <a:pPr lvl="1" defTabSz="914400" eaLnBrk="0" fontAlgn="base" hangingPunct="0">
              <a:spcBef>
                <a:spcPct val="0"/>
              </a:spcBef>
              <a:spcAft>
                <a:spcPct val="0"/>
              </a:spcAft>
              <a:buClrTx/>
              <a:buSzTx/>
            </a:pPr>
            <a:r>
              <a:rPr kumimoji="0" lang="es-ES" altLang="es-ES" sz="1400" b="0" i="0" u="none" strike="noStrike" cap="none" normalizeH="0" baseline="0" dirty="0">
                <a:ln>
                  <a:noFill/>
                </a:ln>
                <a:solidFill>
                  <a:schemeClr val="tx1"/>
                </a:solidFill>
                <a:effectLst/>
              </a:rPr>
              <a:t>El </a:t>
            </a:r>
            <a:r>
              <a:rPr kumimoji="0" lang="es-ES" altLang="es-ES" sz="1400" b="0" i="0" u="none" strike="noStrike" cap="none" normalizeH="0" baseline="0" dirty="0" err="1">
                <a:ln>
                  <a:noFill/>
                </a:ln>
                <a:solidFill>
                  <a:schemeClr val="tx1"/>
                </a:solidFill>
                <a:effectLst/>
              </a:rPr>
              <a:t>broker</a:t>
            </a:r>
            <a:r>
              <a:rPr kumimoji="0" lang="es-ES" altLang="es-ES" sz="1400" b="0" i="0" u="none" strike="noStrike" cap="none" normalizeH="0" baseline="0" dirty="0">
                <a:ln>
                  <a:noFill/>
                </a:ln>
                <a:solidFill>
                  <a:schemeClr val="tx1"/>
                </a:solidFill>
                <a:effectLst/>
              </a:rPr>
              <a:t> mantiene un registro de mensajes ya procesados </a:t>
            </a:r>
          </a:p>
          <a:p>
            <a:pPr lvl="1" defTabSz="914400" eaLnBrk="0" fontAlgn="base" hangingPunct="0">
              <a:spcBef>
                <a:spcPct val="0"/>
              </a:spcBef>
              <a:spcAft>
                <a:spcPct val="0"/>
              </a:spcAft>
              <a:buClrTx/>
              <a:buSzTx/>
            </a:pPr>
            <a:r>
              <a:rPr kumimoji="0" lang="es-ES" altLang="es-ES" sz="1400" b="0" i="0" u="none" strike="noStrike" cap="none" normalizeH="0" baseline="0" dirty="0">
                <a:ln>
                  <a:noFill/>
                </a:ln>
                <a:solidFill>
                  <a:schemeClr val="tx1"/>
                </a:solidFill>
                <a:effectLst/>
              </a:rPr>
              <a:t>Los duplicados son detectados y descartados automáticamente </a:t>
            </a:r>
          </a:p>
          <a:p>
            <a:pPr lvl="1"/>
            <a:endParaRPr lang="es-ES" dirty="0"/>
          </a:p>
          <a:p>
            <a:endParaRPr lang="es-ES" dirty="0"/>
          </a:p>
        </p:txBody>
      </p:sp>
      <p:pic>
        <p:nvPicPr>
          <p:cNvPr id="7" name="Imagen 6">
            <a:extLst>
              <a:ext uri="{FF2B5EF4-FFF2-40B4-BE49-F238E27FC236}">
                <a16:creationId xmlns:a16="http://schemas.microsoft.com/office/drawing/2014/main" id="{7C3FE43D-1625-1C9A-477E-3D5DC30BBBD7}"/>
              </a:ext>
            </a:extLst>
          </p:cNvPr>
          <p:cNvPicPr>
            <a:picLocks noChangeAspect="1"/>
          </p:cNvPicPr>
          <p:nvPr/>
        </p:nvPicPr>
        <p:blipFill>
          <a:blip r:embed="rId2"/>
          <a:stretch>
            <a:fillRect/>
          </a:stretch>
        </p:blipFill>
        <p:spPr>
          <a:xfrm>
            <a:off x="3116655" y="5040942"/>
            <a:ext cx="3953427" cy="562053"/>
          </a:xfrm>
          <a:prstGeom prst="rect">
            <a:avLst/>
          </a:prstGeom>
        </p:spPr>
      </p:pic>
    </p:spTree>
    <p:extLst>
      <p:ext uri="{BB962C8B-B14F-4D97-AF65-F5344CB8AC3E}">
        <p14:creationId xmlns:p14="http://schemas.microsoft.com/office/powerpoint/2010/main" val="34049418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8966D-9389-1013-A61A-DBAA2DD233D0}"/>
              </a:ext>
            </a:extLst>
          </p:cNvPr>
          <p:cNvSpPr>
            <a:spLocks noGrp="1"/>
          </p:cNvSpPr>
          <p:nvPr>
            <p:ph type="title"/>
          </p:nvPr>
        </p:nvSpPr>
        <p:spPr/>
        <p:txBody>
          <a:bodyPr/>
          <a:lstStyle/>
          <a:p>
            <a:r>
              <a:rPr lang="es-ES" dirty="0"/>
              <a:t>Configuración del </a:t>
            </a:r>
            <a:r>
              <a:rPr lang="es-ES" dirty="0" err="1"/>
              <a:t>consumer</a:t>
            </a:r>
            <a:br>
              <a:rPr lang="es-ES" dirty="0"/>
            </a:br>
            <a:r>
              <a:rPr lang="es-ES" dirty="0" err="1"/>
              <a:t>Delivery</a:t>
            </a:r>
            <a:r>
              <a:rPr lang="es-ES" dirty="0"/>
              <a:t> </a:t>
            </a:r>
            <a:r>
              <a:rPr lang="es-ES" dirty="0" err="1"/>
              <a:t>semantics</a:t>
            </a:r>
            <a:endParaRPr lang="es-ES" dirty="0"/>
          </a:p>
        </p:txBody>
      </p:sp>
      <p:sp>
        <p:nvSpPr>
          <p:cNvPr id="4" name="Rectangle 1">
            <a:extLst>
              <a:ext uri="{FF2B5EF4-FFF2-40B4-BE49-F238E27FC236}">
                <a16:creationId xmlns:a16="http://schemas.microsoft.com/office/drawing/2014/main" id="{7C031EF7-155C-C555-8967-C0BC37C34F72}"/>
              </a:ext>
            </a:extLst>
          </p:cNvPr>
          <p:cNvSpPr>
            <a:spLocks noGrp="1" noChangeArrowheads="1"/>
          </p:cNvSpPr>
          <p:nvPr>
            <p:ph idx="1"/>
          </p:nvPr>
        </p:nvSpPr>
        <p:spPr bwMode="auto">
          <a:xfrm>
            <a:off x="1484310" y="2290109"/>
            <a:ext cx="9785269" cy="3877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chemeClr val="tx1"/>
                </a:solidFill>
                <a:effectLst/>
              </a:rPr>
              <a:t>Kafka admite tres semánticas de entrega principales:</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s-ES" altLang="es-ES" sz="1600" b="1" i="0" u="none" strike="noStrike" cap="none" normalizeH="0" baseline="0" dirty="0">
                <a:ln>
                  <a:noFill/>
                </a:ln>
                <a:solidFill>
                  <a:schemeClr val="tx1"/>
                </a:solidFill>
                <a:effectLst/>
              </a:rPr>
              <a:t>Como máximo una vez (At </a:t>
            </a:r>
            <a:r>
              <a:rPr kumimoji="0" lang="es-ES" altLang="es-ES" sz="1600" b="1" i="0" u="none" strike="noStrike" cap="none" normalizeH="0" baseline="0" dirty="0" err="1">
                <a:ln>
                  <a:noFill/>
                </a:ln>
                <a:solidFill>
                  <a:schemeClr val="tx1"/>
                </a:solidFill>
                <a:effectLst/>
              </a:rPr>
              <a:t>most</a:t>
            </a:r>
            <a:r>
              <a:rPr kumimoji="0" lang="es-ES" altLang="es-ES" sz="1600" b="1" i="0" u="none" strike="noStrike" cap="none" normalizeH="0" baseline="0" dirty="0">
                <a:ln>
                  <a:noFill/>
                </a:ln>
                <a:solidFill>
                  <a:schemeClr val="tx1"/>
                </a:solidFill>
                <a:effectLst/>
              </a:rPr>
              <a:t> once)</a:t>
            </a:r>
            <a:r>
              <a:rPr kumimoji="0" lang="es-ES" altLang="es-ES" sz="1600" b="0" i="0" u="none" strike="noStrike" cap="none" normalizeH="0" baseline="0" dirty="0">
                <a:ln>
                  <a:noFill/>
                </a:ln>
                <a:solidFill>
                  <a:schemeClr val="tx1"/>
                </a:solidFill>
                <a:effectLst/>
              </a:rPr>
              <a:t>: Los mensajes pueden perderse pero nunca duplicarse. El consumidor confirma los </a:t>
            </a:r>
            <a:r>
              <a:rPr kumimoji="0" lang="es-ES" altLang="es-ES" sz="1600" b="0" i="0" u="none" strike="noStrike" cap="none" normalizeH="0" baseline="0" dirty="0" err="1">
                <a:ln>
                  <a:noFill/>
                </a:ln>
                <a:solidFill>
                  <a:schemeClr val="tx1"/>
                </a:solidFill>
                <a:effectLst/>
              </a:rPr>
              <a:t>offsets</a:t>
            </a:r>
            <a:r>
              <a:rPr kumimoji="0" lang="es-ES" altLang="es-ES" sz="1600" b="0" i="0" u="none" strike="noStrike" cap="none" normalizeH="0" baseline="0" dirty="0">
                <a:ln>
                  <a:noFill/>
                </a:ln>
                <a:solidFill>
                  <a:schemeClr val="tx1"/>
                </a:solidFill>
                <a:effectLst/>
              </a:rPr>
              <a:t> inmediatamente después de recibirlos, antes de procesarlos. Menor latencia, sin garantías de procesamiento.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s-ES" altLang="es-ES" sz="1600" b="1" i="0" u="none" strike="noStrike" cap="none" normalizeH="0" baseline="0" dirty="0">
                <a:ln>
                  <a:noFill/>
                </a:ln>
                <a:solidFill>
                  <a:schemeClr val="tx1"/>
                </a:solidFill>
                <a:effectLst/>
              </a:rPr>
              <a:t>Al menos una vez (At </a:t>
            </a:r>
            <a:r>
              <a:rPr kumimoji="0" lang="es-ES" altLang="es-ES" sz="1600" b="1" i="0" u="none" strike="noStrike" cap="none" normalizeH="0" baseline="0" dirty="0" err="1">
                <a:ln>
                  <a:noFill/>
                </a:ln>
                <a:solidFill>
                  <a:schemeClr val="tx1"/>
                </a:solidFill>
                <a:effectLst/>
              </a:rPr>
              <a:t>least</a:t>
            </a:r>
            <a:r>
              <a:rPr kumimoji="0" lang="es-ES" altLang="es-ES" sz="1600" b="1" i="0" u="none" strike="noStrike" cap="none" normalizeH="0" baseline="0" dirty="0">
                <a:ln>
                  <a:noFill/>
                </a:ln>
                <a:solidFill>
                  <a:schemeClr val="tx1"/>
                </a:solidFill>
                <a:effectLst/>
              </a:rPr>
              <a:t> once)</a:t>
            </a:r>
            <a:r>
              <a:rPr kumimoji="0" lang="es-ES" altLang="es-ES" sz="1600" b="0" i="0" u="none" strike="noStrike" cap="none" normalizeH="0" baseline="0" dirty="0">
                <a:ln>
                  <a:noFill/>
                </a:ln>
                <a:solidFill>
                  <a:schemeClr val="tx1"/>
                </a:solidFill>
                <a:effectLst/>
              </a:rPr>
              <a:t>: Los mensajes nunca se pierden pero pueden duplicarse. El consumidor confirma los </a:t>
            </a:r>
            <a:r>
              <a:rPr kumimoji="0" lang="es-ES" altLang="es-ES" sz="1600" b="0" i="0" u="none" strike="noStrike" cap="none" normalizeH="0" baseline="0" dirty="0" err="1">
                <a:ln>
                  <a:noFill/>
                </a:ln>
                <a:solidFill>
                  <a:schemeClr val="tx1"/>
                </a:solidFill>
                <a:effectLst/>
              </a:rPr>
              <a:t>offsets</a:t>
            </a:r>
            <a:r>
              <a:rPr kumimoji="0" lang="es-ES" altLang="es-ES" sz="1600" b="0" i="0" u="none" strike="noStrike" cap="none" normalizeH="0" baseline="0" dirty="0">
                <a:ln>
                  <a:noFill/>
                </a:ln>
                <a:solidFill>
                  <a:schemeClr val="tx1"/>
                </a:solidFill>
                <a:effectLst/>
              </a:rPr>
              <a:t> solo después de un procesamiento exitoso. Este es el comportamiento predeterminado de Kafka. Requiere operaciones idempotentes para manejar duplicados. </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s-ES" altLang="es-ES" sz="1600" b="1" i="0" u="none" strike="noStrike" cap="none" normalizeH="0" baseline="0" dirty="0">
                <a:ln>
                  <a:noFill/>
                </a:ln>
                <a:solidFill>
                  <a:schemeClr val="tx1"/>
                </a:solidFill>
                <a:effectLst/>
              </a:rPr>
              <a:t>Exactamente una vez (</a:t>
            </a:r>
            <a:r>
              <a:rPr kumimoji="0" lang="es-ES" altLang="es-ES" sz="1600" b="1" i="0" u="none" strike="noStrike" cap="none" normalizeH="0" baseline="0" dirty="0" err="1">
                <a:ln>
                  <a:noFill/>
                </a:ln>
                <a:solidFill>
                  <a:schemeClr val="tx1"/>
                </a:solidFill>
                <a:effectLst/>
              </a:rPr>
              <a:t>Exactly</a:t>
            </a:r>
            <a:r>
              <a:rPr kumimoji="0" lang="es-ES" altLang="es-ES" sz="1600" b="1" i="0" u="none" strike="noStrike" cap="none" normalizeH="0" baseline="0" dirty="0">
                <a:ln>
                  <a:noFill/>
                </a:ln>
                <a:solidFill>
                  <a:schemeClr val="tx1"/>
                </a:solidFill>
                <a:effectLst/>
              </a:rPr>
              <a:t> once)</a:t>
            </a:r>
            <a:r>
              <a:rPr kumimoji="0" lang="es-ES" altLang="es-ES" sz="1600" b="0" i="0" u="none" strike="noStrike" cap="none" normalizeH="0" baseline="0" dirty="0">
                <a:ln>
                  <a:noFill/>
                </a:ln>
                <a:solidFill>
                  <a:schemeClr val="tx1"/>
                </a:solidFill>
                <a:effectLst/>
              </a:rPr>
              <a:t>: Los mensajes se entregan exactamente una vez sin pérdidas ni duplicación. Se implementa mediante: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s-ES" altLang="es-ES" sz="1600" b="0" i="0" u="none" strike="noStrike" cap="none" normalizeH="0" baseline="0" dirty="0">
                <a:ln>
                  <a:noFill/>
                </a:ln>
                <a:solidFill>
                  <a:schemeClr val="tx1"/>
                </a:solidFill>
                <a:effectLst/>
              </a:rPr>
              <a:t>Productores idempotentes (</a:t>
            </a:r>
            <a:r>
              <a:rPr kumimoji="0" lang="es-ES" altLang="es-ES" sz="1600" b="0" i="0" u="none" strike="noStrike" cap="none" normalizeH="0" baseline="0" dirty="0" err="1">
                <a:ln>
                  <a:noFill/>
                </a:ln>
                <a:solidFill>
                  <a:schemeClr val="tx1"/>
                </a:solidFill>
                <a:effectLst/>
              </a:rPr>
              <a:t>enable.idempotence</a:t>
            </a:r>
            <a:r>
              <a:rPr kumimoji="0" lang="es-ES" altLang="es-ES" sz="1600" b="0" i="0" u="none" strike="noStrike" cap="none" normalizeH="0" baseline="0" dirty="0">
                <a:ln>
                  <a:noFill/>
                </a:ln>
                <a:solidFill>
                  <a:schemeClr val="tx1"/>
                </a:solidFill>
                <a:effectLst/>
              </a:rPr>
              <a:t>=true)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s-ES" altLang="es-ES" sz="1600" b="0" i="0" u="none" strike="noStrike" cap="none" normalizeH="0" baseline="0" dirty="0">
                <a:ln>
                  <a:noFill/>
                </a:ln>
                <a:solidFill>
                  <a:schemeClr val="tx1"/>
                </a:solidFill>
                <a:effectLst/>
              </a:rPr>
              <a:t>API transaccional para escrituras atómicas entre particiones/temas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s-ES" altLang="es-ES" sz="1600" b="0" i="0" u="none" strike="noStrike" cap="none" normalizeH="0" baseline="0" dirty="0">
                <a:ln>
                  <a:noFill/>
                </a:ln>
                <a:solidFill>
                  <a:schemeClr val="tx1"/>
                </a:solidFill>
                <a:effectLst/>
              </a:rPr>
              <a:t>Marcadores de transacciones y niveles de aislamiento para consumidores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s-ES" altLang="es-E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pic>
        <p:nvPicPr>
          <p:cNvPr id="6" name="Imagen 5">
            <a:extLst>
              <a:ext uri="{FF2B5EF4-FFF2-40B4-BE49-F238E27FC236}">
                <a16:creationId xmlns:a16="http://schemas.microsoft.com/office/drawing/2014/main" id="{E3056B6F-530B-B824-DF57-325F57B38A64}"/>
              </a:ext>
            </a:extLst>
          </p:cNvPr>
          <p:cNvPicPr>
            <a:picLocks noChangeAspect="1"/>
          </p:cNvPicPr>
          <p:nvPr/>
        </p:nvPicPr>
        <p:blipFill>
          <a:blip r:embed="rId2"/>
          <a:stretch>
            <a:fillRect/>
          </a:stretch>
        </p:blipFill>
        <p:spPr>
          <a:xfrm>
            <a:off x="2180452" y="5415514"/>
            <a:ext cx="7478169" cy="752580"/>
          </a:xfrm>
          <a:prstGeom prst="rect">
            <a:avLst/>
          </a:prstGeom>
        </p:spPr>
      </p:pic>
    </p:spTree>
    <p:extLst>
      <p:ext uri="{BB962C8B-B14F-4D97-AF65-F5344CB8AC3E}">
        <p14:creationId xmlns:p14="http://schemas.microsoft.com/office/powerpoint/2010/main" val="22425546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D104AD1-44A7-8DBC-11EF-19FA91731A21}"/>
            </a:ext>
          </a:extLst>
        </p:cNvPr>
        <p:cNvGrpSpPr/>
        <p:nvPr/>
      </p:nvGrpSpPr>
      <p:grpSpPr>
        <a:xfrm>
          <a:off x="0" y="0"/>
          <a:ext cx="0" cy="0"/>
          <a:chOff x="0" y="0"/>
          <a:chExt cx="0" cy="0"/>
        </a:xfrm>
      </p:grpSpPr>
      <p:sp useBgFill="1">
        <p:nvSpPr>
          <p:cNvPr id="21" name="Rectángulo 20">
            <a:extLst>
              <a:ext uri="{FF2B5EF4-FFF2-40B4-BE49-F238E27FC236}">
                <a16:creationId xmlns:a16="http://schemas.microsoft.com/office/drawing/2014/main" id="{11FDB392-EE4B-18A7-7DDC-BE611D6E58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a:p>
        </p:txBody>
      </p:sp>
      <p:grpSp>
        <p:nvGrpSpPr>
          <p:cNvPr id="23" name="Grupo 22">
            <a:extLst>
              <a:ext uri="{FF2B5EF4-FFF2-40B4-BE49-F238E27FC236}">
                <a16:creationId xmlns:a16="http://schemas.microsoft.com/office/drawing/2014/main" id="{3938A040-3548-AB14-2F9F-BE183CE2778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0"/>
            <a:ext cx="5014912" cy="6862763"/>
            <a:chOff x="2928938" y="-4763"/>
            <a:chExt cx="5014912" cy="6862763"/>
          </a:xfrm>
        </p:grpSpPr>
        <p:sp>
          <p:nvSpPr>
            <p:cNvPr id="24" name="Forma libre 6">
              <a:extLst>
                <a:ext uri="{FF2B5EF4-FFF2-40B4-BE49-F238E27FC236}">
                  <a16:creationId xmlns:a16="http://schemas.microsoft.com/office/drawing/2014/main" id="{1285802E-437B-EF23-55C5-65B3BE2FB8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s-ES"/>
            </a:p>
          </p:txBody>
        </p:sp>
        <p:sp>
          <p:nvSpPr>
            <p:cNvPr id="25" name="Forma libre 7">
              <a:extLst>
                <a:ext uri="{FF2B5EF4-FFF2-40B4-BE49-F238E27FC236}">
                  <a16:creationId xmlns:a16="http://schemas.microsoft.com/office/drawing/2014/main" id="{C33EEBC4-3EE7-3EEB-08A1-0BEADD0CFB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s-ES"/>
            </a:p>
          </p:txBody>
        </p:sp>
        <p:sp>
          <p:nvSpPr>
            <p:cNvPr id="26" name="Forma libre 12">
              <a:extLst>
                <a:ext uri="{FF2B5EF4-FFF2-40B4-BE49-F238E27FC236}">
                  <a16:creationId xmlns:a16="http://schemas.microsoft.com/office/drawing/2014/main" id="{BC8260FB-1EFA-B2B8-89C4-B31DA7D1A8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s-ES"/>
            </a:p>
          </p:txBody>
        </p:sp>
        <p:sp>
          <p:nvSpPr>
            <p:cNvPr id="27" name="Forma libre 13">
              <a:extLst>
                <a:ext uri="{FF2B5EF4-FFF2-40B4-BE49-F238E27FC236}">
                  <a16:creationId xmlns:a16="http://schemas.microsoft.com/office/drawing/2014/main" id="{594C7B9F-E627-5A52-0398-192795E739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s-ES"/>
            </a:p>
          </p:txBody>
        </p:sp>
        <p:sp>
          <p:nvSpPr>
            <p:cNvPr id="28" name="Forma libre 14">
              <a:extLst>
                <a:ext uri="{FF2B5EF4-FFF2-40B4-BE49-F238E27FC236}">
                  <a16:creationId xmlns:a16="http://schemas.microsoft.com/office/drawing/2014/main" id="{F78872E1-CB7A-26E2-95CF-A175BD8CC3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s-ES"/>
            </a:p>
          </p:txBody>
        </p:sp>
        <p:sp>
          <p:nvSpPr>
            <p:cNvPr id="29" name="Forma libre 15">
              <a:extLst>
                <a:ext uri="{FF2B5EF4-FFF2-40B4-BE49-F238E27FC236}">
                  <a16:creationId xmlns:a16="http://schemas.microsoft.com/office/drawing/2014/main" id="{569AEEF4-B335-8423-F834-70A5E4A417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s-ES"/>
            </a:p>
          </p:txBody>
        </p:sp>
      </p:grpSp>
      <p:sp>
        <p:nvSpPr>
          <p:cNvPr id="2" name="Título 1">
            <a:extLst>
              <a:ext uri="{FF2B5EF4-FFF2-40B4-BE49-F238E27FC236}">
                <a16:creationId xmlns:a16="http://schemas.microsoft.com/office/drawing/2014/main" id="{320580DA-2026-B7CB-76C7-1DB16CAC894E}"/>
              </a:ext>
            </a:extLst>
          </p:cNvPr>
          <p:cNvSpPr>
            <a:spLocks noGrp="1"/>
          </p:cNvSpPr>
          <p:nvPr>
            <p:ph type="title"/>
          </p:nvPr>
        </p:nvSpPr>
        <p:spPr>
          <a:xfrm>
            <a:off x="946001" y="788196"/>
            <a:ext cx="7411825" cy="1752599"/>
          </a:xfrm>
        </p:spPr>
        <p:txBody>
          <a:bodyPr rtlCol="0">
            <a:normAutofit/>
          </a:bodyPr>
          <a:lstStyle/>
          <a:p>
            <a:pPr algn="l"/>
            <a:r>
              <a:rPr lang="es-ES" dirty="0"/>
              <a:t>Kafka </a:t>
            </a:r>
            <a:r>
              <a:rPr lang="es-ES" dirty="0" err="1"/>
              <a:t>Connectors</a:t>
            </a:r>
            <a:endParaRPr lang="es-ES" dirty="0"/>
          </a:p>
        </p:txBody>
      </p:sp>
    </p:spTree>
    <p:extLst>
      <p:ext uri="{BB962C8B-B14F-4D97-AF65-F5344CB8AC3E}">
        <p14:creationId xmlns:p14="http://schemas.microsoft.com/office/powerpoint/2010/main" val="1848772044"/>
      </p:ext>
    </p:extLst>
  </p:cSld>
  <p:clrMapOvr>
    <a:overrideClrMapping bg1="dk1" tx1="lt1" bg2="dk2" tx2="lt2" accent1="accent1" accent2="accent2" accent3="accent3" accent4="accent4" accent5="accent5" accent6="accent6" hlink="hlink" folHlink="folHlink"/>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A64A41-9334-266F-E55D-5CE2AC6A9DB1}"/>
              </a:ext>
            </a:extLst>
          </p:cNvPr>
          <p:cNvSpPr>
            <a:spLocks noGrp="1"/>
          </p:cNvSpPr>
          <p:nvPr>
            <p:ph type="title"/>
          </p:nvPr>
        </p:nvSpPr>
        <p:spPr>
          <a:xfrm>
            <a:off x="1484311" y="685800"/>
            <a:ext cx="10018713" cy="982579"/>
          </a:xfrm>
        </p:spPr>
        <p:txBody>
          <a:bodyPr>
            <a:normAutofit fontScale="90000"/>
          </a:bodyPr>
          <a:lstStyle/>
          <a:p>
            <a:r>
              <a:rPr lang="es-ES" dirty="0"/>
              <a:t>Kafka </a:t>
            </a:r>
            <a:r>
              <a:rPr lang="es-ES" dirty="0" err="1"/>
              <a:t>Connectors</a:t>
            </a:r>
            <a:br>
              <a:rPr lang="es-ES" dirty="0"/>
            </a:br>
            <a:r>
              <a:rPr lang="es-ES" dirty="0"/>
              <a:t>Definición</a:t>
            </a:r>
          </a:p>
        </p:txBody>
      </p:sp>
      <p:sp>
        <p:nvSpPr>
          <p:cNvPr id="3" name="Marcador de contenido 2">
            <a:extLst>
              <a:ext uri="{FF2B5EF4-FFF2-40B4-BE49-F238E27FC236}">
                <a16:creationId xmlns:a16="http://schemas.microsoft.com/office/drawing/2014/main" id="{E4293E96-EE8F-09B4-D944-B12F16F8CBE8}"/>
              </a:ext>
            </a:extLst>
          </p:cNvPr>
          <p:cNvSpPr>
            <a:spLocks noGrp="1"/>
          </p:cNvSpPr>
          <p:nvPr>
            <p:ph idx="1"/>
          </p:nvPr>
        </p:nvSpPr>
        <p:spPr>
          <a:xfrm>
            <a:off x="1484310" y="1949117"/>
            <a:ext cx="10018713" cy="3842084"/>
          </a:xfrm>
        </p:spPr>
        <p:txBody>
          <a:bodyPr anchor="t">
            <a:normAutofit lnSpcReduction="10000"/>
          </a:bodyPr>
          <a:lstStyle/>
          <a:p>
            <a:pPr marL="0" indent="0">
              <a:buNone/>
            </a:pPr>
            <a:r>
              <a:rPr lang="es-ES" dirty="0"/>
              <a:t>Los Kafka </a:t>
            </a:r>
            <a:r>
              <a:rPr lang="es-ES" dirty="0" err="1"/>
              <a:t>Connectors</a:t>
            </a:r>
            <a:r>
              <a:rPr lang="es-ES" dirty="0"/>
              <a:t> son componentes del ecosistema de Apache Kafka que facilitan la conexión entre Kafka y otros sistemas de datos, permitiendo importar datos hacia Kafka (</a:t>
            </a:r>
            <a:r>
              <a:rPr lang="es-ES" dirty="0" err="1"/>
              <a:t>source</a:t>
            </a:r>
            <a:r>
              <a:rPr lang="es-ES" dirty="0"/>
              <a:t> </a:t>
            </a:r>
            <a:r>
              <a:rPr lang="es-ES" dirty="0" err="1"/>
              <a:t>connectors</a:t>
            </a:r>
            <a:r>
              <a:rPr lang="es-ES" dirty="0"/>
              <a:t>) o exportar desde Kafka hacia otros sistemas (</a:t>
            </a:r>
            <a:r>
              <a:rPr lang="es-ES" dirty="0" err="1"/>
              <a:t>sink</a:t>
            </a:r>
            <a:r>
              <a:rPr lang="es-ES" dirty="0"/>
              <a:t> </a:t>
            </a:r>
            <a:r>
              <a:rPr lang="es-ES" dirty="0" err="1"/>
              <a:t>connectors</a:t>
            </a:r>
            <a:r>
              <a:rPr lang="es-ES" dirty="0"/>
              <a:t>).</a:t>
            </a:r>
          </a:p>
          <a:p>
            <a:pPr marL="0" indent="0">
              <a:buNone/>
            </a:pPr>
            <a:r>
              <a:rPr lang="es-ES" dirty="0"/>
              <a:t>Ejemplos:</a:t>
            </a:r>
          </a:p>
          <a:p>
            <a:r>
              <a:rPr lang="es-ES" dirty="0"/>
              <a:t>S3 </a:t>
            </a:r>
            <a:r>
              <a:rPr lang="es-ES" dirty="0" err="1"/>
              <a:t>Connector</a:t>
            </a:r>
            <a:r>
              <a:rPr lang="es-ES" dirty="0"/>
              <a:t>: Permite guardar datos de Kafka en Amazon S3 </a:t>
            </a:r>
          </a:p>
          <a:p>
            <a:r>
              <a:rPr lang="es-ES" dirty="0" err="1"/>
              <a:t>Elasticsearch</a:t>
            </a:r>
            <a:r>
              <a:rPr lang="es-ES" dirty="0"/>
              <a:t> </a:t>
            </a:r>
            <a:r>
              <a:rPr lang="es-ES" dirty="0" err="1"/>
              <a:t>Connector</a:t>
            </a:r>
            <a:r>
              <a:rPr lang="es-ES" dirty="0"/>
              <a:t>: Exporta datos de Kafka a </a:t>
            </a:r>
            <a:r>
              <a:rPr lang="es-ES" dirty="0" err="1"/>
              <a:t>Elasticsearch</a:t>
            </a:r>
            <a:r>
              <a:rPr lang="es-ES" dirty="0"/>
              <a:t> para búsquedas </a:t>
            </a:r>
          </a:p>
          <a:p>
            <a:r>
              <a:rPr lang="es-ES" dirty="0"/>
              <a:t>MongoDB </a:t>
            </a:r>
            <a:r>
              <a:rPr lang="es-ES" dirty="0" err="1"/>
              <a:t>Connector</a:t>
            </a:r>
            <a:r>
              <a:rPr lang="es-ES" dirty="0"/>
              <a:t>: Sincroniza datos entre MongoDB y Kafka </a:t>
            </a:r>
          </a:p>
          <a:p>
            <a:endParaRPr lang="es-ES" dirty="0"/>
          </a:p>
        </p:txBody>
      </p:sp>
    </p:spTree>
    <p:extLst>
      <p:ext uri="{BB962C8B-B14F-4D97-AF65-F5344CB8AC3E}">
        <p14:creationId xmlns:p14="http://schemas.microsoft.com/office/powerpoint/2010/main" val="7704136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A8C18E-59DD-66E2-D864-6801202D68CA}"/>
              </a:ext>
            </a:extLst>
          </p:cNvPr>
          <p:cNvSpPr>
            <a:spLocks noGrp="1"/>
          </p:cNvSpPr>
          <p:nvPr>
            <p:ph type="title"/>
          </p:nvPr>
        </p:nvSpPr>
        <p:spPr>
          <a:xfrm>
            <a:off x="1484311" y="685801"/>
            <a:ext cx="10018713" cy="958516"/>
          </a:xfrm>
        </p:spPr>
        <p:txBody>
          <a:bodyPr>
            <a:normAutofit fontScale="90000"/>
          </a:bodyPr>
          <a:lstStyle/>
          <a:p>
            <a:r>
              <a:rPr lang="es-ES" dirty="0"/>
              <a:t>Kafka </a:t>
            </a:r>
            <a:r>
              <a:rPr lang="es-ES" dirty="0" err="1"/>
              <a:t>Connectors</a:t>
            </a:r>
            <a:br>
              <a:rPr lang="es-ES" dirty="0"/>
            </a:br>
            <a:r>
              <a:rPr lang="es-ES" dirty="0"/>
              <a:t>Ejemplo gráfico</a:t>
            </a:r>
          </a:p>
        </p:txBody>
      </p:sp>
      <p:pic>
        <p:nvPicPr>
          <p:cNvPr id="7170" name="Picture 2">
            <a:extLst>
              <a:ext uri="{FF2B5EF4-FFF2-40B4-BE49-F238E27FC236}">
                <a16:creationId xmlns:a16="http://schemas.microsoft.com/office/drawing/2014/main" id="{6B48F166-8C4F-0094-8125-70F8A2E45D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4174" y="2215993"/>
            <a:ext cx="8363651" cy="39562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08629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7C58FE-6C3B-F4D8-54E4-C9623A116424}"/>
              </a:ext>
            </a:extLst>
          </p:cNvPr>
          <p:cNvSpPr>
            <a:spLocks noGrp="1"/>
          </p:cNvSpPr>
          <p:nvPr>
            <p:ph type="title"/>
          </p:nvPr>
        </p:nvSpPr>
        <p:spPr>
          <a:xfrm>
            <a:off x="1484311" y="685801"/>
            <a:ext cx="10018713" cy="1207168"/>
          </a:xfrm>
        </p:spPr>
        <p:txBody>
          <a:bodyPr>
            <a:normAutofit fontScale="90000"/>
          </a:bodyPr>
          <a:lstStyle/>
          <a:p>
            <a:r>
              <a:rPr lang="es-ES" dirty="0"/>
              <a:t>Kafka </a:t>
            </a:r>
            <a:r>
              <a:rPr lang="es-ES" dirty="0" err="1"/>
              <a:t>Connectors</a:t>
            </a:r>
            <a:br>
              <a:rPr lang="es-ES" dirty="0"/>
            </a:br>
            <a:r>
              <a:rPr lang="es-ES" dirty="0"/>
              <a:t>Ventajas</a:t>
            </a:r>
          </a:p>
        </p:txBody>
      </p:sp>
      <p:sp>
        <p:nvSpPr>
          <p:cNvPr id="3" name="Marcador de contenido 2">
            <a:extLst>
              <a:ext uri="{FF2B5EF4-FFF2-40B4-BE49-F238E27FC236}">
                <a16:creationId xmlns:a16="http://schemas.microsoft.com/office/drawing/2014/main" id="{D8B76CD2-C655-C73A-C996-5384B46D3974}"/>
              </a:ext>
            </a:extLst>
          </p:cNvPr>
          <p:cNvSpPr>
            <a:spLocks noGrp="1"/>
          </p:cNvSpPr>
          <p:nvPr>
            <p:ph idx="1"/>
          </p:nvPr>
        </p:nvSpPr>
        <p:spPr>
          <a:xfrm>
            <a:off x="1484310" y="2061411"/>
            <a:ext cx="10018713" cy="4211052"/>
          </a:xfrm>
        </p:spPr>
        <p:txBody>
          <a:bodyPr>
            <a:normAutofit fontScale="70000" lnSpcReduction="20000"/>
          </a:bodyPr>
          <a:lstStyle/>
          <a:p>
            <a:pPr marL="0" indent="0">
              <a:buNone/>
            </a:pPr>
            <a:r>
              <a:rPr lang="es-ES" dirty="0"/>
              <a:t>Los Kafka </a:t>
            </a:r>
            <a:r>
              <a:rPr lang="es-ES" dirty="0" err="1"/>
              <a:t>Connectors</a:t>
            </a:r>
            <a:r>
              <a:rPr lang="es-ES" dirty="0"/>
              <a:t> ofrecen varias ventajas importantes:</a:t>
            </a:r>
          </a:p>
          <a:p>
            <a:pPr>
              <a:buFont typeface="+mj-lt"/>
              <a:buAutoNum type="arabicPeriod"/>
            </a:pPr>
            <a:r>
              <a:rPr lang="es-ES" b="1" dirty="0"/>
              <a:t>Eliminan código personalizado</a:t>
            </a:r>
            <a:r>
              <a:rPr lang="es-ES" dirty="0"/>
              <a:t>: No necesitas desarrollar y mantener código propio para integrar sistemas.</a:t>
            </a:r>
          </a:p>
          <a:p>
            <a:pPr>
              <a:buFont typeface="+mj-lt"/>
              <a:buAutoNum type="arabicPeriod"/>
            </a:pPr>
            <a:r>
              <a:rPr lang="es-ES" b="1" dirty="0"/>
              <a:t>Configuración declarativa</a:t>
            </a:r>
            <a:r>
              <a:rPr lang="es-ES" dirty="0"/>
              <a:t>: Se configuran con archivos JSON en lugar de escribir código.</a:t>
            </a:r>
          </a:p>
          <a:p>
            <a:pPr>
              <a:buFont typeface="+mj-lt"/>
              <a:buAutoNum type="arabicPeriod"/>
            </a:pPr>
            <a:r>
              <a:rPr lang="es-ES" b="1" dirty="0"/>
              <a:t>Escalabilidad automática</a:t>
            </a:r>
            <a:r>
              <a:rPr lang="es-ES" dirty="0"/>
              <a:t>: Pueden distribuir el trabajo entre múltiples tareas de forma transparente.</a:t>
            </a:r>
          </a:p>
          <a:p>
            <a:pPr>
              <a:buFont typeface="+mj-lt"/>
              <a:buAutoNum type="arabicPeriod"/>
            </a:pPr>
            <a:r>
              <a:rPr lang="es-ES" b="1" dirty="0"/>
              <a:t>Tolerancia a fallos</a:t>
            </a:r>
            <a:r>
              <a:rPr lang="es-ES" dirty="0"/>
              <a:t>: Gestionan automáticamente reconexiones y reintentos.</a:t>
            </a:r>
          </a:p>
          <a:p>
            <a:pPr>
              <a:buFont typeface="+mj-lt"/>
              <a:buAutoNum type="arabicPeriod"/>
            </a:pPr>
            <a:r>
              <a:rPr lang="es-ES" b="1" dirty="0"/>
              <a:t>Gestión de </a:t>
            </a:r>
            <a:r>
              <a:rPr lang="es-ES" b="1" dirty="0" err="1"/>
              <a:t>offsets</a:t>
            </a:r>
            <a:r>
              <a:rPr lang="es-ES" dirty="0"/>
              <a:t>: Controlan exactamente qué datos se han procesado para garantizar entrega </a:t>
            </a:r>
            <a:r>
              <a:rPr lang="es-ES" dirty="0" err="1"/>
              <a:t>exactly</a:t>
            </a:r>
            <a:r>
              <a:rPr lang="es-ES" dirty="0"/>
              <a:t>-once.</a:t>
            </a:r>
          </a:p>
          <a:p>
            <a:pPr>
              <a:buFont typeface="+mj-lt"/>
              <a:buAutoNum type="arabicPeriod"/>
            </a:pPr>
            <a:r>
              <a:rPr lang="es-ES" b="1" dirty="0"/>
              <a:t>Transformaciones incorporadas</a:t>
            </a:r>
            <a:r>
              <a:rPr lang="es-ES" dirty="0"/>
              <a:t>: Incluyen funcionalidades para modificar datos en tránsito sin código adicional.</a:t>
            </a:r>
          </a:p>
          <a:p>
            <a:pPr>
              <a:buFont typeface="+mj-lt"/>
              <a:buAutoNum type="arabicPeriod"/>
            </a:pPr>
            <a:r>
              <a:rPr lang="es-ES" b="1" dirty="0"/>
              <a:t>Monitorización centralizada</a:t>
            </a:r>
            <a:r>
              <a:rPr lang="es-ES" dirty="0"/>
              <a:t>: Proporcionan métricas y estadísticas para supervisar el rendimiento.</a:t>
            </a:r>
          </a:p>
          <a:p>
            <a:pPr>
              <a:buFont typeface="+mj-lt"/>
              <a:buAutoNum type="arabicPeriod"/>
            </a:pPr>
            <a:r>
              <a:rPr lang="es-ES" b="1" dirty="0"/>
              <a:t>Comunidad activa</a:t>
            </a:r>
            <a:r>
              <a:rPr lang="es-ES" dirty="0"/>
              <a:t>: Existe un amplio ecosistema de conectores para muchos sistemas.</a:t>
            </a:r>
          </a:p>
          <a:p>
            <a:pPr>
              <a:buFont typeface="+mj-lt"/>
              <a:buAutoNum type="arabicPeriod"/>
            </a:pPr>
            <a:r>
              <a:rPr lang="es-ES" b="1" dirty="0"/>
              <a:t>Reducción de latencia</a:t>
            </a:r>
            <a:r>
              <a:rPr lang="es-ES" dirty="0"/>
              <a:t>: Optimizados para alto rendimiento en comparación con soluciones personalizadas.</a:t>
            </a:r>
          </a:p>
          <a:p>
            <a:pPr>
              <a:buFont typeface="+mj-lt"/>
              <a:buAutoNum type="arabicPeriod"/>
            </a:pPr>
            <a:r>
              <a:rPr lang="es-ES" b="1" dirty="0"/>
              <a:t>Menor carga operativa</a:t>
            </a:r>
            <a:r>
              <a:rPr lang="es-ES" dirty="0"/>
              <a:t>: Reducen el trabajo de DevOps al unificar la gestión de integraciones.</a:t>
            </a:r>
          </a:p>
          <a:p>
            <a:endParaRPr lang="es-ES" dirty="0"/>
          </a:p>
        </p:txBody>
      </p:sp>
    </p:spTree>
    <p:extLst>
      <p:ext uri="{BB962C8B-B14F-4D97-AF65-F5344CB8AC3E}">
        <p14:creationId xmlns:p14="http://schemas.microsoft.com/office/powerpoint/2010/main" val="22150525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486C13-37E4-B14B-6AE4-F2D1EF2BE48B}"/>
              </a:ext>
            </a:extLst>
          </p:cNvPr>
          <p:cNvSpPr>
            <a:spLocks noGrp="1"/>
          </p:cNvSpPr>
          <p:nvPr>
            <p:ph type="title"/>
          </p:nvPr>
        </p:nvSpPr>
        <p:spPr>
          <a:xfrm>
            <a:off x="1484311" y="685801"/>
            <a:ext cx="10018713" cy="1178626"/>
          </a:xfrm>
        </p:spPr>
        <p:txBody>
          <a:bodyPr/>
          <a:lstStyle/>
          <a:p>
            <a:r>
              <a:rPr lang="es-ES" dirty="0" err="1"/>
              <a:t>Source</a:t>
            </a:r>
            <a:r>
              <a:rPr lang="es-ES" dirty="0"/>
              <a:t> </a:t>
            </a:r>
            <a:r>
              <a:rPr lang="es-ES" dirty="0" err="1"/>
              <a:t>connectors</a:t>
            </a:r>
            <a:r>
              <a:rPr lang="es-ES" dirty="0"/>
              <a:t> vs </a:t>
            </a:r>
            <a:r>
              <a:rPr lang="es-ES" dirty="0" err="1"/>
              <a:t>Sink</a:t>
            </a:r>
            <a:r>
              <a:rPr lang="es-ES" dirty="0"/>
              <a:t> </a:t>
            </a:r>
            <a:r>
              <a:rPr lang="es-ES" dirty="0" err="1"/>
              <a:t>connectors</a:t>
            </a:r>
            <a:endParaRPr lang="es-ES" dirty="0"/>
          </a:p>
        </p:txBody>
      </p:sp>
      <p:sp>
        <p:nvSpPr>
          <p:cNvPr id="4" name="Rectangle 1">
            <a:extLst>
              <a:ext uri="{FF2B5EF4-FFF2-40B4-BE49-F238E27FC236}">
                <a16:creationId xmlns:a16="http://schemas.microsoft.com/office/drawing/2014/main" id="{F49EB7E7-ABE0-BC10-BE73-A1D19372B7E0}"/>
              </a:ext>
            </a:extLst>
          </p:cNvPr>
          <p:cNvSpPr>
            <a:spLocks noGrp="1" noChangeArrowheads="1"/>
          </p:cNvSpPr>
          <p:nvPr>
            <p:ph idx="1"/>
          </p:nvPr>
        </p:nvSpPr>
        <p:spPr bwMode="auto">
          <a:xfrm>
            <a:off x="1484313" y="2046288"/>
            <a:ext cx="8516422"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600" b="1" i="0" u="none" strike="noStrike" cap="none" normalizeH="0" baseline="0" dirty="0" err="1">
                <a:ln>
                  <a:noFill/>
                </a:ln>
                <a:solidFill>
                  <a:schemeClr val="tx1"/>
                </a:solidFill>
                <a:effectLst/>
              </a:rPr>
              <a:t>Source</a:t>
            </a:r>
            <a:r>
              <a:rPr kumimoji="0" lang="es-ES" altLang="es-ES" sz="1600" b="1" i="0" u="none" strike="noStrike" cap="none" normalizeH="0" baseline="0" dirty="0">
                <a:ln>
                  <a:noFill/>
                </a:ln>
                <a:solidFill>
                  <a:schemeClr val="tx1"/>
                </a:solidFill>
                <a:effectLst/>
              </a:rPr>
              <a:t> </a:t>
            </a:r>
            <a:r>
              <a:rPr kumimoji="0" lang="es-ES" altLang="es-ES" sz="1600" b="1" i="0" u="none" strike="noStrike" cap="none" normalizeH="0" baseline="0" dirty="0" err="1">
                <a:ln>
                  <a:noFill/>
                </a:ln>
                <a:solidFill>
                  <a:schemeClr val="tx1"/>
                </a:solidFill>
                <a:effectLst/>
              </a:rPr>
              <a:t>Connectors</a:t>
            </a:r>
            <a:r>
              <a:rPr kumimoji="0" lang="es-ES" altLang="es-ES" sz="1600" b="0" i="0" u="none" strike="noStrike" cap="none" normalizeH="0" baseline="0" dirty="0">
                <a:ln>
                  <a:noFill/>
                </a:ln>
                <a:solidFill>
                  <a:schemeClr val="tx1"/>
                </a:solidFill>
                <a:effectLst/>
              </a:rPr>
              <a:t>: traen datos DE sistemas externos A Kafka (</a:t>
            </a:r>
            <a:r>
              <a:rPr kumimoji="0" lang="es-ES" altLang="es-ES" sz="1600" b="0" i="0" u="none" strike="noStrike" cap="none" normalizeH="0" baseline="0" dirty="0" err="1">
                <a:ln>
                  <a:noFill/>
                </a:ln>
                <a:solidFill>
                  <a:schemeClr val="tx1"/>
                </a:solidFill>
                <a:effectLst/>
              </a:rPr>
              <a:t>ej</a:t>
            </a:r>
            <a:r>
              <a:rPr kumimoji="0" lang="es-ES" altLang="es-ES" sz="1600" b="0" i="0" u="none" strike="noStrike" cap="none" normalizeH="0" baseline="0" dirty="0">
                <a:ln>
                  <a:noFill/>
                </a:ln>
                <a:solidFill>
                  <a:schemeClr val="tx1"/>
                </a:solidFill>
                <a:effectLst/>
              </a:rPr>
              <a:t>: MySQL → Kafka)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600" b="1" i="0" u="none" strike="noStrike" cap="none" normalizeH="0" baseline="0" dirty="0" err="1">
                <a:ln>
                  <a:noFill/>
                </a:ln>
                <a:solidFill>
                  <a:schemeClr val="tx1"/>
                </a:solidFill>
                <a:effectLst/>
              </a:rPr>
              <a:t>Sink</a:t>
            </a:r>
            <a:r>
              <a:rPr kumimoji="0" lang="es-ES" altLang="es-ES" sz="1600" b="1" i="0" u="none" strike="noStrike" cap="none" normalizeH="0" baseline="0" dirty="0">
                <a:ln>
                  <a:noFill/>
                </a:ln>
                <a:solidFill>
                  <a:schemeClr val="tx1"/>
                </a:solidFill>
                <a:effectLst/>
              </a:rPr>
              <a:t> </a:t>
            </a:r>
            <a:r>
              <a:rPr kumimoji="0" lang="es-ES" altLang="es-ES" sz="1600" b="1" i="0" u="none" strike="noStrike" cap="none" normalizeH="0" baseline="0" dirty="0" err="1">
                <a:ln>
                  <a:noFill/>
                </a:ln>
                <a:solidFill>
                  <a:schemeClr val="tx1"/>
                </a:solidFill>
                <a:effectLst/>
              </a:rPr>
              <a:t>Connectors</a:t>
            </a:r>
            <a:r>
              <a:rPr kumimoji="0" lang="es-ES" altLang="es-ES" sz="1600" b="0" i="0" u="none" strike="noStrike" cap="none" normalizeH="0" baseline="0" dirty="0">
                <a:ln>
                  <a:noFill/>
                </a:ln>
                <a:solidFill>
                  <a:schemeClr val="tx1"/>
                </a:solidFill>
                <a:effectLst/>
              </a:rPr>
              <a:t>: llevan datos DE Kafka A sistemas externos (</a:t>
            </a:r>
            <a:r>
              <a:rPr kumimoji="0" lang="es-ES" altLang="es-ES" sz="1600" b="0" i="0" u="none" strike="noStrike" cap="none" normalizeH="0" baseline="0" dirty="0" err="1">
                <a:ln>
                  <a:noFill/>
                </a:ln>
                <a:solidFill>
                  <a:schemeClr val="tx1"/>
                </a:solidFill>
                <a:effectLst/>
              </a:rPr>
              <a:t>ej</a:t>
            </a:r>
            <a:r>
              <a:rPr kumimoji="0" lang="es-ES" altLang="es-ES" sz="1600" b="0" i="0" u="none" strike="noStrike" cap="none" normalizeH="0" baseline="0" dirty="0">
                <a:ln>
                  <a:noFill/>
                </a:ln>
                <a:solidFill>
                  <a:schemeClr val="tx1"/>
                </a:solidFill>
                <a:effectLst/>
              </a:rPr>
              <a:t>: Kafka → </a:t>
            </a:r>
            <a:r>
              <a:rPr kumimoji="0" lang="es-ES" altLang="es-ES" sz="1600" b="0" i="0" u="none" strike="noStrike" cap="none" normalizeH="0" baseline="0" dirty="0" err="1">
                <a:ln>
                  <a:noFill/>
                </a:ln>
                <a:solidFill>
                  <a:schemeClr val="tx1"/>
                </a:solidFill>
                <a:effectLst/>
              </a:rPr>
              <a:t>Elasticsearch</a:t>
            </a:r>
            <a:r>
              <a:rPr kumimoji="0" lang="es-ES" altLang="es-ES" sz="16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endParaRPr lang="es-ES" altLang="es-ES" sz="1600" dirty="0"/>
          </a:p>
          <a:p>
            <a:pPr marL="0" marR="0" lvl="0" indent="0" algn="l" defTabSz="914400" rtl="0" eaLnBrk="0" fontAlgn="base" latinLnBrk="0" hangingPunct="0">
              <a:lnSpc>
                <a:spcPct val="100000"/>
              </a:lnSpc>
              <a:spcBef>
                <a:spcPct val="0"/>
              </a:spcBef>
              <a:spcAft>
                <a:spcPct val="0"/>
              </a:spcAft>
              <a:buClrTx/>
              <a:buSzTx/>
              <a:buNone/>
              <a:tabLst/>
            </a:pPr>
            <a:r>
              <a:rPr kumimoji="0" lang="es-ES" altLang="es-ES" sz="1600" b="0" i="0" u="none" strike="noStrike" cap="none" normalizeH="0" baseline="0" dirty="0" err="1">
                <a:ln>
                  <a:noFill/>
                </a:ln>
                <a:solidFill>
                  <a:schemeClr val="tx1"/>
                </a:solidFill>
                <a:effectLst/>
              </a:rPr>
              <a:t>Ejempo</a:t>
            </a:r>
            <a:r>
              <a:rPr lang="es-ES" altLang="es-ES" sz="1600" dirty="0"/>
              <a:t>:</a:t>
            </a:r>
          </a:p>
          <a:p>
            <a:pPr marL="0" lvl="0" indent="0" defTabSz="914400" eaLnBrk="0" fontAlgn="base" hangingPunct="0">
              <a:spcBef>
                <a:spcPct val="0"/>
              </a:spcBef>
              <a:spcAft>
                <a:spcPct val="0"/>
              </a:spcAft>
              <a:buClrTx/>
              <a:buSzTx/>
              <a:buNone/>
            </a:pPr>
            <a:r>
              <a:rPr lang="es-ES" sz="1600" dirty="0"/>
              <a:t>En vez de programar código para leer una base de datos y publicar en Kafka, usas un conector MySQL </a:t>
            </a:r>
            <a:r>
              <a:rPr lang="es-ES" sz="1600" dirty="0" err="1"/>
              <a:t>Source</a:t>
            </a:r>
            <a:r>
              <a:rPr lang="es-ES" sz="1600" dirty="0"/>
              <a:t> que lo hace automáticamente. Solo configuras (JSON) qué tabla leer, cada cuánto, etc.</a:t>
            </a:r>
            <a:r>
              <a:rPr kumimoji="0" lang="es-ES" altLang="es-ES" sz="1600" b="0" i="0" u="none" strike="noStrike" cap="none" normalizeH="0" baseline="0" dirty="0">
                <a:ln>
                  <a:noFill/>
                </a:ln>
                <a:solidFill>
                  <a:schemeClr val="tx1"/>
                </a:solidFill>
                <a:effectLst/>
              </a:rPr>
              <a:t> </a:t>
            </a:r>
          </a:p>
        </p:txBody>
      </p:sp>
    </p:spTree>
    <p:extLst>
      <p:ext uri="{BB962C8B-B14F-4D97-AF65-F5344CB8AC3E}">
        <p14:creationId xmlns:p14="http://schemas.microsoft.com/office/powerpoint/2010/main" val="15226040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2418447-1043-541A-B1FF-EC0D011F5A5C}"/>
            </a:ext>
          </a:extLst>
        </p:cNvPr>
        <p:cNvGrpSpPr/>
        <p:nvPr/>
      </p:nvGrpSpPr>
      <p:grpSpPr>
        <a:xfrm>
          <a:off x="0" y="0"/>
          <a:ext cx="0" cy="0"/>
          <a:chOff x="0" y="0"/>
          <a:chExt cx="0" cy="0"/>
        </a:xfrm>
      </p:grpSpPr>
      <p:sp useBgFill="1">
        <p:nvSpPr>
          <p:cNvPr id="21" name="Rectángulo 20">
            <a:extLst>
              <a:ext uri="{FF2B5EF4-FFF2-40B4-BE49-F238E27FC236}">
                <a16:creationId xmlns:a16="http://schemas.microsoft.com/office/drawing/2014/main" id="{86908F77-4312-1A77-2734-E21EBC070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a:p>
        </p:txBody>
      </p:sp>
      <p:grpSp>
        <p:nvGrpSpPr>
          <p:cNvPr id="23" name="Grupo 22">
            <a:extLst>
              <a:ext uri="{FF2B5EF4-FFF2-40B4-BE49-F238E27FC236}">
                <a16:creationId xmlns:a16="http://schemas.microsoft.com/office/drawing/2014/main" id="{A93851B6-18E4-9B01-3A1D-C153BD7B997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0"/>
            <a:ext cx="5014912" cy="6862763"/>
            <a:chOff x="2928938" y="-4763"/>
            <a:chExt cx="5014912" cy="6862763"/>
          </a:xfrm>
        </p:grpSpPr>
        <p:sp>
          <p:nvSpPr>
            <p:cNvPr id="24" name="Forma libre 6">
              <a:extLst>
                <a:ext uri="{FF2B5EF4-FFF2-40B4-BE49-F238E27FC236}">
                  <a16:creationId xmlns:a16="http://schemas.microsoft.com/office/drawing/2014/main" id="{17951B68-6358-8981-35D7-52F0BF2D0B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s-ES"/>
            </a:p>
          </p:txBody>
        </p:sp>
        <p:sp>
          <p:nvSpPr>
            <p:cNvPr id="25" name="Forma libre 7">
              <a:extLst>
                <a:ext uri="{FF2B5EF4-FFF2-40B4-BE49-F238E27FC236}">
                  <a16:creationId xmlns:a16="http://schemas.microsoft.com/office/drawing/2014/main" id="{2B7C3E4E-3E89-A37B-461B-3228137E9A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s-ES"/>
            </a:p>
          </p:txBody>
        </p:sp>
        <p:sp>
          <p:nvSpPr>
            <p:cNvPr id="26" name="Forma libre 12">
              <a:extLst>
                <a:ext uri="{FF2B5EF4-FFF2-40B4-BE49-F238E27FC236}">
                  <a16:creationId xmlns:a16="http://schemas.microsoft.com/office/drawing/2014/main" id="{174DB127-A249-973E-4FDB-6DC1C3E9E3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s-ES"/>
            </a:p>
          </p:txBody>
        </p:sp>
        <p:sp>
          <p:nvSpPr>
            <p:cNvPr id="27" name="Forma libre 13">
              <a:extLst>
                <a:ext uri="{FF2B5EF4-FFF2-40B4-BE49-F238E27FC236}">
                  <a16:creationId xmlns:a16="http://schemas.microsoft.com/office/drawing/2014/main" id="{6E7FB079-A3CF-6D38-5DED-280D42D333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s-ES"/>
            </a:p>
          </p:txBody>
        </p:sp>
        <p:sp>
          <p:nvSpPr>
            <p:cNvPr id="28" name="Forma libre 14">
              <a:extLst>
                <a:ext uri="{FF2B5EF4-FFF2-40B4-BE49-F238E27FC236}">
                  <a16:creationId xmlns:a16="http://schemas.microsoft.com/office/drawing/2014/main" id="{795DA294-CEB7-19A2-93DC-75C1443309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s-ES"/>
            </a:p>
          </p:txBody>
        </p:sp>
        <p:sp>
          <p:nvSpPr>
            <p:cNvPr id="29" name="Forma libre 15">
              <a:extLst>
                <a:ext uri="{FF2B5EF4-FFF2-40B4-BE49-F238E27FC236}">
                  <a16:creationId xmlns:a16="http://schemas.microsoft.com/office/drawing/2014/main" id="{5DDE349A-0F8A-4D43-657B-B92217E022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s-ES"/>
            </a:p>
          </p:txBody>
        </p:sp>
      </p:grpSp>
      <p:sp>
        <p:nvSpPr>
          <p:cNvPr id="2" name="Título 1">
            <a:extLst>
              <a:ext uri="{FF2B5EF4-FFF2-40B4-BE49-F238E27FC236}">
                <a16:creationId xmlns:a16="http://schemas.microsoft.com/office/drawing/2014/main" id="{E02BAC5E-407B-C959-67E6-DF8D9E57D381}"/>
              </a:ext>
            </a:extLst>
          </p:cNvPr>
          <p:cNvSpPr>
            <a:spLocks noGrp="1"/>
          </p:cNvSpPr>
          <p:nvPr>
            <p:ph type="title"/>
          </p:nvPr>
        </p:nvSpPr>
        <p:spPr>
          <a:xfrm>
            <a:off x="946001" y="788196"/>
            <a:ext cx="7411825" cy="1752599"/>
          </a:xfrm>
        </p:spPr>
        <p:txBody>
          <a:bodyPr rtlCol="0">
            <a:normAutofit/>
          </a:bodyPr>
          <a:lstStyle/>
          <a:p>
            <a:pPr algn="l"/>
            <a:r>
              <a:rPr lang="es-ES" dirty="0"/>
              <a:t>Estudio de casos</a:t>
            </a:r>
          </a:p>
        </p:txBody>
      </p:sp>
    </p:spTree>
    <p:extLst>
      <p:ext uri="{BB962C8B-B14F-4D97-AF65-F5344CB8AC3E}">
        <p14:creationId xmlns:p14="http://schemas.microsoft.com/office/powerpoint/2010/main" val="1606043017"/>
      </p:ext>
    </p:extLst>
  </p:cSld>
  <p:clrMapOvr>
    <a:overrideClrMapping bg1="dk1" tx1="lt1" bg2="dk2" tx2="lt2" accent1="accent1" accent2="accent2" accent3="accent3" accent4="accent4" accent5="accent5" accent6="accent6" hlink="hlink" folHlink="folHlink"/>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7FA56F-29E4-FBDB-FB43-C2A14B23BA82}"/>
              </a:ext>
            </a:extLst>
          </p:cNvPr>
          <p:cNvSpPr>
            <a:spLocks noGrp="1"/>
          </p:cNvSpPr>
          <p:nvPr>
            <p:ph type="title"/>
          </p:nvPr>
        </p:nvSpPr>
        <p:spPr>
          <a:xfrm>
            <a:off x="1484311" y="685800"/>
            <a:ext cx="10018713" cy="1102895"/>
          </a:xfrm>
        </p:spPr>
        <p:txBody>
          <a:bodyPr/>
          <a:lstStyle/>
          <a:p>
            <a:r>
              <a:rPr lang="es-ES" dirty="0"/>
              <a:t>Netflix</a:t>
            </a:r>
          </a:p>
        </p:txBody>
      </p:sp>
      <p:sp>
        <p:nvSpPr>
          <p:cNvPr id="3" name="Marcador de contenido 2">
            <a:extLst>
              <a:ext uri="{FF2B5EF4-FFF2-40B4-BE49-F238E27FC236}">
                <a16:creationId xmlns:a16="http://schemas.microsoft.com/office/drawing/2014/main" id="{523D0CFA-E09D-512F-6762-EF9419FAFF3D}"/>
              </a:ext>
            </a:extLst>
          </p:cNvPr>
          <p:cNvSpPr>
            <a:spLocks noGrp="1"/>
          </p:cNvSpPr>
          <p:nvPr>
            <p:ph idx="1"/>
          </p:nvPr>
        </p:nvSpPr>
        <p:spPr>
          <a:xfrm>
            <a:off x="1484310" y="1900989"/>
            <a:ext cx="10018713" cy="3890211"/>
          </a:xfrm>
        </p:spPr>
        <p:txBody>
          <a:bodyPr anchor="t"/>
          <a:lstStyle/>
          <a:p>
            <a:r>
              <a:rPr lang="es-ES" dirty="0"/>
              <a:t>Asegurarte que puedes volver a iniciar el video donde lo has dejado.</a:t>
            </a:r>
          </a:p>
          <a:p>
            <a:r>
              <a:rPr lang="es-ES" dirty="0"/>
              <a:t>Construir el perfil de usuario en tiempo real</a:t>
            </a:r>
          </a:p>
          <a:p>
            <a:r>
              <a:rPr lang="es-ES" dirty="0"/>
              <a:t>Recomendar la siguiente serie al usuario en tiempo real</a:t>
            </a:r>
          </a:p>
          <a:p>
            <a:r>
              <a:rPr lang="es-ES" dirty="0"/>
              <a:t>Guardar todos los datos en bases para análisis.</a:t>
            </a:r>
          </a:p>
        </p:txBody>
      </p:sp>
    </p:spTree>
    <p:extLst>
      <p:ext uri="{BB962C8B-B14F-4D97-AF65-F5344CB8AC3E}">
        <p14:creationId xmlns:p14="http://schemas.microsoft.com/office/powerpoint/2010/main" val="149326235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0BC0BE-3A8F-649E-F125-237B692D9BC3}"/>
              </a:ext>
            </a:extLst>
          </p:cNvPr>
          <p:cNvSpPr>
            <a:spLocks noGrp="1"/>
          </p:cNvSpPr>
          <p:nvPr>
            <p:ph type="title"/>
          </p:nvPr>
        </p:nvSpPr>
        <p:spPr>
          <a:xfrm>
            <a:off x="1484310" y="426332"/>
            <a:ext cx="10018713" cy="734357"/>
          </a:xfrm>
        </p:spPr>
        <p:txBody>
          <a:bodyPr/>
          <a:lstStyle/>
          <a:p>
            <a:r>
              <a:rPr lang="es-ES" dirty="0"/>
              <a:t>Arquitectura - Netflix</a:t>
            </a:r>
          </a:p>
        </p:txBody>
      </p:sp>
      <p:sp>
        <p:nvSpPr>
          <p:cNvPr id="3" name="Marcador de contenido 2">
            <a:extLst>
              <a:ext uri="{FF2B5EF4-FFF2-40B4-BE49-F238E27FC236}">
                <a16:creationId xmlns:a16="http://schemas.microsoft.com/office/drawing/2014/main" id="{A282BCCE-D610-F8AC-B2EA-85EAF9E3FCE2}"/>
              </a:ext>
            </a:extLst>
          </p:cNvPr>
          <p:cNvSpPr>
            <a:spLocks noGrp="1"/>
          </p:cNvSpPr>
          <p:nvPr>
            <p:ph idx="1"/>
          </p:nvPr>
        </p:nvSpPr>
        <p:spPr>
          <a:xfrm>
            <a:off x="1484310" y="1376543"/>
            <a:ext cx="10018713" cy="4414658"/>
          </a:xfrm>
        </p:spPr>
        <p:txBody>
          <a:bodyPr anchor="t">
            <a:normAutofit/>
          </a:bodyPr>
          <a:lstStyle/>
          <a:p>
            <a:r>
              <a:rPr lang="es-ES" sz="1800" dirty="0"/>
              <a:t>Tendremos un </a:t>
            </a:r>
            <a:r>
              <a:rPr lang="es-ES" sz="1800" dirty="0" err="1"/>
              <a:t>topic</a:t>
            </a:r>
            <a:r>
              <a:rPr lang="es-ES" sz="1800" dirty="0"/>
              <a:t> que sea “Mostrar posición”, que diga en qué punto se han quedado los usuarios en un programa concreto.</a:t>
            </a:r>
          </a:p>
          <a:p>
            <a:r>
              <a:rPr lang="es-ES" sz="1800" dirty="0"/>
              <a:t>No necesitamos conocer cada punto de reanudación, sólo el último de cada programa.</a:t>
            </a:r>
          </a:p>
        </p:txBody>
      </p:sp>
      <p:sp>
        <p:nvSpPr>
          <p:cNvPr id="4" name="Rectángulo: esquinas redondeadas 3">
            <a:extLst>
              <a:ext uri="{FF2B5EF4-FFF2-40B4-BE49-F238E27FC236}">
                <a16:creationId xmlns:a16="http://schemas.microsoft.com/office/drawing/2014/main" id="{344E91F1-16AD-4194-4CAF-04DF89B44DFD}"/>
              </a:ext>
            </a:extLst>
          </p:cNvPr>
          <p:cNvSpPr/>
          <p:nvPr/>
        </p:nvSpPr>
        <p:spPr>
          <a:xfrm>
            <a:off x="563335" y="2778472"/>
            <a:ext cx="1681843" cy="7102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Video </a:t>
            </a:r>
            <a:r>
              <a:rPr lang="es-ES" dirty="0" err="1"/>
              <a:t>player</a:t>
            </a:r>
            <a:endParaRPr lang="es-ES" dirty="0"/>
          </a:p>
          <a:p>
            <a:pPr algn="ctr"/>
            <a:r>
              <a:rPr lang="es-ES" sz="1200" dirty="0"/>
              <a:t>(mientras emite)</a:t>
            </a:r>
          </a:p>
        </p:txBody>
      </p:sp>
      <p:sp>
        <p:nvSpPr>
          <p:cNvPr id="5" name="Rectángulo: esquinas redondeadas 4">
            <a:extLst>
              <a:ext uri="{FF2B5EF4-FFF2-40B4-BE49-F238E27FC236}">
                <a16:creationId xmlns:a16="http://schemas.microsoft.com/office/drawing/2014/main" id="{0187EC4C-1820-C9DB-C57A-EABB270574CC}"/>
              </a:ext>
            </a:extLst>
          </p:cNvPr>
          <p:cNvSpPr/>
          <p:nvPr/>
        </p:nvSpPr>
        <p:spPr>
          <a:xfrm>
            <a:off x="3364251" y="2696827"/>
            <a:ext cx="1681843" cy="8735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Posición de video</a:t>
            </a:r>
            <a:br>
              <a:rPr lang="es-ES" dirty="0"/>
            </a:br>
            <a:r>
              <a:rPr lang="es-ES" dirty="0"/>
              <a:t>(Producer)</a:t>
            </a:r>
          </a:p>
        </p:txBody>
      </p:sp>
      <p:sp>
        <p:nvSpPr>
          <p:cNvPr id="6" name="Flecha: a la derecha 5">
            <a:extLst>
              <a:ext uri="{FF2B5EF4-FFF2-40B4-BE49-F238E27FC236}">
                <a16:creationId xmlns:a16="http://schemas.microsoft.com/office/drawing/2014/main" id="{8AE7F2E5-C1E7-F0BD-CB20-6E756CE34125}"/>
              </a:ext>
            </a:extLst>
          </p:cNvPr>
          <p:cNvSpPr/>
          <p:nvPr/>
        </p:nvSpPr>
        <p:spPr>
          <a:xfrm>
            <a:off x="2337141" y="3060139"/>
            <a:ext cx="914400" cy="1469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Rectángulo: esquinas redondeadas 6">
            <a:extLst>
              <a:ext uri="{FF2B5EF4-FFF2-40B4-BE49-F238E27FC236}">
                <a16:creationId xmlns:a16="http://schemas.microsoft.com/office/drawing/2014/main" id="{0987639F-88EB-7EAE-4BD8-B5081ED89B5D}"/>
              </a:ext>
            </a:extLst>
          </p:cNvPr>
          <p:cNvSpPr/>
          <p:nvPr/>
        </p:nvSpPr>
        <p:spPr>
          <a:xfrm>
            <a:off x="5478235" y="2481943"/>
            <a:ext cx="3020786" cy="3796393"/>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Rectángulo 7">
            <a:extLst>
              <a:ext uri="{FF2B5EF4-FFF2-40B4-BE49-F238E27FC236}">
                <a16:creationId xmlns:a16="http://schemas.microsoft.com/office/drawing/2014/main" id="{0137C110-1E62-896C-6105-7B268F139D20}"/>
              </a:ext>
            </a:extLst>
          </p:cNvPr>
          <p:cNvSpPr/>
          <p:nvPr/>
        </p:nvSpPr>
        <p:spPr>
          <a:xfrm>
            <a:off x="6222775" y="2778472"/>
            <a:ext cx="1496786" cy="690669"/>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Mostrar posición</a:t>
            </a:r>
          </a:p>
        </p:txBody>
      </p:sp>
      <p:pic>
        <p:nvPicPr>
          <p:cNvPr id="1026" name="Picture 2">
            <a:extLst>
              <a:ext uri="{FF2B5EF4-FFF2-40B4-BE49-F238E27FC236}">
                <a16:creationId xmlns:a16="http://schemas.microsoft.com/office/drawing/2014/main" id="{E5D35A6E-792B-DCC5-68B2-0258A7E6B7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08541" y="3583873"/>
            <a:ext cx="863809" cy="1402878"/>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Conector recto de flecha 9">
            <a:extLst>
              <a:ext uri="{FF2B5EF4-FFF2-40B4-BE49-F238E27FC236}">
                <a16:creationId xmlns:a16="http://schemas.microsoft.com/office/drawing/2014/main" id="{D19FEF88-5B64-CB95-CD2E-858A383382F8}"/>
              </a:ext>
            </a:extLst>
          </p:cNvPr>
          <p:cNvCxnSpPr>
            <a:stCxn id="5" idx="3"/>
            <a:endCxn id="8" idx="1"/>
          </p:cNvCxnSpPr>
          <p:nvPr/>
        </p:nvCxnSpPr>
        <p:spPr>
          <a:xfrm flipV="1">
            <a:off x="5046094" y="3123807"/>
            <a:ext cx="1176681" cy="9810"/>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1" name="Rectángulo: esquinas redondeadas 10">
            <a:extLst>
              <a:ext uri="{FF2B5EF4-FFF2-40B4-BE49-F238E27FC236}">
                <a16:creationId xmlns:a16="http://schemas.microsoft.com/office/drawing/2014/main" id="{328AAC23-3354-A064-7AF8-0B5A2D9357E2}"/>
              </a:ext>
            </a:extLst>
          </p:cNvPr>
          <p:cNvSpPr/>
          <p:nvPr/>
        </p:nvSpPr>
        <p:spPr>
          <a:xfrm>
            <a:off x="563335" y="3834100"/>
            <a:ext cx="1681843" cy="7102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Video </a:t>
            </a:r>
            <a:r>
              <a:rPr lang="es-ES" dirty="0" err="1"/>
              <a:t>player</a:t>
            </a:r>
            <a:endParaRPr lang="es-ES" dirty="0"/>
          </a:p>
          <a:p>
            <a:pPr algn="ctr"/>
            <a:r>
              <a:rPr lang="es-ES" sz="1200" dirty="0"/>
              <a:t>(mientras empieza)</a:t>
            </a:r>
          </a:p>
        </p:txBody>
      </p:sp>
      <p:sp>
        <p:nvSpPr>
          <p:cNvPr id="12" name="Rectángulo: esquinas redondeadas 11">
            <a:extLst>
              <a:ext uri="{FF2B5EF4-FFF2-40B4-BE49-F238E27FC236}">
                <a16:creationId xmlns:a16="http://schemas.microsoft.com/office/drawing/2014/main" id="{9FF38B50-177E-E4A9-C5AF-3535820B2B32}"/>
              </a:ext>
            </a:extLst>
          </p:cNvPr>
          <p:cNvSpPr/>
          <p:nvPr/>
        </p:nvSpPr>
        <p:spPr>
          <a:xfrm>
            <a:off x="3364251" y="3752455"/>
            <a:ext cx="1681843" cy="8735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Reanudando servicio</a:t>
            </a:r>
            <a:br>
              <a:rPr lang="es-ES" dirty="0"/>
            </a:br>
            <a:r>
              <a:rPr lang="es-ES" dirty="0"/>
              <a:t>(</a:t>
            </a:r>
            <a:r>
              <a:rPr lang="es-ES" dirty="0" err="1"/>
              <a:t>Consumer</a:t>
            </a:r>
            <a:r>
              <a:rPr lang="es-ES" dirty="0"/>
              <a:t>)</a:t>
            </a:r>
          </a:p>
        </p:txBody>
      </p:sp>
      <p:sp>
        <p:nvSpPr>
          <p:cNvPr id="13" name="Flecha: a la derecha 12">
            <a:extLst>
              <a:ext uri="{FF2B5EF4-FFF2-40B4-BE49-F238E27FC236}">
                <a16:creationId xmlns:a16="http://schemas.microsoft.com/office/drawing/2014/main" id="{BD8B93F3-2166-5E5B-17F3-6986B22CC242}"/>
              </a:ext>
            </a:extLst>
          </p:cNvPr>
          <p:cNvSpPr/>
          <p:nvPr/>
        </p:nvSpPr>
        <p:spPr>
          <a:xfrm flipH="1">
            <a:off x="2335397" y="4115765"/>
            <a:ext cx="914399" cy="1469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4" name="Conector recto de flecha 13">
            <a:extLst>
              <a:ext uri="{FF2B5EF4-FFF2-40B4-BE49-F238E27FC236}">
                <a16:creationId xmlns:a16="http://schemas.microsoft.com/office/drawing/2014/main" id="{4E576A21-1919-2F0D-BF23-709D51A4DC66}"/>
              </a:ext>
            </a:extLst>
          </p:cNvPr>
          <p:cNvCxnSpPr>
            <a:cxnSpLocks/>
            <a:stCxn id="8" idx="1"/>
            <a:endCxn id="12" idx="3"/>
          </p:cNvCxnSpPr>
          <p:nvPr/>
        </p:nvCxnSpPr>
        <p:spPr>
          <a:xfrm flipH="1">
            <a:off x="5046094" y="3123807"/>
            <a:ext cx="1176681" cy="1065438"/>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8" name="Rectángulo 17">
            <a:extLst>
              <a:ext uri="{FF2B5EF4-FFF2-40B4-BE49-F238E27FC236}">
                <a16:creationId xmlns:a16="http://schemas.microsoft.com/office/drawing/2014/main" id="{2BE41D4B-4CB9-A13D-11DD-509B15A21F3C}"/>
              </a:ext>
            </a:extLst>
          </p:cNvPr>
          <p:cNvSpPr/>
          <p:nvPr/>
        </p:nvSpPr>
        <p:spPr>
          <a:xfrm>
            <a:off x="5984421" y="5100532"/>
            <a:ext cx="1973494" cy="690669"/>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Recomendaciones</a:t>
            </a:r>
          </a:p>
        </p:txBody>
      </p:sp>
      <p:sp>
        <p:nvSpPr>
          <p:cNvPr id="19" name="CuadroTexto 18">
            <a:extLst>
              <a:ext uri="{FF2B5EF4-FFF2-40B4-BE49-F238E27FC236}">
                <a16:creationId xmlns:a16="http://schemas.microsoft.com/office/drawing/2014/main" id="{5F080631-8AD7-0504-9BB9-2E1A08D19ADA}"/>
              </a:ext>
            </a:extLst>
          </p:cNvPr>
          <p:cNvSpPr txBox="1"/>
          <p:nvPr/>
        </p:nvSpPr>
        <p:spPr>
          <a:xfrm>
            <a:off x="1813146" y="4986751"/>
            <a:ext cx="2685595" cy="1477328"/>
          </a:xfrm>
          <a:prstGeom prst="rect">
            <a:avLst/>
          </a:prstGeom>
          <a:noFill/>
        </p:spPr>
        <p:txBody>
          <a:bodyPr wrap="square" rtlCol="0">
            <a:spAutoFit/>
          </a:bodyPr>
          <a:lstStyle/>
          <a:p>
            <a:r>
              <a:rPr lang="es-ES" dirty="0"/>
              <a:t>Con toda la </a:t>
            </a:r>
            <a:r>
              <a:rPr lang="es-ES" dirty="0" err="1"/>
              <a:t>info</a:t>
            </a:r>
            <a:r>
              <a:rPr lang="es-ES" dirty="0"/>
              <a:t> de hasta que punto de cada show ha ido, tenemos </a:t>
            </a:r>
            <a:r>
              <a:rPr lang="es-ES" dirty="0" err="1"/>
              <a:t>info</a:t>
            </a:r>
            <a:r>
              <a:rPr lang="es-ES" dirty="0"/>
              <a:t> de si un show le ha gustado más o menos.</a:t>
            </a:r>
          </a:p>
        </p:txBody>
      </p:sp>
      <p:cxnSp>
        <p:nvCxnSpPr>
          <p:cNvPr id="20" name="Conector recto de flecha 19">
            <a:extLst>
              <a:ext uri="{FF2B5EF4-FFF2-40B4-BE49-F238E27FC236}">
                <a16:creationId xmlns:a16="http://schemas.microsoft.com/office/drawing/2014/main" id="{2365FF79-08C2-8131-4C64-B0FE0F464889}"/>
              </a:ext>
            </a:extLst>
          </p:cNvPr>
          <p:cNvCxnSpPr/>
          <p:nvPr/>
        </p:nvCxnSpPr>
        <p:spPr>
          <a:xfrm flipV="1">
            <a:off x="7754481" y="3113996"/>
            <a:ext cx="1176681" cy="9810"/>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2" name="Rectángulo: esquinas redondeadas 21">
            <a:extLst>
              <a:ext uri="{FF2B5EF4-FFF2-40B4-BE49-F238E27FC236}">
                <a16:creationId xmlns:a16="http://schemas.microsoft.com/office/drawing/2014/main" id="{A578DE5F-26DF-FE8F-1AA1-7AEA839EADDC}"/>
              </a:ext>
            </a:extLst>
          </p:cNvPr>
          <p:cNvSpPr/>
          <p:nvPr/>
        </p:nvSpPr>
        <p:spPr>
          <a:xfrm>
            <a:off x="8943637" y="2677206"/>
            <a:ext cx="2249599" cy="8735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Motor de recomendaciones</a:t>
            </a:r>
          </a:p>
        </p:txBody>
      </p:sp>
      <p:cxnSp>
        <p:nvCxnSpPr>
          <p:cNvPr id="23" name="Conector recto de flecha 22">
            <a:extLst>
              <a:ext uri="{FF2B5EF4-FFF2-40B4-BE49-F238E27FC236}">
                <a16:creationId xmlns:a16="http://schemas.microsoft.com/office/drawing/2014/main" id="{02DA41FE-214F-3BDA-8400-220A146B2DCD}"/>
              </a:ext>
            </a:extLst>
          </p:cNvPr>
          <p:cNvCxnSpPr>
            <a:cxnSpLocks/>
            <a:stCxn id="22" idx="1"/>
            <a:endCxn id="18" idx="3"/>
          </p:cNvCxnSpPr>
          <p:nvPr/>
        </p:nvCxnSpPr>
        <p:spPr>
          <a:xfrm flipH="1">
            <a:off x="7957915" y="3113996"/>
            <a:ext cx="985722" cy="2331871"/>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0" name="Flecha: a la derecha 29">
            <a:extLst>
              <a:ext uri="{FF2B5EF4-FFF2-40B4-BE49-F238E27FC236}">
                <a16:creationId xmlns:a16="http://schemas.microsoft.com/office/drawing/2014/main" id="{16578421-4A48-42E8-FDD8-2A6CF6B8EB4F}"/>
              </a:ext>
            </a:extLst>
          </p:cNvPr>
          <p:cNvSpPr/>
          <p:nvPr/>
        </p:nvSpPr>
        <p:spPr>
          <a:xfrm>
            <a:off x="7987567" y="5332086"/>
            <a:ext cx="1705487" cy="1235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1" name="Rectángulo: esquinas redondeadas 30">
            <a:extLst>
              <a:ext uri="{FF2B5EF4-FFF2-40B4-BE49-F238E27FC236}">
                <a16:creationId xmlns:a16="http://schemas.microsoft.com/office/drawing/2014/main" id="{C7E47458-DAAD-6FDA-0F68-98568DFE111A}"/>
              </a:ext>
            </a:extLst>
          </p:cNvPr>
          <p:cNvSpPr/>
          <p:nvPr/>
        </p:nvSpPr>
        <p:spPr>
          <a:xfrm>
            <a:off x="9693054" y="4765815"/>
            <a:ext cx="1681843" cy="8735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Consumidor para análisis</a:t>
            </a:r>
          </a:p>
        </p:txBody>
      </p:sp>
      <p:sp>
        <p:nvSpPr>
          <p:cNvPr id="32" name="Flecha: a la derecha 31">
            <a:extLst>
              <a:ext uri="{FF2B5EF4-FFF2-40B4-BE49-F238E27FC236}">
                <a16:creationId xmlns:a16="http://schemas.microsoft.com/office/drawing/2014/main" id="{78C2DD27-D167-6EDE-AC47-E982BFC99466}"/>
              </a:ext>
            </a:extLst>
          </p:cNvPr>
          <p:cNvSpPr/>
          <p:nvPr/>
        </p:nvSpPr>
        <p:spPr>
          <a:xfrm rot="2887705">
            <a:off x="7623669" y="4194856"/>
            <a:ext cx="2349645" cy="11804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10562507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7DFB3FE-0CD1-80FE-E3E7-AC3B073B1F8C}"/>
              </a:ext>
            </a:extLst>
          </p:cNvPr>
          <p:cNvSpPr>
            <a:spLocks noGrp="1"/>
          </p:cNvSpPr>
          <p:nvPr>
            <p:ph idx="1"/>
          </p:nvPr>
        </p:nvSpPr>
        <p:spPr>
          <a:xfrm>
            <a:off x="1484310" y="1232807"/>
            <a:ext cx="10018713" cy="4558393"/>
          </a:xfrm>
        </p:spPr>
        <p:txBody>
          <a:bodyPr anchor="t"/>
          <a:lstStyle/>
          <a:p>
            <a:r>
              <a:rPr lang="es-ES" dirty="0" err="1"/>
              <a:t>Topic</a:t>
            </a:r>
            <a:r>
              <a:rPr lang="es-ES" dirty="0"/>
              <a:t> “</a:t>
            </a:r>
            <a:r>
              <a:rPr lang="es-ES" dirty="0" err="1"/>
              <a:t>mostrar_posicion</a:t>
            </a:r>
            <a:r>
              <a:rPr lang="es-ES" dirty="0"/>
              <a:t>”</a:t>
            </a:r>
          </a:p>
          <a:p>
            <a:pPr lvl="1"/>
            <a:r>
              <a:rPr lang="es-ES" dirty="0"/>
              <a:t>Va a tener múltiples productores</a:t>
            </a:r>
          </a:p>
          <a:p>
            <a:pPr lvl="1"/>
            <a:r>
              <a:rPr lang="es-ES" dirty="0"/>
              <a:t>Si tenemos que elegir una clave </a:t>
            </a:r>
            <a:r>
              <a:rPr lang="es-ES" dirty="0">
                <a:sym typeface="Wingdings" panose="05000000000000000000" pitchFamily="2" charset="2"/>
              </a:rPr>
              <a:t> “</a:t>
            </a:r>
            <a:r>
              <a:rPr lang="es-ES" dirty="0" err="1">
                <a:sym typeface="Wingdings" panose="05000000000000000000" pitchFamily="2" charset="2"/>
              </a:rPr>
              <a:t>user_id</a:t>
            </a:r>
            <a:r>
              <a:rPr lang="es-ES" dirty="0">
                <a:sym typeface="Wingdings" panose="05000000000000000000" pitchFamily="2" charset="2"/>
              </a:rPr>
              <a:t>”</a:t>
            </a:r>
          </a:p>
          <a:p>
            <a:pPr lvl="1"/>
            <a:r>
              <a:rPr lang="es-ES" dirty="0">
                <a:sym typeface="Wingdings" panose="05000000000000000000" pitchFamily="2" charset="2"/>
              </a:rPr>
              <a:t>Tráfico muy elevado</a:t>
            </a:r>
          </a:p>
          <a:p>
            <a:r>
              <a:rPr lang="es-ES" dirty="0" err="1">
                <a:sym typeface="Wingdings" panose="05000000000000000000" pitchFamily="2" charset="2"/>
              </a:rPr>
              <a:t>Topic</a:t>
            </a:r>
            <a:r>
              <a:rPr lang="es-ES" dirty="0">
                <a:sym typeface="Wingdings" panose="05000000000000000000" pitchFamily="2" charset="2"/>
              </a:rPr>
              <a:t> “recomendaciones”</a:t>
            </a:r>
          </a:p>
          <a:p>
            <a:pPr lvl="1"/>
            <a:r>
              <a:rPr lang="es-ES" dirty="0">
                <a:sym typeface="Wingdings" panose="05000000000000000000" pitchFamily="2" charset="2"/>
              </a:rPr>
              <a:t>Tráfico más reducido (no hace recomendaciones distintas cada 30 segundos)</a:t>
            </a:r>
          </a:p>
          <a:p>
            <a:pPr lvl="1"/>
            <a:r>
              <a:rPr lang="es-ES" dirty="0">
                <a:sym typeface="Wingdings" panose="05000000000000000000" pitchFamily="2" charset="2"/>
              </a:rPr>
              <a:t>Seguramente la </a:t>
            </a:r>
            <a:r>
              <a:rPr lang="es-ES" dirty="0" err="1">
                <a:sym typeface="Wingdings" panose="05000000000000000000" pitchFamily="2" charset="2"/>
              </a:rPr>
              <a:t>key</a:t>
            </a:r>
            <a:r>
              <a:rPr lang="es-ES" dirty="0">
                <a:sym typeface="Wingdings" panose="05000000000000000000" pitchFamily="2" charset="2"/>
              </a:rPr>
              <a:t> también sería “</a:t>
            </a:r>
            <a:r>
              <a:rPr lang="es-ES" dirty="0" err="1">
                <a:sym typeface="Wingdings" panose="05000000000000000000" pitchFamily="2" charset="2"/>
              </a:rPr>
              <a:t>user_id</a:t>
            </a:r>
            <a:r>
              <a:rPr lang="es-ES" dirty="0">
                <a:sym typeface="Wingdings" panose="05000000000000000000" pitchFamily="2" charset="2"/>
              </a:rPr>
              <a:t>”</a:t>
            </a:r>
            <a:endParaRPr lang="es-ES" dirty="0"/>
          </a:p>
        </p:txBody>
      </p:sp>
      <p:sp>
        <p:nvSpPr>
          <p:cNvPr id="4" name="Título 1">
            <a:extLst>
              <a:ext uri="{FF2B5EF4-FFF2-40B4-BE49-F238E27FC236}">
                <a16:creationId xmlns:a16="http://schemas.microsoft.com/office/drawing/2014/main" id="{0A6A5BD7-C456-AC1A-4B1C-989DF2D401DD}"/>
              </a:ext>
            </a:extLst>
          </p:cNvPr>
          <p:cNvSpPr>
            <a:spLocks noGrp="1"/>
          </p:cNvSpPr>
          <p:nvPr>
            <p:ph type="title"/>
          </p:nvPr>
        </p:nvSpPr>
        <p:spPr>
          <a:xfrm>
            <a:off x="1484310" y="426332"/>
            <a:ext cx="10018713" cy="734357"/>
          </a:xfrm>
        </p:spPr>
        <p:txBody>
          <a:bodyPr/>
          <a:lstStyle/>
          <a:p>
            <a:r>
              <a:rPr lang="es-ES" dirty="0"/>
              <a:t>Arquitectura - Netflix</a:t>
            </a:r>
          </a:p>
        </p:txBody>
      </p:sp>
    </p:spTree>
    <p:extLst>
      <p:ext uri="{BB962C8B-B14F-4D97-AF65-F5344CB8AC3E}">
        <p14:creationId xmlns:p14="http://schemas.microsoft.com/office/powerpoint/2010/main" val="8284479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D02F63-CF49-0F1B-041F-4626D2B905D7}"/>
              </a:ext>
            </a:extLst>
          </p:cNvPr>
          <p:cNvSpPr>
            <a:spLocks noGrp="1"/>
          </p:cNvSpPr>
          <p:nvPr>
            <p:ph type="title"/>
          </p:nvPr>
        </p:nvSpPr>
        <p:spPr>
          <a:xfrm>
            <a:off x="1484311" y="685800"/>
            <a:ext cx="10018713" cy="938893"/>
          </a:xfrm>
        </p:spPr>
        <p:txBody>
          <a:bodyPr/>
          <a:lstStyle/>
          <a:p>
            <a:r>
              <a:rPr lang="es-ES" dirty="0"/>
              <a:t>Uber</a:t>
            </a:r>
          </a:p>
        </p:txBody>
      </p:sp>
      <p:sp>
        <p:nvSpPr>
          <p:cNvPr id="3" name="Marcador de contenido 2">
            <a:extLst>
              <a:ext uri="{FF2B5EF4-FFF2-40B4-BE49-F238E27FC236}">
                <a16:creationId xmlns:a16="http://schemas.microsoft.com/office/drawing/2014/main" id="{336CAF32-6EBA-127D-607A-7B25BD8B7C0E}"/>
              </a:ext>
            </a:extLst>
          </p:cNvPr>
          <p:cNvSpPr>
            <a:spLocks noGrp="1"/>
          </p:cNvSpPr>
          <p:nvPr>
            <p:ph idx="1"/>
          </p:nvPr>
        </p:nvSpPr>
        <p:spPr>
          <a:xfrm>
            <a:off x="1484310" y="1779815"/>
            <a:ext cx="10018713" cy="4011386"/>
          </a:xfrm>
        </p:spPr>
        <p:txBody>
          <a:bodyPr anchor="t"/>
          <a:lstStyle/>
          <a:p>
            <a:r>
              <a:rPr lang="es-ES" dirty="0"/>
              <a:t>Compañía para coger taxi bajo demanda al momento.</a:t>
            </a:r>
          </a:p>
          <a:p>
            <a:pPr lvl="1"/>
            <a:r>
              <a:rPr lang="es-ES" dirty="0"/>
              <a:t>El usuario tiene que </a:t>
            </a:r>
            <a:r>
              <a:rPr lang="es-ES" dirty="0" err="1"/>
              <a:t>matchear</a:t>
            </a:r>
            <a:r>
              <a:rPr lang="es-ES" dirty="0"/>
              <a:t> con un conductor relativamente cercano.</a:t>
            </a:r>
          </a:p>
          <a:p>
            <a:pPr lvl="1"/>
            <a:r>
              <a:rPr lang="es-ES" dirty="0"/>
              <a:t>El precio varía según número de conductores y número de pasajeros.</a:t>
            </a:r>
          </a:p>
          <a:p>
            <a:pPr lvl="1"/>
            <a:r>
              <a:rPr lang="es-ES" dirty="0"/>
              <a:t>Todos los datos de posición antes y durante el recorrido tienen que guardarse para poder computar el coste correctamente.</a:t>
            </a:r>
          </a:p>
        </p:txBody>
      </p:sp>
    </p:spTree>
    <p:extLst>
      <p:ext uri="{BB962C8B-B14F-4D97-AF65-F5344CB8AC3E}">
        <p14:creationId xmlns:p14="http://schemas.microsoft.com/office/powerpoint/2010/main" val="6675276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B0B3F-7DDD-489A-B042-213CCAC6512B}"/>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DA10545D-9054-6C78-E2CD-47C3415F47C8}"/>
              </a:ext>
            </a:extLst>
          </p:cNvPr>
          <p:cNvSpPr>
            <a:spLocks noGrp="1"/>
          </p:cNvSpPr>
          <p:nvPr>
            <p:ph type="title"/>
          </p:nvPr>
        </p:nvSpPr>
        <p:spPr>
          <a:xfrm>
            <a:off x="1484310" y="426332"/>
            <a:ext cx="10018713" cy="734357"/>
          </a:xfrm>
        </p:spPr>
        <p:txBody>
          <a:bodyPr/>
          <a:lstStyle/>
          <a:p>
            <a:r>
              <a:rPr lang="es-ES" dirty="0"/>
              <a:t>Arquitectura - Uber</a:t>
            </a:r>
          </a:p>
        </p:txBody>
      </p:sp>
      <p:sp>
        <p:nvSpPr>
          <p:cNvPr id="2" name="Rectángulo: esquinas redondeadas 1">
            <a:extLst>
              <a:ext uri="{FF2B5EF4-FFF2-40B4-BE49-F238E27FC236}">
                <a16:creationId xmlns:a16="http://schemas.microsoft.com/office/drawing/2014/main" id="{AB4161BA-7D22-07D2-3420-8CE663D29714}"/>
              </a:ext>
            </a:extLst>
          </p:cNvPr>
          <p:cNvSpPr/>
          <p:nvPr/>
        </p:nvSpPr>
        <p:spPr>
          <a:xfrm>
            <a:off x="563335" y="2778472"/>
            <a:ext cx="1681843" cy="7102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App del usuario</a:t>
            </a:r>
            <a:endParaRPr lang="es-ES" sz="1200" dirty="0"/>
          </a:p>
        </p:txBody>
      </p:sp>
      <p:sp>
        <p:nvSpPr>
          <p:cNvPr id="5" name="Rectángulo: esquinas redondeadas 4">
            <a:extLst>
              <a:ext uri="{FF2B5EF4-FFF2-40B4-BE49-F238E27FC236}">
                <a16:creationId xmlns:a16="http://schemas.microsoft.com/office/drawing/2014/main" id="{4C07F867-BCD7-11B6-98A0-1B9E1EA7101E}"/>
              </a:ext>
            </a:extLst>
          </p:cNvPr>
          <p:cNvSpPr/>
          <p:nvPr/>
        </p:nvSpPr>
        <p:spPr>
          <a:xfrm>
            <a:off x="3364251" y="2696827"/>
            <a:ext cx="1681843" cy="8735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Servicio de Posición</a:t>
            </a:r>
            <a:br>
              <a:rPr lang="es-ES" dirty="0"/>
            </a:br>
            <a:r>
              <a:rPr lang="es-ES" dirty="0"/>
              <a:t>(Producer)</a:t>
            </a:r>
          </a:p>
        </p:txBody>
      </p:sp>
      <p:sp>
        <p:nvSpPr>
          <p:cNvPr id="6" name="Flecha: a la derecha 5">
            <a:extLst>
              <a:ext uri="{FF2B5EF4-FFF2-40B4-BE49-F238E27FC236}">
                <a16:creationId xmlns:a16="http://schemas.microsoft.com/office/drawing/2014/main" id="{E5198FE2-2389-9A5F-6DDB-73952A4AC0F5}"/>
              </a:ext>
            </a:extLst>
          </p:cNvPr>
          <p:cNvSpPr/>
          <p:nvPr/>
        </p:nvSpPr>
        <p:spPr>
          <a:xfrm>
            <a:off x="2337141" y="3060139"/>
            <a:ext cx="914400" cy="1469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Rectángulo: esquinas redondeadas 6">
            <a:extLst>
              <a:ext uri="{FF2B5EF4-FFF2-40B4-BE49-F238E27FC236}">
                <a16:creationId xmlns:a16="http://schemas.microsoft.com/office/drawing/2014/main" id="{2A2A2B48-6B50-296F-EAF8-EF9CF9AA877F}"/>
              </a:ext>
            </a:extLst>
          </p:cNvPr>
          <p:cNvSpPr/>
          <p:nvPr/>
        </p:nvSpPr>
        <p:spPr>
          <a:xfrm>
            <a:off x="5478235" y="2481943"/>
            <a:ext cx="3020786" cy="3796393"/>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Rectángulo 7">
            <a:extLst>
              <a:ext uri="{FF2B5EF4-FFF2-40B4-BE49-F238E27FC236}">
                <a16:creationId xmlns:a16="http://schemas.microsoft.com/office/drawing/2014/main" id="{9A96370D-B2AF-4789-5E84-7C4A3408AE69}"/>
              </a:ext>
            </a:extLst>
          </p:cNvPr>
          <p:cNvSpPr/>
          <p:nvPr/>
        </p:nvSpPr>
        <p:spPr>
          <a:xfrm>
            <a:off x="6222775" y="2778472"/>
            <a:ext cx="1496786" cy="690669"/>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err="1"/>
              <a:t>User_position</a:t>
            </a:r>
            <a:endParaRPr lang="es-ES" dirty="0"/>
          </a:p>
        </p:txBody>
      </p:sp>
      <p:pic>
        <p:nvPicPr>
          <p:cNvPr id="9" name="Picture 2">
            <a:extLst>
              <a:ext uri="{FF2B5EF4-FFF2-40B4-BE49-F238E27FC236}">
                <a16:creationId xmlns:a16="http://schemas.microsoft.com/office/drawing/2014/main" id="{1817338B-EC1A-B941-D64D-F7CD17C838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22133" y="1315539"/>
            <a:ext cx="679089" cy="1102882"/>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Conector recto de flecha 9">
            <a:extLst>
              <a:ext uri="{FF2B5EF4-FFF2-40B4-BE49-F238E27FC236}">
                <a16:creationId xmlns:a16="http://schemas.microsoft.com/office/drawing/2014/main" id="{133BA418-8BEB-E0B8-326A-8E698BD95491}"/>
              </a:ext>
            </a:extLst>
          </p:cNvPr>
          <p:cNvCxnSpPr>
            <a:stCxn id="5" idx="3"/>
            <a:endCxn id="8" idx="1"/>
          </p:cNvCxnSpPr>
          <p:nvPr/>
        </p:nvCxnSpPr>
        <p:spPr>
          <a:xfrm flipV="1">
            <a:off x="5046094" y="3123807"/>
            <a:ext cx="1176681" cy="9810"/>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1" name="Rectángulo: esquinas redondeadas 10">
            <a:extLst>
              <a:ext uri="{FF2B5EF4-FFF2-40B4-BE49-F238E27FC236}">
                <a16:creationId xmlns:a16="http://schemas.microsoft.com/office/drawing/2014/main" id="{855D074F-560D-516E-67D0-AD5846D193CC}"/>
              </a:ext>
            </a:extLst>
          </p:cNvPr>
          <p:cNvSpPr/>
          <p:nvPr/>
        </p:nvSpPr>
        <p:spPr>
          <a:xfrm>
            <a:off x="563335" y="3834100"/>
            <a:ext cx="1681843" cy="7102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App del taxista</a:t>
            </a:r>
            <a:endParaRPr lang="es-ES" sz="1200" dirty="0"/>
          </a:p>
        </p:txBody>
      </p:sp>
      <p:sp>
        <p:nvSpPr>
          <p:cNvPr id="12" name="Rectángulo: esquinas redondeadas 11">
            <a:extLst>
              <a:ext uri="{FF2B5EF4-FFF2-40B4-BE49-F238E27FC236}">
                <a16:creationId xmlns:a16="http://schemas.microsoft.com/office/drawing/2014/main" id="{0C8EC877-744E-C462-D837-3845204680C8}"/>
              </a:ext>
            </a:extLst>
          </p:cNvPr>
          <p:cNvSpPr/>
          <p:nvPr/>
        </p:nvSpPr>
        <p:spPr>
          <a:xfrm>
            <a:off x="3364251" y="3752455"/>
            <a:ext cx="1681843" cy="8735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Servicio de posición</a:t>
            </a:r>
            <a:br>
              <a:rPr lang="es-ES" dirty="0"/>
            </a:br>
            <a:r>
              <a:rPr lang="es-ES" dirty="0"/>
              <a:t>(Producer)</a:t>
            </a:r>
          </a:p>
        </p:txBody>
      </p:sp>
      <p:sp>
        <p:nvSpPr>
          <p:cNvPr id="15" name="Rectángulo 14">
            <a:extLst>
              <a:ext uri="{FF2B5EF4-FFF2-40B4-BE49-F238E27FC236}">
                <a16:creationId xmlns:a16="http://schemas.microsoft.com/office/drawing/2014/main" id="{1A7C9477-7007-50A0-D37A-D5C802CF9DA4}"/>
              </a:ext>
            </a:extLst>
          </p:cNvPr>
          <p:cNvSpPr/>
          <p:nvPr/>
        </p:nvSpPr>
        <p:spPr>
          <a:xfrm>
            <a:off x="5984421" y="3843909"/>
            <a:ext cx="1973494" cy="690669"/>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err="1"/>
              <a:t>Taxi_position</a:t>
            </a:r>
            <a:endParaRPr lang="es-ES" dirty="0"/>
          </a:p>
        </p:txBody>
      </p:sp>
      <p:cxnSp>
        <p:nvCxnSpPr>
          <p:cNvPr id="16" name="Conector recto de flecha 15">
            <a:extLst>
              <a:ext uri="{FF2B5EF4-FFF2-40B4-BE49-F238E27FC236}">
                <a16:creationId xmlns:a16="http://schemas.microsoft.com/office/drawing/2014/main" id="{749BAC5D-6A31-2320-8A52-3F5542A20B72}"/>
              </a:ext>
            </a:extLst>
          </p:cNvPr>
          <p:cNvCxnSpPr/>
          <p:nvPr/>
        </p:nvCxnSpPr>
        <p:spPr>
          <a:xfrm flipV="1">
            <a:off x="7754481" y="3113996"/>
            <a:ext cx="1176681" cy="9810"/>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7" name="Rectángulo: esquinas redondeadas 16">
            <a:extLst>
              <a:ext uri="{FF2B5EF4-FFF2-40B4-BE49-F238E27FC236}">
                <a16:creationId xmlns:a16="http://schemas.microsoft.com/office/drawing/2014/main" id="{70A4C459-2556-ED10-3CF6-6F949AE03C54}"/>
              </a:ext>
            </a:extLst>
          </p:cNvPr>
          <p:cNvSpPr/>
          <p:nvPr/>
        </p:nvSpPr>
        <p:spPr>
          <a:xfrm>
            <a:off x="8943637" y="2677206"/>
            <a:ext cx="2249599" cy="8735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Modelo para calculo de precio</a:t>
            </a:r>
          </a:p>
          <a:p>
            <a:pPr algn="ctr"/>
            <a:r>
              <a:rPr lang="es-ES" dirty="0"/>
              <a:t>(</a:t>
            </a:r>
            <a:r>
              <a:rPr lang="es-ES" dirty="0" err="1"/>
              <a:t>kafka</a:t>
            </a:r>
            <a:r>
              <a:rPr lang="es-ES" dirty="0"/>
              <a:t> – </a:t>
            </a:r>
            <a:r>
              <a:rPr lang="es-ES" dirty="0" err="1"/>
              <a:t>Flink</a:t>
            </a:r>
            <a:r>
              <a:rPr lang="es-ES" dirty="0"/>
              <a:t>)</a:t>
            </a:r>
          </a:p>
        </p:txBody>
      </p:sp>
      <p:sp>
        <p:nvSpPr>
          <p:cNvPr id="20" name="Rectángulo: esquinas redondeadas 19">
            <a:extLst>
              <a:ext uri="{FF2B5EF4-FFF2-40B4-BE49-F238E27FC236}">
                <a16:creationId xmlns:a16="http://schemas.microsoft.com/office/drawing/2014/main" id="{DEF71D24-3EF9-87DF-C044-E9DC2D8163CF}"/>
              </a:ext>
            </a:extLst>
          </p:cNvPr>
          <p:cNvSpPr/>
          <p:nvPr/>
        </p:nvSpPr>
        <p:spPr>
          <a:xfrm>
            <a:off x="3364251" y="5161189"/>
            <a:ext cx="1681843" cy="8735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Servicio de coste de taxi</a:t>
            </a:r>
          </a:p>
          <a:p>
            <a:pPr algn="ctr"/>
            <a:r>
              <a:rPr lang="es-ES" dirty="0"/>
              <a:t>(</a:t>
            </a:r>
            <a:r>
              <a:rPr lang="es-ES" dirty="0" err="1"/>
              <a:t>Consumer</a:t>
            </a:r>
            <a:r>
              <a:rPr lang="es-ES" dirty="0"/>
              <a:t>)</a:t>
            </a:r>
          </a:p>
        </p:txBody>
      </p:sp>
      <p:sp>
        <p:nvSpPr>
          <p:cNvPr id="22" name="Flecha: a la derecha 21">
            <a:extLst>
              <a:ext uri="{FF2B5EF4-FFF2-40B4-BE49-F238E27FC236}">
                <a16:creationId xmlns:a16="http://schemas.microsoft.com/office/drawing/2014/main" id="{C442A0FA-2DC8-EB45-E942-0C4F8E94C759}"/>
              </a:ext>
            </a:extLst>
          </p:cNvPr>
          <p:cNvSpPr/>
          <p:nvPr/>
        </p:nvSpPr>
        <p:spPr>
          <a:xfrm>
            <a:off x="2347514" y="4132974"/>
            <a:ext cx="914400" cy="1469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24" name="Conector recto de flecha 23">
            <a:extLst>
              <a:ext uri="{FF2B5EF4-FFF2-40B4-BE49-F238E27FC236}">
                <a16:creationId xmlns:a16="http://schemas.microsoft.com/office/drawing/2014/main" id="{AD511D55-97A4-176A-1814-E26546E3272A}"/>
              </a:ext>
            </a:extLst>
          </p:cNvPr>
          <p:cNvCxnSpPr>
            <a:cxnSpLocks/>
            <a:stCxn id="12" idx="3"/>
            <a:endCxn id="15" idx="1"/>
          </p:cNvCxnSpPr>
          <p:nvPr/>
        </p:nvCxnSpPr>
        <p:spPr>
          <a:xfrm flipV="1">
            <a:off x="5046094" y="4189244"/>
            <a:ext cx="938327" cy="1"/>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8" name="Rectángulo 27">
            <a:extLst>
              <a:ext uri="{FF2B5EF4-FFF2-40B4-BE49-F238E27FC236}">
                <a16:creationId xmlns:a16="http://schemas.microsoft.com/office/drawing/2014/main" id="{FDBB1648-0B61-B6B3-99BE-F3DAB32CF7D2}"/>
              </a:ext>
            </a:extLst>
          </p:cNvPr>
          <p:cNvSpPr/>
          <p:nvPr/>
        </p:nvSpPr>
        <p:spPr>
          <a:xfrm>
            <a:off x="5984421" y="5287915"/>
            <a:ext cx="1973494" cy="690669"/>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err="1"/>
              <a:t>Calculo_precio</a:t>
            </a:r>
            <a:endParaRPr lang="es-ES" dirty="0"/>
          </a:p>
        </p:txBody>
      </p:sp>
      <p:cxnSp>
        <p:nvCxnSpPr>
          <p:cNvPr id="29" name="Conector recto de flecha 28">
            <a:extLst>
              <a:ext uri="{FF2B5EF4-FFF2-40B4-BE49-F238E27FC236}">
                <a16:creationId xmlns:a16="http://schemas.microsoft.com/office/drawing/2014/main" id="{8E79F0FF-4055-9040-E964-F196FAA9B720}"/>
              </a:ext>
            </a:extLst>
          </p:cNvPr>
          <p:cNvCxnSpPr>
            <a:cxnSpLocks/>
            <a:stCxn id="15" idx="3"/>
            <a:endCxn id="17" idx="1"/>
          </p:cNvCxnSpPr>
          <p:nvPr/>
        </p:nvCxnSpPr>
        <p:spPr>
          <a:xfrm flipV="1">
            <a:off x="7957915" y="3113996"/>
            <a:ext cx="985722" cy="1075248"/>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0" name="Conector recto de flecha 29">
            <a:extLst>
              <a:ext uri="{FF2B5EF4-FFF2-40B4-BE49-F238E27FC236}">
                <a16:creationId xmlns:a16="http://schemas.microsoft.com/office/drawing/2014/main" id="{5C8879A4-FEB7-9DB6-CE11-15A4C9238A86}"/>
              </a:ext>
            </a:extLst>
          </p:cNvPr>
          <p:cNvCxnSpPr>
            <a:cxnSpLocks/>
            <a:stCxn id="17" idx="1"/>
            <a:endCxn id="28" idx="3"/>
          </p:cNvCxnSpPr>
          <p:nvPr/>
        </p:nvCxnSpPr>
        <p:spPr>
          <a:xfrm flipH="1">
            <a:off x="7957915" y="3113996"/>
            <a:ext cx="985722" cy="2519254"/>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5" name="Rectángulo: esquinas redondeadas 34">
            <a:extLst>
              <a:ext uri="{FF2B5EF4-FFF2-40B4-BE49-F238E27FC236}">
                <a16:creationId xmlns:a16="http://schemas.microsoft.com/office/drawing/2014/main" id="{28996FD3-0456-4D48-1E31-1C717A7722F6}"/>
              </a:ext>
            </a:extLst>
          </p:cNvPr>
          <p:cNvSpPr/>
          <p:nvPr/>
        </p:nvSpPr>
        <p:spPr>
          <a:xfrm>
            <a:off x="526367" y="5242831"/>
            <a:ext cx="1681843" cy="7102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App del usuario</a:t>
            </a:r>
            <a:endParaRPr lang="es-ES" sz="1200" dirty="0"/>
          </a:p>
        </p:txBody>
      </p:sp>
      <p:sp>
        <p:nvSpPr>
          <p:cNvPr id="36" name="Flecha: a la derecha 35">
            <a:extLst>
              <a:ext uri="{FF2B5EF4-FFF2-40B4-BE49-F238E27FC236}">
                <a16:creationId xmlns:a16="http://schemas.microsoft.com/office/drawing/2014/main" id="{B0F9F8DF-70BD-0D5C-193A-ACB47DE4F76A}"/>
              </a:ext>
            </a:extLst>
          </p:cNvPr>
          <p:cNvSpPr/>
          <p:nvPr/>
        </p:nvSpPr>
        <p:spPr>
          <a:xfrm rot="10800000">
            <a:off x="2347514" y="5486292"/>
            <a:ext cx="914400" cy="1469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7" name="Flecha: a la derecha 36">
            <a:extLst>
              <a:ext uri="{FF2B5EF4-FFF2-40B4-BE49-F238E27FC236}">
                <a16:creationId xmlns:a16="http://schemas.microsoft.com/office/drawing/2014/main" id="{DC99ED4E-3AF1-A73B-4625-A55AD23F4336}"/>
              </a:ext>
            </a:extLst>
          </p:cNvPr>
          <p:cNvSpPr/>
          <p:nvPr/>
        </p:nvSpPr>
        <p:spPr>
          <a:xfrm>
            <a:off x="8093637" y="5483892"/>
            <a:ext cx="1705487" cy="1235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8" name="Rectángulo: esquinas redondeadas 37">
            <a:extLst>
              <a:ext uri="{FF2B5EF4-FFF2-40B4-BE49-F238E27FC236}">
                <a16:creationId xmlns:a16="http://schemas.microsoft.com/office/drawing/2014/main" id="{582E9268-8F5E-4C88-486C-8ADF64E535FA}"/>
              </a:ext>
            </a:extLst>
          </p:cNvPr>
          <p:cNvSpPr/>
          <p:nvPr/>
        </p:nvSpPr>
        <p:spPr>
          <a:xfrm>
            <a:off x="9799124" y="4995184"/>
            <a:ext cx="1681843" cy="8735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Consumidor para análisis</a:t>
            </a:r>
          </a:p>
        </p:txBody>
      </p:sp>
      <p:sp>
        <p:nvSpPr>
          <p:cNvPr id="39" name="Flecha: a la derecha 38">
            <a:extLst>
              <a:ext uri="{FF2B5EF4-FFF2-40B4-BE49-F238E27FC236}">
                <a16:creationId xmlns:a16="http://schemas.microsoft.com/office/drawing/2014/main" id="{DF164732-5896-4169-8559-F5157CE1FBE0}"/>
              </a:ext>
            </a:extLst>
          </p:cNvPr>
          <p:cNvSpPr/>
          <p:nvPr/>
        </p:nvSpPr>
        <p:spPr>
          <a:xfrm rot="2887705">
            <a:off x="7435368" y="4223105"/>
            <a:ext cx="2699194" cy="11014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0" name="Flecha: a la derecha 39">
            <a:extLst>
              <a:ext uri="{FF2B5EF4-FFF2-40B4-BE49-F238E27FC236}">
                <a16:creationId xmlns:a16="http://schemas.microsoft.com/office/drawing/2014/main" id="{7F3EA3FB-2767-7490-DFEE-13ECDBFE86B0}"/>
              </a:ext>
            </a:extLst>
          </p:cNvPr>
          <p:cNvSpPr/>
          <p:nvPr/>
        </p:nvSpPr>
        <p:spPr>
          <a:xfrm rot="2268451">
            <a:off x="7877515" y="4686622"/>
            <a:ext cx="2020895" cy="13209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34578294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B512C2-A4AF-3B77-2979-14F1906C87F9}"/>
              </a:ext>
            </a:extLst>
          </p:cNvPr>
          <p:cNvSpPr>
            <a:spLocks noGrp="1"/>
          </p:cNvSpPr>
          <p:nvPr>
            <p:ph type="title"/>
          </p:nvPr>
        </p:nvSpPr>
        <p:spPr>
          <a:xfrm>
            <a:off x="1484311" y="685800"/>
            <a:ext cx="10018713" cy="889907"/>
          </a:xfrm>
        </p:spPr>
        <p:txBody>
          <a:bodyPr/>
          <a:lstStyle/>
          <a:p>
            <a:r>
              <a:rPr lang="es-ES" dirty="0"/>
              <a:t>Arquitectura - Uber</a:t>
            </a:r>
          </a:p>
        </p:txBody>
      </p:sp>
      <p:sp>
        <p:nvSpPr>
          <p:cNvPr id="3" name="Marcador de contenido 2">
            <a:extLst>
              <a:ext uri="{FF2B5EF4-FFF2-40B4-BE49-F238E27FC236}">
                <a16:creationId xmlns:a16="http://schemas.microsoft.com/office/drawing/2014/main" id="{55E452CF-F29F-4336-59E4-55CBFE6C2446}"/>
              </a:ext>
            </a:extLst>
          </p:cNvPr>
          <p:cNvSpPr>
            <a:spLocks noGrp="1"/>
          </p:cNvSpPr>
          <p:nvPr>
            <p:ph idx="1"/>
          </p:nvPr>
        </p:nvSpPr>
        <p:spPr>
          <a:xfrm>
            <a:off x="1484310" y="1747157"/>
            <a:ext cx="10018713" cy="4044043"/>
          </a:xfrm>
        </p:spPr>
        <p:txBody>
          <a:bodyPr anchor="t"/>
          <a:lstStyle/>
          <a:p>
            <a:r>
              <a:rPr lang="es-ES" dirty="0"/>
              <a:t>Los </a:t>
            </a:r>
            <a:r>
              <a:rPr lang="es-ES" dirty="0" err="1"/>
              <a:t>topics</a:t>
            </a:r>
            <a:r>
              <a:rPr lang="es-ES" dirty="0"/>
              <a:t> de posición:</a:t>
            </a:r>
          </a:p>
          <a:p>
            <a:pPr lvl="1"/>
            <a:r>
              <a:rPr lang="es-ES" dirty="0"/>
              <a:t>Tienen múltiples productores </a:t>
            </a:r>
            <a:r>
              <a:rPr lang="es-ES" dirty="0">
                <a:sym typeface="Wingdings" panose="05000000000000000000" pitchFamily="2" charset="2"/>
              </a:rPr>
              <a:t> alta distribución durante momentos de alto volumen</a:t>
            </a:r>
          </a:p>
          <a:p>
            <a:pPr lvl="1"/>
            <a:r>
              <a:rPr lang="es-ES" dirty="0">
                <a:sym typeface="Wingdings" panose="05000000000000000000" pitchFamily="2" charset="2"/>
              </a:rPr>
              <a:t>La </a:t>
            </a:r>
            <a:r>
              <a:rPr lang="es-ES" dirty="0" err="1">
                <a:sym typeface="Wingdings" panose="05000000000000000000" pitchFamily="2" charset="2"/>
              </a:rPr>
              <a:t>key</a:t>
            </a:r>
            <a:r>
              <a:rPr lang="es-ES" dirty="0">
                <a:sym typeface="Wingdings" panose="05000000000000000000" pitchFamily="2" charset="2"/>
              </a:rPr>
              <a:t> sería “</a:t>
            </a:r>
            <a:r>
              <a:rPr lang="es-ES" dirty="0" err="1">
                <a:sym typeface="Wingdings" panose="05000000000000000000" pitchFamily="2" charset="2"/>
              </a:rPr>
              <a:t>user_id</a:t>
            </a:r>
            <a:r>
              <a:rPr lang="es-ES" dirty="0">
                <a:sym typeface="Wingdings" panose="05000000000000000000" pitchFamily="2" charset="2"/>
              </a:rPr>
              <a:t>”, “</a:t>
            </a:r>
            <a:r>
              <a:rPr lang="es-ES" dirty="0" err="1">
                <a:sym typeface="Wingdings" panose="05000000000000000000" pitchFamily="2" charset="2"/>
              </a:rPr>
              <a:t>taxi_id</a:t>
            </a:r>
            <a:r>
              <a:rPr lang="es-ES" dirty="0">
                <a:sym typeface="Wingdings" panose="05000000000000000000" pitchFamily="2" charset="2"/>
              </a:rPr>
              <a:t>”.</a:t>
            </a:r>
          </a:p>
          <a:p>
            <a:pPr lvl="1"/>
            <a:r>
              <a:rPr lang="es-ES" dirty="0">
                <a:sym typeface="Wingdings" panose="05000000000000000000" pitchFamily="2" charset="2"/>
              </a:rPr>
              <a:t>Los datos no hay que guardarlos demasiado tiempo en el </a:t>
            </a:r>
            <a:r>
              <a:rPr lang="es-ES" dirty="0" err="1">
                <a:sym typeface="Wingdings" panose="05000000000000000000" pitchFamily="2" charset="2"/>
              </a:rPr>
              <a:t>cluster</a:t>
            </a:r>
            <a:r>
              <a:rPr lang="es-ES" dirty="0">
                <a:sym typeface="Wingdings" panose="05000000000000000000" pitchFamily="2" charset="2"/>
              </a:rPr>
              <a:t>, ya que varían cada poco tiempo.</a:t>
            </a:r>
          </a:p>
          <a:p>
            <a:pPr lvl="1"/>
            <a:endParaRPr lang="es-ES" dirty="0"/>
          </a:p>
        </p:txBody>
      </p:sp>
    </p:spTree>
    <p:extLst>
      <p:ext uri="{BB962C8B-B14F-4D97-AF65-F5344CB8AC3E}">
        <p14:creationId xmlns:p14="http://schemas.microsoft.com/office/powerpoint/2010/main" val="50529918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9DDFA-E157-54AE-B2E0-A147AC5814F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B1C8441-15E9-35E8-D7F3-67EEA4EFD77B}"/>
              </a:ext>
            </a:extLst>
          </p:cNvPr>
          <p:cNvSpPr>
            <a:spLocks noGrp="1"/>
          </p:cNvSpPr>
          <p:nvPr>
            <p:ph type="title"/>
          </p:nvPr>
        </p:nvSpPr>
        <p:spPr>
          <a:xfrm>
            <a:off x="1484311" y="685800"/>
            <a:ext cx="10018713" cy="1102895"/>
          </a:xfrm>
        </p:spPr>
        <p:txBody>
          <a:bodyPr/>
          <a:lstStyle/>
          <a:p>
            <a:r>
              <a:rPr lang="es-ES" dirty="0"/>
              <a:t>Banco</a:t>
            </a:r>
          </a:p>
        </p:txBody>
      </p:sp>
      <p:sp>
        <p:nvSpPr>
          <p:cNvPr id="3" name="Marcador de contenido 2">
            <a:extLst>
              <a:ext uri="{FF2B5EF4-FFF2-40B4-BE49-F238E27FC236}">
                <a16:creationId xmlns:a16="http://schemas.microsoft.com/office/drawing/2014/main" id="{621728C7-0564-D592-1FF5-21645CBA4950}"/>
              </a:ext>
            </a:extLst>
          </p:cNvPr>
          <p:cNvSpPr>
            <a:spLocks noGrp="1"/>
          </p:cNvSpPr>
          <p:nvPr>
            <p:ph idx="1"/>
          </p:nvPr>
        </p:nvSpPr>
        <p:spPr>
          <a:xfrm>
            <a:off x="1484310" y="1900989"/>
            <a:ext cx="10018713" cy="3890211"/>
          </a:xfrm>
        </p:spPr>
        <p:txBody>
          <a:bodyPr anchor="t"/>
          <a:lstStyle/>
          <a:p>
            <a:r>
              <a:rPr lang="es-ES" dirty="0"/>
              <a:t>Imaginemos que queremos desarrollar una alerta para los usuarios en caso de transacciones grandes.</a:t>
            </a:r>
          </a:p>
          <a:p>
            <a:pPr lvl="1"/>
            <a:r>
              <a:rPr lang="es-ES" dirty="0"/>
              <a:t>El dato de la transacción ya está en la BBDD.</a:t>
            </a:r>
          </a:p>
          <a:p>
            <a:pPr lvl="1"/>
            <a:r>
              <a:rPr lang="es-ES" dirty="0"/>
              <a:t>El límite de dinero puede ser definido por el cliente.</a:t>
            </a:r>
          </a:p>
          <a:p>
            <a:pPr lvl="1"/>
            <a:r>
              <a:rPr lang="es-ES" dirty="0"/>
              <a:t>Las alertas tienen que mandase en tiempo real a los usuarios.</a:t>
            </a:r>
          </a:p>
        </p:txBody>
      </p:sp>
    </p:spTree>
    <p:extLst>
      <p:ext uri="{BB962C8B-B14F-4D97-AF65-F5344CB8AC3E}">
        <p14:creationId xmlns:p14="http://schemas.microsoft.com/office/powerpoint/2010/main" val="68853540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D2CC11-E3B1-FB75-07FD-159CF60827ED}"/>
              </a:ext>
            </a:extLst>
          </p:cNvPr>
          <p:cNvSpPr>
            <a:spLocks noGrp="1"/>
          </p:cNvSpPr>
          <p:nvPr>
            <p:ph type="title"/>
          </p:nvPr>
        </p:nvSpPr>
        <p:spPr>
          <a:xfrm>
            <a:off x="1484311" y="685800"/>
            <a:ext cx="10018713" cy="832607"/>
          </a:xfrm>
        </p:spPr>
        <p:txBody>
          <a:bodyPr/>
          <a:lstStyle/>
          <a:p>
            <a:r>
              <a:rPr lang="es-ES" dirty="0"/>
              <a:t>Arquitectura - Banco</a:t>
            </a:r>
          </a:p>
        </p:txBody>
      </p:sp>
      <p:sp>
        <p:nvSpPr>
          <p:cNvPr id="4" name="Rectángulo: esquinas redondeadas 3">
            <a:extLst>
              <a:ext uri="{FF2B5EF4-FFF2-40B4-BE49-F238E27FC236}">
                <a16:creationId xmlns:a16="http://schemas.microsoft.com/office/drawing/2014/main" id="{3D60682E-D35A-A9BA-D533-467829634408}"/>
              </a:ext>
            </a:extLst>
          </p:cNvPr>
          <p:cNvSpPr/>
          <p:nvPr/>
        </p:nvSpPr>
        <p:spPr>
          <a:xfrm>
            <a:off x="563335" y="2778472"/>
            <a:ext cx="1681843" cy="7102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BBDD transacciones</a:t>
            </a:r>
            <a:endParaRPr lang="es-ES" sz="1200" dirty="0"/>
          </a:p>
        </p:txBody>
      </p:sp>
      <p:sp>
        <p:nvSpPr>
          <p:cNvPr id="5" name="Rectángulo: esquinas redondeadas 4">
            <a:extLst>
              <a:ext uri="{FF2B5EF4-FFF2-40B4-BE49-F238E27FC236}">
                <a16:creationId xmlns:a16="http://schemas.microsoft.com/office/drawing/2014/main" id="{E6019CE1-E60E-4EF0-4EA8-B88C24BF568E}"/>
              </a:ext>
            </a:extLst>
          </p:cNvPr>
          <p:cNvSpPr/>
          <p:nvPr/>
        </p:nvSpPr>
        <p:spPr>
          <a:xfrm>
            <a:off x="3364251" y="2696827"/>
            <a:ext cx="1681843" cy="8735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Kafka </a:t>
            </a:r>
            <a:r>
              <a:rPr lang="es-ES" dirty="0" err="1"/>
              <a:t>Connect</a:t>
            </a:r>
            <a:r>
              <a:rPr lang="es-ES" dirty="0"/>
              <a:t> </a:t>
            </a:r>
            <a:r>
              <a:rPr lang="es-ES" dirty="0" err="1"/>
              <a:t>Source</a:t>
            </a:r>
            <a:r>
              <a:rPr lang="es-ES" dirty="0"/>
              <a:t> </a:t>
            </a:r>
            <a:r>
              <a:rPr lang="es-ES" dirty="0" err="1"/>
              <a:t>Connector</a:t>
            </a:r>
            <a:endParaRPr lang="es-ES" dirty="0"/>
          </a:p>
        </p:txBody>
      </p:sp>
      <p:sp>
        <p:nvSpPr>
          <p:cNvPr id="6" name="Flecha: a la derecha 5">
            <a:extLst>
              <a:ext uri="{FF2B5EF4-FFF2-40B4-BE49-F238E27FC236}">
                <a16:creationId xmlns:a16="http://schemas.microsoft.com/office/drawing/2014/main" id="{4384EF12-CB0C-B353-14D2-E96113ADCFB3}"/>
              </a:ext>
            </a:extLst>
          </p:cNvPr>
          <p:cNvSpPr/>
          <p:nvPr/>
        </p:nvSpPr>
        <p:spPr>
          <a:xfrm>
            <a:off x="2337141" y="3060139"/>
            <a:ext cx="914400" cy="1469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7" name="Rectángulo: esquinas redondeadas 6">
            <a:extLst>
              <a:ext uri="{FF2B5EF4-FFF2-40B4-BE49-F238E27FC236}">
                <a16:creationId xmlns:a16="http://schemas.microsoft.com/office/drawing/2014/main" id="{780FDFBB-BA04-C7C9-2E4F-2B153FE0D985}"/>
              </a:ext>
            </a:extLst>
          </p:cNvPr>
          <p:cNvSpPr/>
          <p:nvPr/>
        </p:nvSpPr>
        <p:spPr>
          <a:xfrm>
            <a:off x="5478235" y="2481943"/>
            <a:ext cx="3020786" cy="3796393"/>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Rectángulo 7">
            <a:extLst>
              <a:ext uri="{FF2B5EF4-FFF2-40B4-BE49-F238E27FC236}">
                <a16:creationId xmlns:a16="http://schemas.microsoft.com/office/drawing/2014/main" id="{E730FDDA-209D-EB59-4624-98B1F2C3BE17}"/>
              </a:ext>
            </a:extLst>
          </p:cNvPr>
          <p:cNvSpPr/>
          <p:nvPr/>
        </p:nvSpPr>
        <p:spPr>
          <a:xfrm>
            <a:off x="6222775" y="2778472"/>
            <a:ext cx="1496786" cy="690669"/>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transacción</a:t>
            </a:r>
          </a:p>
        </p:txBody>
      </p:sp>
      <p:pic>
        <p:nvPicPr>
          <p:cNvPr id="9" name="Picture 2">
            <a:extLst>
              <a:ext uri="{FF2B5EF4-FFF2-40B4-BE49-F238E27FC236}">
                <a16:creationId xmlns:a16="http://schemas.microsoft.com/office/drawing/2014/main" id="{C3A40C7B-55B3-AA16-A00F-9FF4B8139F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50095" y="1644243"/>
            <a:ext cx="477065" cy="774782"/>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Conector recto de flecha 9">
            <a:extLst>
              <a:ext uri="{FF2B5EF4-FFF2-40B4-BE49-F238E27FC236}">
                <a16:creationId xmlns:a16="http://schemas.microsoft.com/office/drawing/2014/main" id="{99FE3604-C684-A162-8F3B-8EF0EB9CA1F1}"/>
              </a:ext>
            </a:extLst>
          </p:cNvPr>
          <p:cNvCxnSpPr>
            <a:stCxn id="5" idx="3"/>
            <a:endCxn id="8" idx="1"/>
          </p:cNvCxnSpPr>
          <p:nvPr/>
        </p:nvCxnSpPr>
        <p:spPr>
          <a:xfrm flipV="1">
            <a:off x="5046094" y="3123807"/>
            <a:ext cx="1176681" cy="9810"/>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1" name="Rectángulo: esquinas redondeadas 10">
            <a:extLst>
              <a:ext uri="{FF2B5EF4-FFF2-40B4-BE49-F238E27FC236}">
                <a16:creationId xmlns:a16="http://schemas.microsoft.com/office/drawing/2014/main" id="{9052841F-7B11-A407-8088-8B54F7F93CA2}"/>
              </a:ext>
            </a:extLst>
          </p:cNvPr>
          <p:cNvSpPr/>
          <p:nvPr/>
        </p:nvSpPr>
        <p:spPr>
          <a:xfrm>
            <a:off x="563335" y="3755499"/>
            <a:ext cx="1681843" cy="8674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Limite marcado por usuario en app</a:t>
            </a:r>
            <a:endParaRPr lang="es-ES" sz="1200" dirty="0"/>
          </a:p>
        </p:txBody>
      </p:sp>
      <p:sp>
        <p:nvSpPr>
          <p:cNvPr id="12" name="Rectángulo: esquinas redondeadas 11">
            <a:extLst>
              <a:ext uri="{FF2B5EF4-FFF2-40B4-BE49-F238E27FC236}">
                <a16:creationId xmlns:a16="http://schemas.microsoft.com/office/drawing/2014/main" id="{19AA4673-A4DD-6E86-C158-EC756EC6A683}"/>
              </a:ext>
            </a:extLst>
          </p:cNvPr>
          <p:cNvSpPr/>
          <p:nvPr/>
        </p:nvSpPr>
        <p:spPr>
          <a:xfrm>
            <a:off x="3364251" y="3752455"/>
            <a:ext cx="1681843" cy="8735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Servicio Limite App</a:t>
            </a:r>
            <a:br>
              <a:rPr lang="es-ES" dirty="0"/>
            </a:br>
            <a:r>
              <a:rPr lang="es-ES" dirty="0"/>
              <a:t>(Producer)</a:t>
            </a:r>
          </a:p>
        </p:txBody>
      </p:sp>
      <p:sp>
        <p:nvSpPr>
          <p:cNvPr id="15" name="Rectángulo 14">
            <a:extLst>
              <a:ext uri="{FF2B5EF4-FFF2-40B4-BE49-F238E27FC236}">
                <a16:creationId xmlns:a16="http://schemas.microsoft.com/office/drawing/2014/main" id="{E8BE52CF-86F4-2B84-1C4C-9A349CB4765F}"/>
              </a:ext>
            </a:extLst>
          </p:cNvPr>
          <p:cNvSpPr/>
          <p:nvPr/>
        </p:nvSpPr>
        <p:spPr>
          <a:xfrm>
            <a:off x="5971946" y="3820499"/>
            <a:ext cx="1973494" cy="690669"/>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err="1"/>
              <a:t>User_settings</a:t>
            </a:r>
            <a:endParaRPr lang="es-ES" dirty="0"/>
          </a:p>
        </p:txBody>
      </p:sp>
      <p:cxnSp>
        <p:nvCxnSpPr>
          <p:cNvPr id="16" name="Conector recto de flecha 15">
            <a:extLst>
              <a:ext uri="{FF2B5EF4-FFF2-40B4-BE49-F238E27FC236}">
                <a16:creationId xmlns:a16="http://schemas.microsoft.com/office/drawing/2014/main" id="{9FCD25CA-361D-B593-CE57-D71352982519}"/>
              </a:ext>
            </a:extLst>
          </p:cNvPr>
          <p:cNvCxnSpPr>
            <a:cxnSpLocks/>
            <a:endCxn id="20" idx="1"/>
          </p:cNvCxnSpPr>
          <p:nvPr/>
        </p:nvCxnSpPr>
        <p:spPr>
          <a:xfrm flipV="1">
            <a:off x="7754481" y="3113996"/>
            <a:ext cx="1285538" cy="9810"/>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0" name="Rectángulo: esquinas redondeadas 19">
            <a:extLst>
              <a:ext uri="{FF2B5EF4-FFF2-40B4-BE49-F238E27FC236}">
                <a16:creationId xmlns:a16="http://schemas.microsoft.com/office/drawing/2014/main" id="{22267D15-67E1-48AA-1C3F-9251EABB5BEC}"/>
              </a:ext>
            </a:extLst>
          </p:cNvPr>
          <p:cNvSpPr/>
          <p:nvPr/>
        </p:nvSpPr>
        <p:spPr>
          <a:xfrm>
            <a:off x="9040019" y="2677206"/>
            <a:ext cx="1681843" cy="8735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Detector tiempo real</a:t>
            </a:r>
          </a:p>
        </p:txBody>
      </p:sp>
      <p:sp>
        <p:nvSpPr>
          <p:cNvPr id="27" name="Flecha: a la derecha 26">
            <a:extLst>
              <a:ext uri="{FF2B5EF4-FFF2-40B4-BE49-F238E27FC236}">
                <a16:creationId xmlns:a16="http://schemas.microsoft.com/office/drawing/2014/main" id="{0D0E320B-0BD5-832D-0432-B6A991D3C741}"/>
              </a:ext>
            </a:extLst>
          </p:cNvPr>
          <p:cNvSpPr/>
          <p:nvPr/>
        </p:nvSpPr>
        <p:spPr>
          <a:xfrm>
            <a:off x="2337141" y="4115765"/>
            <a:ext cx="914400" cy="1469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cxnSp>
        <p:nvCxnSpPr>
          <p:cNvPr id="28" name="Conector recto de flecha 27">
            <a:extLst>
              <a:ext uri="{FF2B5EF4-FFF2-40B4-BE49-F238E27FC236}">
                <a16:creationId xmlns:a16="http://schemas.microsoft.com/office/drawing/2014/main" id="{72D144E6-F7F1-EBD0-B8E1-9AC9B89497E3}"/>
              </a:ext>
            </a:extLst>
          </p:cNvPr>
          <p:cNvCxnSpPr>
            <a:cxnSpLocks/>
            <a:endCxn id="15" idx="1"/>
          </p:cNvCxnSpPr>
          <p:nvPr/>
        </p:nvCxnSpPr>
        <p:spPr>
          <a:xfrm flipV="1">
            <a:off x="5119857" y="4165834"/>
            <a:ext cx="852089" cy="1356"/>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0" name="Rectángulo 29">
            <a:extLst>
              <a:ext uri="{FF2B5EF4-FFF2-40B4-BE49-F238E27FC236}">
                <a16:creationId xmlns:a16="http://schemas.microsoft.com/office/drawing/2014/main" id="{235516B6-98FA-160D-F38F-F3B6B41813AD}"/>
              </a:ext>
            </a:extLst>
          </p:cNvPr>
          <p:cNvSpPr/>
          <p:nvPr/>
        </p:nvSpPr>
        <p:spPr>
          <a:xfrm>
            <a:off x="6001880" y="5091214"/>
            <a:ext cx="1973494" cy="690669"/>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err="1"/>
              <a:t>User_alerts</a:t>
            </a:r>
            <a:endParaRPr lang="es-ES" dirty="0"/>
          </a:p>
        </p:txBody>
      </p:sp>
      <p:cxnSp>
        <p:nvCxnSpPr>
          <p:cNvPr id="32" name="Conector recto de flecha 31">
            <a:extLst>
              <a:ext uri="{FF2B5EF4-FFF2-40B4-BE49-F238E27FC236}">
                <a16:creationId xmlns:a16="http://schemas.microsoft.com/office/drawing/2014/main" id="{B59F792B-199A-C281-FD9F-9FBA17673E86}"/>
              </a:ext>
            </a:extLst>
          </p:cNvPr>
          <p:cNvCxnSpPr>
            <a:cxnSpLocks/>
            <a:stCxn id="15" idx="3"/>
            <a:endCxn id="20" idx="1"/>
          </p:cNvCxnSpPr>
          <p:nvPr/>
        </p:nvCxnSpPr>
        <p:spPr>
          <a:xfrm flipV="1">
            <a:off x="7945440" y="3113996"/>
            <a:ext cx="1094579" cy="1051838"/>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5" name="Conector recto de flecha 34">
            <a:extLst>
              <a:ext uri="{FF2B5EF4-FFF2-40B4-BE49-F238E27FC236}">
                <a16:creationId xmlns:a16="http://schemas.microsoft.com/office/drawing/2014/main" id="{C10FA257-F90F-4EA3-7DAC-C5E2C27BEEC9}"/>
              </a:ext>
            </a:extLst>
          </p:cNvPr>
          <p:cNvCxnSpPr>
            <a:cxnSpLocks/>
            <a:endCxn id="30" idx="3"/>
          </p:cNvCxnSpPr>
          <p:nvPr/>
        </p:nvCxnSpPr>
        <p:spPr>
          <a:xfrm flipH="1">
            <a:off x="7975374" y="5431921"/>
            <a:ext cx="1905566" cy="4628"/>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8" name="Conector recto de flecha 37">
            <a:extLst>
              <a:ext uri="{FF2B5EF4-FFF2-40B4-BE49-F238E27FC236}">
                <a16:creationId xmlns:a16="http://schemas.microsoft.com/office/drawing/2014/main" id="{D7C680D0-EB3C-9616-03AD-2542E2A3B5B8}"/>
              </a:ext>
            </a:extLst>
          </p:cNvPr>
          <p:cNvCxnSpPr>
            <a:cxnSpLocks/>
            <a:stCxn id="20" idx="2"/>
          </p:cNvCxnSpPr>
          <p:nvPr/>
        </p:nvCxnSpPr>
        <p:spPr>
          <a:xfrm>
            <a:off x="9880941" y="3550785"/>
            <a:ext cx="0" cy="1881136"/>
          </a:xfrm>
          <a:prstGeom prst="straightConnector1">
            <a:avLst/>
          </a:prstGeom>
          <a:ln w="28575">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2" name="Rectángulo: esquinas redondeadas 41">
            <a:extLst>
              <a:ext uri="{FF2B5EF4-FFF2-40B4-BE49-F238E27FC236}">
                <a16:creationId xmlns:a16="http://schemas.microsoft.com/office/drawing/2014/main" id="{1FF410F2-650F-FC0C-A5CF-75E2DCA901DF}"/>
              </a:ext>
            </a:extLst>
          </p:cNvPr>
          <p:cNvSpPr/>
          <p:nvPr/>
        </p:nvSpPr>
        <p:spPr>
          <a:xfrm>
            <a:off x="3364250" y="4995131"/>
            <a:ext cx="1681843" cy="8735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Servicio de notificación</a:t>
            </a:r>
          </a:p>
          <a:p>
            <a:pPr algn="ctr"/>
            <a:r>
              <a:rPr lang="es-ES" dirty="0"/>
              <a:t>(</a:t>
            </a:r>
            <a:r>
              <a:rPr lang="es-ES" dirty="0" err="1"/>
              <a:t>Consumer</a:t>
            </a:r>
            <a:r>
              <a:rPr lang="es-ES" dirty="0"/>
              <a:t>)</a:t>
            </a:r>
          </a:p>
        </p:txBody>
      </p:sp>
      <p:sp>
        <p:nvSpPr>
          <p:cNvPr id="43" name="Flecha: a la derecha 42">
            <a:extLst>
              <a:ext uri="{FF2B5EF4-FFF2-40B4-BE49-F238E27FC236}">
                <a16:creationId xmlns:a16="http://schemas.microsoft.com/office/drawing/2014/main" id="{0E6DE739-6CBF-F67D-C7EE-0CA8DA849B8A}"/>
              </a:ext>
            </a:extLst>
          </p:cNvPr>
          <p:cNvSpPr/>
          <p:nvPr/>
        </p:nvSpPr>
        <p:spPr>
          <a:xfrm rot="10800000">
            <a:off x="2337141" y="5358441"/>
            <a:ext cx="914400" cy="1469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44" name="Rectángulo: esquinas redondeadas 43">
            <a:extLst>
              <a:ext uri="{FF2B5EF4-FFF2-40B4-BE49-F238E27FC236}">
                <a16:creationId xmlns:a16="http://schemas.microsoft.com/office/drawing/2014/main" id="{2BEC29E7-C42C-3003-83C0-A932C5548F76}"/>
              </a:ext>
            </a:extLst>
          </p:cNvPr>
          <p:cNvSpPr/>
          <p:nvPr/>
        </p:nvSpPr>
        <p:spPr>
          <a:xfrm>
            <a:off x="526366" y="5071590"/>
            <a:ext cx="1681843" cy="7102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err="1"/>
              <a:t>Notifiación</a:t>
            </a:r>
            <a:r>
              <a:rPr lang="es-ES" dirty="0"/>
              <a:t> en la app</a:t>
            </a:r>
            <a:endParaRPr lang="es-ES" sz="1200" dirty="0"/>
          </a:p>
        </p:txBody>
      </p:sp>
      <p:cxnSp>
        <p:nvCxnSpPr>
          <p:cNvPr id="45" name="Conector recto de flecha 44">
            <a:extLst>
              <a:ext uri="{FF2B5EF4-FFF2-40B4-BE49-F238E27FC236}">
                <a16:creationId xmlns:a16="http://schemas.microsoft.com/office/drawing/2014/main" id="{97131125-7F89-FCCB-C5A0-E45A3C381C85}"/>
              </a:ext>
            </a:extLst>
          </p:cNvPr>
          <p:cNvCxnSpPr>
            <a:cxnSpLocks/>
            <a:stCxn id="30" idx="1"/>
            <a:endCxn id="42" idx="3"/>
          </p:cNvCxnSpPr>
          <p:nvPr/>
        </p:nvCxnSpPr>
        <p:spPr>
          <a:xfrm flipH="1" flipV="1">
            <a:off x="5046093" y="5431921"/>
            <a:ext cx="955787" cy="4628"/>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823906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67A5D-BD0F-22DD-4F5B-14C655D9C37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6A7B193-CD63-E0F8-F35E-BFE5266C4AC9}"/>
              </a:ext>
            </a:extLst>
          </p:cNvPr>
          <p:cNvSpPr>
            <a:spLocks noGrp="1"/>
          </p:cNvSpPr>
          <p:nvPr>
            <p:ph type="title"/>
          </p:nvPr>
        </p:nvSpPr>
        <p:spPr>
          <a:xfrm>
            <a:off x="1484311" y="685801"/>
            <a:ext cx="10018713" cy="908108"/>
          </a:xfrm>
        </p:spPr>
        <p:txBody>
          <a:bodyPr/>
          <a:lstStyle/>
          <a:p>
            <a:r>
              <a:rPr lang="es-ES" dirty="0"/>
              <a:t>Ingesta Big Data</a:t>
            </a:r>
          </a:p>
        </p:txBody>
      </p:sp>
      <p:sp>
        <p:nvSpPr>
          <p:cNvPr id="6" name="Rectángulo: esquinas redondeadas 5">
            <a:extLst>
              <a:ext uri="{FF2B5EF4-FFF2-40B4-BE49-F238E27FC236}">
                <a16:creationId xmlns:a16="http://schemas.microsoft.com/office/drawing/2014/main" id="{464F4E01-34F0-E9EA-A775-F25B9C154C14}"/>
              </a:ext>
            </a:extLst>
          </p:cNvPr>
          <p:cNvSpPr/>
          <p:nvPr/>
        </p:nvSpPr>
        <p:spPr>
          <a:xfrm>
            <a:off x="268447" y="1593906"/>
            <a:ext cx="3137483" cy="189591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u="sng" dirty="0"/>
              <a:t>Productores de datos:</a:t>
            </a:r>
          </a:p>
          <a:p>
            <a:pPr algn="ctr"/>
            <a:r>
              <a:rPr lang="es-ES" dirty="0"/>
              <a:t>Apps</a:t>
            </a:r>
          </a:p>
          <a:p>
            <a:pPr algn="ctr"/>
            <a:r>
              <a:rPr lang="es-ES" dirty="0"/>
              <a:t>Webs</a:t>
            </a:r>
          </a:p>
          <a:p>
            <a:pPr algn="ctr"/>
            <a:r>
              <a:rPr lang="es-ES" dirty="0"/>
              <a:t>Sistema financiero</a:t>
            </a:r>
          </a:p>
          <a:p>
            <a:pPr algn="ctr"/>
            <a:r>
              <a:rPr lang="es-ES" dirty="0"/>
              <a:t>Mail</a:t>
            </a:r>
          </a:p>
          <a:p>
            <a:pPr algn="ctr"/>
            <a:r>
              <a:rPr lang="es-ES" dirty="0"/>
              <a:t>BBDD</a:t>
            </a:r>
          </a:p>
        </p:txBody>
      </p:sp>
      <p:sp>
        <p:nvSpPr>
          <p:cNvPr id="7" name="Rectángulo: esquinas redondeadas 6">
            <a:extLst>
              <a:ext uri="{FF2B5EF4-FFF2-40B4-BE49-F238E27FC236}">
                <a16:creationId xmlns:a16="http://schemas.microsoft.com/office/drawing/2014/main" id="{487D5BF2-32C4-0985-87E9-AF0F04F07135}"/>
              </a:ext>
            </a:extLst>
          </p:cNvPr>
          <p:cNvSpPr/>
          <p:nvPr/>
        </p:nvSpPr>
        <p:spPr>
          <a:xfrm>
            <a:off x="4172126" y="2038524"/>
            <a:ext cx="1862356" cy="10066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Kafka</a:t>
            </a:r>
          </a:p>
        </p:txBody>
      </p:sp>
      <p:sp>
        <p:nvSpPr>
          <p:cNvPr id="8" name="Rectángulo: esquinas redondeadas 7">
            <a:extLst>
              <a:ext uri="{FF2B5EF4-FFF2-40B4-BE49-F238E27FC236}">
                <a16:creationId xmlns:a16="http://schemas.microsoft.com/office/drawing/2014/main" id="{46BC2F63-0509-F709-475C-829F3021CBCF}"/>
              </a:ext>
            </a:extLst>
          </p:cNvPr>
          <p:cNvSpPr/>
          <p:nvPr/>
        </p:nvSpPr>
        <p:spPr>
          <a:xfrm>
            <a:off x="6800678" y="2038524"/>
            <a:ext cx="1862356" cy="10066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err="1"/>
              <a:t>Spark</a:t>
            </a:r>
            <a:endParaRPr lang="es-ES" dirty="0"/>
          </a:p>
          <a:p>
            <a:pPr algn="ctr"/>
            <a:r>
              <a:rPr lang="es-ES" dirty="0" err="1"/>
              <a:t>Flink</a:t>
            </a:r>
            <a:endParaRPr lang="es-ES" dirty="0"/>
          </a:p>
          <a:p>
            <a:pPr algn="ctr"/>
            <a:r>
              <a:rPr lang="es-ES" dirty="0"/>
              <a:t>…</a:t>
            </a:r>
          </a:p>
        </p:txBody>
      </p:sp>
      <p:cxnSp>
        <p:nvCxnSpPr>
          <p:cNvPr id="9" name="Conector recto de flecha 8">
            <a:extLst>
              <a:ext uri="{FF2B5EF4-FFF2-40B4-BE49-F238E27FC236}">
                <a16:creationId xmlns:a16="http://schemas.microsoft.com/office/drawing/2014/main" id="{B86CFFF6-E788-3275-AC6D-38844444D4DE}"/>
              </a:ext>
            </a:extLst>
          </p:cNvPr>
          <p:cNvCxnSpPr>
            <a:cxnSpLocks/>
            <a:stCxn id="6" idx="3"/>
            <a:endCxn id="7" idx="1"/>
          </p:cNvCxnSpPr>
          <p:nvPr/>
        </p:nvCxnSpPr>
        <p:spPr>
          <a:xfrm>
            <a:off x="3405930" y="2541862"/>
            <a:ext cx="766196" cy="2"/>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785989EE-CA97-183B-A91C-66CCC32BAA73}"/>
              </a:ext>
            </a:extLst>
          </p:cNvPr>
          <p:cNvCxnSpPr>
            <a:cxnSpLocks/>
            <a:stCxn id="7" idx="3"/>
            <a:endCxn id="8" idx="1"/>
          </p:cNvCxnSpPr>
          <p:nvPr/>
        </p:nvCxnSpPr>
        <p:spPr>
          <a:xfrm>
            <a:off x="6034482" y="2541864"/>
            <a:ext cx="766196" cy="0"/>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 name="Conector recto 15">
            <a:extLst>
              <a:ext uri="{FF2B5EF4-FFF2-40B4-BE49-F238E27FC236}">
                <a16:creationId xmlns:a16="http://schemas.microsoft.com/office/drawing/2014/main" id="{E3C7185E-9A37-D13A-8751-6412282DC747}"/>
              </a:ext>
            </a:extLst>
          </p:cNvPr>
          <p:cNvCxnSpPr/>
          <p:nvPr/>
        </p:nvCxnSpPr>
        <p:spPr>
          <a:xfrm>
            <a:off x="209725" y="3892492"/>
            <a:ext cx="11293299" cy="0"/>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sp>
        <p:nvSpPr>
          <p:cNvPr id="17" name="Flecha: a la derecha 16">
            <a:extLst>
              <a:ext uri="{FF2B5EF4-FFF2-40B4-BE49-F238E27FC236}">
                <a16:creationId xmlns:a16="http://schemas.microsoft.com/office/drawing/2014/main" id="{8563CFF0-CE83-604E-E1E2-75B62E72C235}"/>
              </a:ext>
            </a:extLst>
          </p:cNvPr>
          <p:cNvSpPr/>
          <p:nvPr/>
        </p:nvSpPr>
        <p:spPr>
          <a:xfrm>
            <a:off x="8811345" y="2256638"/>
            <a:ext cx="738231" cy="5704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Rectángulo 17">
            <a:extLst>
              <a:ext uri="{FF2B5EF4-FFF2-40B4-BE49-F238E27FC236}">
                <a16:creationId xmlns:a16="http://schemas.microsoft.com/office/drawing/2014/main" id="{25789815-C25D-B685-893C-A9A5B06E2612}"/>
              </a:ext>
            </a:extLst>
          </p:cNvPr>
          <p:cNvSpPr/>
          <p:nvPr/>
        </p:nvSpPr>
        <p:spPr>
          <a:xfrm>
            <a:off x="9633359" y="1497436"/>
            <a:ext cx="1750502" cy="5704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Analítica tiempo real</a:t>
            </a:r>
          </a:p>
        </p:txBody>
      </p:sp>
      <p:sp>
        <p:nvSpPr>
          <p:cNvPr id="23" name="Rectángulo 22">
            <a:extLst>
              <a:ext uri="{FF2B5EF4-FFF2-40B4-BE49-F238E27FC236}">
                <a16:creationId xmlns:a16="http://schemas.microsoft.com/office/drawing/2014/main" id="{9F666684-757F-1828-BA8E-45F7D8BFCD49}"/>
              </a:ext>
            </a:extLst>
          </p:cNvPr>
          <p:cNvSpPr/>
          <p:nvPr/>
        </p:nvSpPr>
        <p:spPr>
          <a:xfrm>
            <a:off x="9633359" y="2220987"/>
            <a:ext cx="1750502" cy="5704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err="1"/>
              <a:t>Dashboard</a:t>
            </a:r>
            <a:r>
              <a:rPr lang="es-ES" dirty="0"/>
              <a:t>/</a:t>
            </a:r>
          </a:p>
          <a:p>
            <a:pPr algn="ctr"/>
            <a:r>
              <a:rPr lang="es-ES" dirty="0" err="1"/>
              <a:t>Alerts</a:t>
            </a:r>
            <a:endParaRPr lang="es-ES" dirty="0"/>
          </a:p>
        </p:txBody>
      </p:sp>
      <p:sp>
        <p:nvSpPr>
          <p:cNvPr id="24" name="Rectángulo 23">
            <a:extLst>
              <a:ext uri="{FF2B5EF4-FFF2-40B4-BE49-F238E27FC236}">
                <a16:creationId xmlns:a16="http://schemas.microsoft.com/office/drawing/2014/main" id="{347BCBC6-127A-3B5C-12F9-18B0759EFF47}"/>
              </a:ext>
            </a:extLst>
          </p:cNvPr>
          <p:cNvSpPr/>
          <p:nvPr/>
        </p:nvSpPr>
        <p:spPr>
          <a:xfrm>
            <a:off x="9633359" y="2965508"/>
            <a:ext cx="1750502" cy="5704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Apps/</a:t>
            </a:r>
          </a:p>
          <a:p>
            <a:pPr algn="ctr"/>
            <a:r>
              <a:rPr lang="es-ES" dirty="0" err="1"/>
              <a:t>Consumers</a:t>
            </a:r>
            <a:endParaRPr lang="es-ES" dirty="0"/>
          </a:p>
        </p:txBody>
      </p:sp>
      <p:sp>
        <p:nvSpPr>
          <p:cNvPr id="25" name="CuadroTexto 24">
            <a:extLst>
              <a:ext uri="{FF2B5EF4-FFF2-40B4-BE49-F238E27FC236}">
                <a16:creationId xmlns:a16="http://schemas.microsoft.com/office/drawing/2014/main" id="{6065C276-C397-96E2-8259-D779D66C9FA4}"/>
              </a:ext>
            </a:extLst>
          </p:cNvPr>
          <p:cNvSpPr txBox="1"/>
          <p:nvPr/>
        </p:nvSpPr>
        <p:spPr>
          <a:xfrm rot="5400000">
            <a:off x="10931225" y="2321546"/>
            <a:ext cx="1609736" cy="369332"/>
          </a:xfrm>
          <a:prstGeom prst="rect">
            <a:avLst/>
          </a:prstGeom>
          <a:noFill/>
        </p:spPr>
        <p:txBody>
          <a:bodyPr wrap="none" rtlCol="0">
            <a:spAutoFit/>
          </a:bodyPr>
          <a:lstStyle/>
          <a:p>
            <a:r>
              <a:rPr lang="es-ES" b="1" dirty="0"/>
              <a:t>TIEMPO REAL</a:t>
            </a:r>
          </a:p>
        </p:txBody>
      </p:sp>
      <p:cxnSp>
        <p:nvCxnSpPr>
          <p:cNvPr id="26" name="Conector recto de flecha 25">
            <a:extLst>
              <a:ext uri="{FF2B5EF4-FFF2-40B4-BE49-F238E27FC236}">
                <a16:creationId xmlns:a16="http://schemas.microsoft.com/office/drawing/2014/main" id="{EB1BB9DD-41DB-CB80-7C10-8CD4E5A190A5}"/>
              </a:ext>
            </a:extLst>
          </p:cNvPr>
          <p:cNvCxnSpPr>
            <a:cxnSpLocks/>
            <a:stCxn id="7" idx="2"/>
          </p:cNvCxnSpPr>
          <p:nvPr/>
        </p:nvCxnSpPr>
        <p:spPr>
          <a:xfrm>
            <a:off x="5103304" y="3045203"/>
            <a:ext cx="4301" cy="1881136"/>
          </a:xfrm>
          <a:prstGeom prst="straightConnector1">
            <a:avLst/>
          </a:prstGeom>
          <a:ln w="28575">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Conector recto de flecha 27">
            <a:extLst>
              <a:ext uri="{FF2B5EF4-FFF2-40B4-BE49-F238E27FC236}">
                <a16:creationId xmlns:a16="http://schemas.microsoft.com/office/drawing/2014/main" id="{0DD1216A-4FDA-C910-A9D2-C9B790993F59}"/>
              </a:ext>
            </a:extLst>
          </p:cNvPr>
          <p:cNvCxnSpPr>
            <a:cxnSpLocks/>
          </p:cNvCxnSpPr>
          <p:nvPr/>
        </p:nvCxnSpPr>
        <p:spPr>
          <a:xfrm>
            <a:off x="5132042" y="4926339"/>
            <a:ext cx="614417" cy="0"/>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0" name="Rectángulo: esquinas redondeadas 29">
            <a:extLst>
              <a:ext uri="{FF2B5EF4-FFF2-40B4-BE49-F238E27FC236}">
                <a16:creationId xmlns:a16="http://schemas.microsoft.com/office/drawing/2014/main" id="{1F82FFB0-453F-47C1-AB1D-D3E888E7636F}"/>
              </a:ext>
            </a:extLst>
          </p:cNvPr>
          <p:cNvSpPr/>
          <p:nvPr/>
        </p:nvSpPr>
        <p:spPr>
          <a:xfrm>
            <a:off x="5770896" y="4366471"/>
            <a:ext cx="1862356" cy="10066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S3, ELS, RDBMS</a:t>
            </a:r>
          </a:p>
        </p:txBody>
      </p:sp>
      <p:sp>
        <p:nvSpPr>
          <p:cNvPr id="31" name="Flecha: a la derecha 30">
            <a:extLst>
              <a:ext uri="{FF2B5EF4-FFF2-40B4-BE49-F238E27FC236}">
                <a16:creationId xmlns:a16="http://schemas.microsoft.com/office/drawing/2014/main" id="{2E6F1A2A-E5E2-7879-DE85-C97C0BBA8C8F}"/>
              </a:ext>
            </a:extLst>
          </p:cNvPr>
          <p:cNvSpPr/>
          <p:nvPr/>
        </p:nvSpPr>
        <p:spPr>
          <a:xfrm>
            <a:off x="7806064" y="4584584"/>
            <a:ext cx="738231" cy="5704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6" name="Rectángulo 35">
            <a:extLst>
              <a:ext uri="{FF2B5EF4-FFF2-40B4-BE49-F238E27FC236}">
                <a16:creationId xmlns:a16="http://schemas.microsoft.com/office/drawing/2014/main" id="{168E78A8-70F0-D524-649E-847814941D83}"/>
              </a:ext>
            </a:extLst>
          </p:cNvPr>
          <p:cNvSpPr/>
          <p:nvPr/>
        </p:nvSpPr>
        <p:spPr>
          <a:xfrm>
            <a:off x="8663034" y="4016231"/>
            <a:ext cx="1940650" cy="5704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a:t>Data </a:t>
            </a:r>
            <a:r>
              <a:rPr lang="es-ES" dirty="0" err="1"/>
              <a:t>Science</a:t>
            </a:r>
            <a:endParaRPr lang="es-ES" dirty="0"/>
          </a:p>
        </p:txBody>
      </p:sp>
      <p:sp>
        <p:nvSpPr>
          <p:cNvPr id="37" name="Rectángulo 36">
            <a:extLst>
              <a:ext uri="{FF2B5EF4-FFF2-40B4-BE49-F238E27FC236}">
                <a16:creationId xmlns:a16="http://schemas.microsoft.com/office/drawing/2014/main" id="{90E3B29A-FEF4-B550-5DAF-2F95131DC429}"/>
              </a:ext>
            </a:extLst>
          </p:cNvPr>
          <p:cNvSpPr/>
          <p:nvPr/>
        </p:nvSpPr>
        <p:spPr>
          <a:xfrm>
            <a:off x="8663034" y="4739782"/>
            <a:ext cx="1940650" cy="5704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err="1"/>
              <a:t>Reports</a:t>
            </a:r>
            <a:endParaRPr lang="es-ES" dirty="0"/>
          </a:p>
        </p:txBody>
      </p:sp>
      <p:sp>
        <p:nvSpPr>
          <p:cNvPr id="38" name="Rectángulo 37">
            <a:extLst>
              <a:ext uri="{FF2B5EF4-FFF2-40B4-BE49-F238E27FC236}">
                <a16:creationId xmlns:a16="http://schemas.microsoft.com/office/drawing/2014/main" id="{322EED1B-9389-86A1-0E6C-75BBCDA5D4B1}"/>
              </a:ext>
            </a:extLst>
          </p:cNvPr>
          <p:cNvSpPr/>
          <p:nvPr/>
        </p:nvSpPr>
        <p:spPr>
          <a:xfrm>
            <a:off x="8663034" y="5484303"/>
            <a:ext cx="1940650" cy="6878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dirty="0" err="1"/>
              <a:t>Backup</a:t>
            </a:r>
            <a:r>
              <a:rPr lang="es-ES" dirty="0"/>
              <a:t>/ Almacenamiento</a:t>
            </a:r>
          </a:p>
        </p:txBody>
      </p:sp>
      <p:sp>
        <p:nvSpPr>
          <p:cNvPr id="39" name="CuadroTexto 38">
            <a:extLst>
              <a:ext uri="{FF2B5EF4-FFF2-40B4-BE49-F238E27FC236}">
                <a16:creationId xmlns:a16="http://schemas.microsoft.com/office/drawing/2014/main" id="{7F0C559D-E997-DDC3-AA77-A657C86C78C2}"/>
              </a:ext>
            </a:extLst>
          </p:cNvPr>
          <p:cNvSpPr txBox="1"/>
          <p:nvPr/>
        </p:nvSpPr>
        <p:spPr>
          <a:xfrm rot="5400000">
            <a:off x="10415240" y="4840341"/>
            <a:ext cx="891206" cy="369332"/>
          </a:xfrm>
          <a:prstGeom prst="rect">
            <a:avLst/>
          </a:prstGeom>
          <a:noFill/>
        </p:spPr>
        <p:txBody>
          <a:bodyPr wrap="none" rtlCol="0">
            <a:spAutoFit/>
          </a:bodyPr>
          <a:lstStyle/>
          <a:p>
            <a:r>
              <a:rPr lang="es-ES" b="1" dirty="0"/>
              <a:t>BATCH</a:t>
            </a:r>
          </a:p>
        </p:txBody>
      </p:sp>
    </p:spTree>
    <p:extLst>
      <p:ext uri="{BB962C8B-B14F-4D97-AF65-F5344CB8AC3E}">
        <p14:creationId xmlns:p14="http://schemas.microsoft.com/office/powerpoint/2010/main" val="5042866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00F0D1-B219-7DC1-6FE3-23C702B61D0F}"/>
              </a:ext>
            </a:extLst>
          </p:cNvPr>
          <p:cNvSpPr>
            <a:spLocks noGrp="1"/>
          </p:cNvSpPr>
          <p:nvPr>
            <p:ph type="title"/>
          </p:nvPr>
        </p:nvSpPr>
        <p:spPr/>
        <p:txBody>
          <a:bodyPr/>
          <a:lstStyle/>
          <a:p>
            <a:r>
              <a:rPr lang="es-ES" dirty="0"/>
              <a:t>Logs y métricas</a:t>
            </a:r>
          </a:p>
        </p:txBody>
      </p:sp>
      <p:sp>
        <p:nvSpPr>
          <p:cNvPr id="3" name="Marcador de contenido 2">
            <a:extLst>
              <a:ext uri="{FF2B5EF4-FFF2-40B4-BE49-F238E27FC236}">
                <a16:creationId xmlns:a16="http://schemas.microsoft.com/office/drawing/2014/main" id="{64495429-458A-BBEE-B8E5-B7537C3DE4C5}"/>
              </a:ext>
            </a:extLst>
          </p:cNvPr>
          <p:cNvSpPr>
            <a:spLocks noGrp="1"/>
          </p:cNvSpPr>
          <p:nvPr>
            <p:ph idx="1"/>
          </p:nvPr>
        </p:nvSpPr>
        <p:spPr/>
        <p:txBody>
          <a:bodyPr anchor="t"/>
          <a:lstStyle/>
          <a:p>
            <a:r>
              <a:rPr lang="es-ES" dirty="0"/>
              <a:t>Recoger logs y métricas de todas las aplicaciones y mandarlas a donde necesitemos.</a:t>
            </a:r>
          </a:p>
        </p:txBody>
      </p:sp>
    </p:spTree>
    <p:extLst>
      <p:ext uri="{BB962C8B-B14F-4D97-AF65-F5344CB8AC3E}">
        <p14:creationId xmlns:p14="http://schemas.microsoft.com/office/powerpoint/2010/main" val="237365973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aje">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Office_36807067_TF22644756.potx" id="{192FCEF1-D9A3-4BB2-BD09-E9A68CCAFCE8}" vid="{F827E824-24FD-40D1-B0D3-D24C023BD8E7}"/>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7023227-530E-4024-91EF-312A851A758C}">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627C19A7-3107-4CB2-BD0D-F7C79BE028C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3315AA3-EAE3-44ED-8368-BAC2FFFB481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Diseño Paralaje</Template>
  <TotalTime>17200</TotalTime>
  <Words>3769</Words>
  <Application>Microsoft Office PowerPoint</Application>
  <PresentationFormat>Panorámica</PresentationFormat>
  <Paragraphs>548</Paragraphs>
  <Slides>67</Slides>
  <Notes>8</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67</vt:i4>
      </vt:variant>
    </vt:vector>
  </HeadingPairs>
  <TitlesOfParts>
    <vt:vector size="74" baseType="lpstr">
      <vt:lpstr>Aptos</vt:lpstr>
      <vt:lpstr>Arial</vt:lpstr>
      <vt:lpstr>Calibri</vt:lpstr>
      <vt:lpstr>Consolas</vt:lpstr>
      <vt:lpstr>Corbel</vt:lpstr>
      <vt:lpstr>Wingdings</vt:lpstr>
      <vt:lpstr>Paralaje</vt:lpstr>
      <vt:lpstr>KAFKA</vt:lpstr>
      <vt:lpstr>Kafka – Conceptos básicos</vt:lpstr>
      <vt:lpstr>¿Qué es Apache Kafka?</vt:lpstr>
      <vt:lpstr>Características Principales</vt:lpstr>
      <vt:lpstr>Conceptos Fundamentales</vt:lpstr>
      <vt:lpstr>Arquitectura Kafka</vt:lpstr>
      <vt:lpstr>Arquitectura Kafka</vt:lpstr>
      <vt:lpstr>Casos de Uso Principales</vt:lpstr>
      <vt:lpstr>KRaft vs ZooKeeper</vt:lpstr>
      <vt:lpstr>Ecosistema Kafka</vt:lpstr>
      <vt:lpstr>Ventajas vs Sistemas Tradicionales</vt:lpstr>
      <vt:lpstr>Empresas que usan Kafka</vt:lpstr>
      <vt:lpstr>Conclusiones</vt:lpstr>
      <vt:lpstr>Kafka – Instalación</vt:lpstr>
      <vt:lpstr>Instalación Java</vt:lpstr>
      <vt:lpstr>Instalación Kafka</vt:lpstr>
      <vt:lpstr>Puesta en marcha kafka</vt:lpstr>
      <vt:lpstr>Puesta en marcha kafka</vt:lpstr>
      <vt:lpstr>Kafka CLI</vt:lpstr>
      <vt:lpstr>Kafka CLI</vt:lpstr>
      <vt:lpstr>Kafka topics CLI</vt:lpstr>
      <vt:lpstr>Kafka topics CLI</vt:lpstr>
      <vt:lpstr>Guía de nombrar topic</vt:lpstr>
      <vt:lpstr>Topics</vt:lpstr>
      <vt:lpstr>Topics</vt:lpstr>
      <vt:lpstr>Kafka console producer CLI</vt:lpstr>
      <vt:lpstr>Kafka console producer CLI</vt:lpstr>
      <vt:lpstr>Kafka console producer CLI</vt:lpstr>
      <vt:lpstr>Kafka console consumer CLI</vt:lpstr>
      <vt:lpstr>Kafka console consumer CLI</vt:lpstr>
      <vt:lpstr>Producer y consumer básicos</vt:lpstr>
      <vt:lpstr>Producer y consumer básicos</vt:lpstr>
      <vt:lpstr>Pruebas</vt:lpstr>
      <vt:lpstr>Kafka console consumer CLI</vt:lpstr>
      <vt:lpstr>Kafka console consumer CLI</vt:lpstr>
      <vt:lpstr>Kafka consumer groups CLI</vt:lpstr>
      <vt:lpstr>Kafka consumer groups CLI</vt:lpstr>
      <vt:lpstr>Consumer groups en python</vt:lpstr>
      <vt:lpstr>Kafka consumer groups CLI – Reset offsets</vt:lpstr>
      <vt:lpstr>Kafka consumer groups CLI – Reset offsets</vt:lpstr>
      <vt:lpstr>Eligiendo número de particiones y factor de replicación</vt:lpstr>
      <vt:lpstr>Nº de particiones</vt:lpstr>
      <vt:lpstr>Factor de replicación</vt:lpstr>
      <vt:lpstr>Programación python Kafka</vt:lpstr>
      <vt:lpstr>Creación de un flujo para MIR250</vt:lpstr>
      <vt:lpstr>Pasos</vt:lpstr>
      <vt:lpstr>Configuración del producer Wikimedia producer</vt:lpstr>
      <vt:lpstr>Configuración del producer Wikimedia producer</vt:lpstr>
      <vt:lpstr>Configuración del producer Wikimedia producer</vt:lpstr>
      <vt:lpstr>Configuración del producer Idempotencia </vt:lpstr>
      <vt:lpstr>Configuración del consumer Delivery semantics</vt:lpstr>
      <vt:lpstr>Kafka Connectors</vt:lpstr>
      <vt:lpstr>Kafka Connectors Definición</vt:lpstr>
      <vt:lpstr>Kafka Connectors Ejemplo gráfico</vt:lpstr>
      <vt:lpstr>Kafka Connectors Ventajas</vt:lpstr>
      <vt:lpstr>Source connectors vs Sink connectors</vt:lpstr>
      <vt:lpstr>Estudio de casos</vt:lpstr>
      <vt:lpstr>Netflix</vt:lpstr>
      <vt:lpstr>Arquitectura - Netflix</vt:lpstr>
      <vt:lpstr>Arquitectura - Netflix</vt:lpstr>
      <vt:lpstr>Uber</vt:lpstr>
      <vt:lpstr>Arquitectura - Uber</vt:lpstr>
      <vt:lpstr>Arquitectura - Uber</vt:lpstr>
      <vt:lpstr>Banco</vt:lpstr>
      <vt:lpstr>Arquitectura - Banco</vt:lpstr>
      <vt:lpstr>Ingesta Big Data</vt:lpstr>
      <vt:lpstr>Logs y métricas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Jon Ander Maiz Barba</dc:creator>
  <cp:lastModifiedBy>Jon Ander Maiz Barba</cp:lastModifiedBy>
  <cp:revision>55</cp:revision>
  <dcterms:created xsi:type="dcterms:W3CDTF">2025-02-12T08:29:06Z</dcterms:created>
  <dcterms:modified xsi:type="dcterms:W3CDTF">2026-01-18T12:16:04Z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