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93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BE791-43CC-4C0C-AE00-7EC3768CCC09}" type="datetime1">
              <a:rPr lang="es-ES" smtClean="0"/>
              <a:t>12/12/2025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61881-24D7-49CE-A58A-4F7EEFB66F8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5863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AE10B-F5DF-46F3-A009-1BCB9594275B}" type="datetime1">
              <a:rPr lang="es-ES" smtClean="0"/>
              <a:t>12/12/2025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6BA0F-C779-4027-9BBF-AC1F3E00E7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2730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6BA0F-C779-4027-9BBF-AC1F3E00E754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22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D2D75874-01AA-4194-8F8F-2BE8DD6AB75A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C1A4FC-81E4-453A-B1E7-80A9FABF40AE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598393B2-CE85-4556-84B1-B4187936402E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61E05F-71FC-418A-888C-20D7252833AC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C39358-08BC-41D4-8E0F-3910C47B3BD4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62A21C-C4BF-4A0F-AC3C-865C4EDD59BB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583B17-3A89-408C-8DF4-CC40CE6DA771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137A1F84-97CB-4522-B1DF-7C9144B0ABC9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s-ES" noProof="0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9B5BD9D-CA38-4324-9825-66E2E6C3B038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899F3E-BBD3-414B-B748-30A0B0EC9B88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33E7C5-ECA6-4447-9054-65F5EA12AE9D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7D314E9-F220-4689-A698-7EF487A82C30}" type="datetime1">
              <a:rPr lang="es-ES" noProof="0" smtClean="0"/>
              <a:t>12/12/2025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ángulo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 fontScale="90000"/>
          </a:bodyPr>
          <a:lstStyle/>
          <a:p>
            <a:r>
              <a:rPr lang="es-ES" sz="4400" dirty="0">
                <a:solidFill>
                  <a:schemeClr val="tx1"/>
                </a:solidFill>
              </a:rPr>
              <a:t>MIR250</a:t>
            </a:r>
            <a:br>
              <a:rPr lang="es-ES" sz="4400" dirty="0">
                <a:solidFill>
                  <a:schemeClr val="tx1"/>
                </a:solidFill>
              </a:rPr>
            </a:br>
            <a:r>
              <a:rPr lang="es-ES" sz="4400" dirty="0">
                <a:solidFill>
                  <a:schemeClr val="tx1"/>
                </a:solidFill>
              </a:rPr>
              <a:t>API </a:t>
            </a:r>
            <a:r>
              <a:rPr lang="es-ES" sz="4400" dirty="0" err="1">
                <a:solidFill>
                  <a:schemeClr val="tx1"/>
                </a:solidFill>
              </a:rPr>
              <a:t>Rest</a:t>
            </a:r>
            <a:r>
              <a:rPr lang="es-ES" sz="4400" dirty="0">
                <a:solidFill>
                  <a:schemeClr val="tx1"/>
                </a:solidFill>
              </a:rPr>
              <a:t> + Conexión </a:t>
            </a:r>
            <a:r>
              <a:rPr lang="es-ES" sz="4400" dirty="0" err="1">
                <a:solidFill>
                  <a:schemeClr val="tx1"/>
                </a:solidFill>
              </a:rPr>
              <a:t>node</a:t>
            </a:r>
            <a:r>
              <a:rPr lang="es-ES" sz="4400" dirty="0">
                <a:solidFill>
                  <a:schemeClr val="tx1"/>
                </a:solidFill>
              </a:rPr>
              <a:t>-red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4293270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dirty="0">
                <a:solidFill>
                  <a:schemeClr val="tx1"/>
                </a:solidFill>
              </a:rPr>
              <a:t>Jon Ander Maiz – CF Somorrostro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09CC0-A354-9F13-8F70-D2222B33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acceder a REST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7206A1-8840-6CA3-BC2F-10FCD0C0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959600" cy="3849624"/>
          </a:xfrm>
        </p:spPr>
        <p:txBody>
          <a:bodyPr/>
          <a:lstStyle/>
          <a:p>
            <a:r>
              <a:rPr lang="es-ES" dirty="0"/>
              <a:t>Para poder acceder, en el menú de la izquierda “?” </a:t>
            </a:r>
            <a:r>
              <a:rPr lang="es-ES" dirty="0">
                <a:sym typeface="Wingdings" panose="05000000000000000000" pitchFamily="2" charset="2"/>
              </a:rPr>
              <a:t> API </a:t>
            </a:r>
            <a:r>
              <a:rPr lang="es-ES" dirty="0" err="1">
                <a:sym typeface="Wingdings" panose="05000000000000000000" pitchFamily="2" charset="2"/>
              </a:rPr>
              <a:t>Documentation</a:t>
            </a:r>
            <a:r>
              <a:rPr lang="es-ES" dirty="0">
                <a:sym typeface="Wingdings" panose="05000000000000000000" pitchFamily="2" charset="2"/>
              </a:rPr>
              <a:t>.</a:t>
            </a:r>
          </a:p>
          <a:p>
            <a:r>
              <a:rPr lang="es-ES" dirty="0">
                <a:sym typeface="Wingdings" panose="05000000000000000000" pitchFamily="2" charset="2"/>
              </a:rPr>
              <a:t>En la página que nos muestra, ponemos usuario y contraseña.</a:t>
            </a:r>
          </a:p>
          <a:p>
            <a:r>
              <a:rPr lang="es-ES" dirty="0">
                <a:sym typeface="Wingdings" panose="05000000000000000000" pitchFamily="2" charset="2"/>
              </a:rPr>
              <a:t>Esto crea un “token” de autorización, que será el que utilicemos para hacerle las peticiones desde otro sitio.</a:t>
            </a:r>
          </a:p>
          <a:p>
            <a:r>
              <a:rPr lang="es-ES" dirty="0">
                <a:sym typeface="Wingdings" panose="05000000000000000000" pitchFamily="2" charset="2"/>
              </a:rPr>
              <a:t>Accedemos pulsando en Open </a:t>
            </a:r>
            <a:r>
              <a:rPr lang="es-ES" dirty="0" err="1">
                <a:sym typeface="Wingdings" panose="05000000000000000000" pitchFamily="2" charset="2"/>
              </a:rPr>
              <a:t>Documentation</a:t>
            </a:r>
            <a:r>
              <a:rPr lang="es-ES" dirty="0">
                <a:sym typeface="Wingdings" panose="05000000000000000000" pitchFamily="2" charset="2"/>
              </a:rPr>
              <a:t>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5BE2BA-6EA2-B0A5-A26F-FE723141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04" y="963547"/>
            <a:ext cx="3003553" cy="306438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F377097-107C-667A-D48B-C42DF950C41A}"/>
              </a:ext>
            </a:extLst>
          </p:cNvPr>
          <p:cNvSpPr/>
          <p:nvPr/>
        </p:nvSpPr>
        <p:spPr>
          <a:xfrm>
            <a:off x="8270240" y="3241040"/>
            <a:ext cx="518160" cy="497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3409B7-C048-0A31-02D1-3C408FF4A4EF}"/>
              </a:ext>
            </a:extLst>
          </p:cNvPr>
          <p:cNvSpPr/>
          <p:nvPr/>
        </p:nvSpPr>
        <p:spPr>
          <a:xfrm>
            <a:off x="9015306" y="1552350"/>
            <a:ext cx="2109893" cy="497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6D41B0A-53CD-3EDE-2B5B-9369B82EB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493" y="4434322"/>
            <a:ext cx="3610479" cy="1190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D0B5E9C-8891-6111-7967-9CB415AC9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147" y="3875897"/>
            <a:ext cx="1736937" cy="248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4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82582-89E3-A53B-201E-E1066B04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REST API?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75E621-1714-3E7A-12ED-5658F24E8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una </a:t>
            </a:r>
            <a:r>
              <a:rPr lang="es-ES" b="1" dirty="0"/>
              <a:t>arquitectura de software</a:t>
            </a:r>
            <a:r>
              <a:rPr lang="es-ES" dirty="0"/>
              <a:t> que define un conjunto de reglas (convenciones) para crear servicios web. Permite que diferentes sistemas (como una aplicación en </a:t>
            </a:r>
            <a:r>
              <a:rPr lang="es-ES" dirty="0" err="1"/>
              <a:t>Node</a:t>
            </a:r>
            <a:r>
              <a:rPr lang="es-ES" dirty="0"/>
              <a:t>-RED y el MIR 250) se comuniquen entre sí de manera </a:t>
            </a:r>
            <a:r>
              <a:rPr lang="es-ES" b="1" dirty="0"/>
              <a:t>estandarizada, simple y sin estado</a:t>
            </a:r>
            <a:r>
              <a:rPr lang="es-ES" dirty="0"/>
              <a:t> usando el protocolo HTTP/HTTPS, el mismo que usa tu navegador web.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013DB5-E9FE-F52F-5C5A-03A7F696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36" y="3429000"/>
            <a:ext cx="4472484" cy="23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9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B62BF-E6DB-417F-F99E-E59819FE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que nos entendamos…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E4BC-28B6-2363-B1F1-1C7A1E22E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Vamos a ver la siguiente analogía</a:t>
            </a:r>
          </a:p>
          <a:p>
            <a:pPr marL="0" indent="0">
              <a:buNone/>
            </a:pPr>
            <a:r>
              <a:rPr lang="es-ES" b="1" dirty="0"/>
              <a:t>Un restaurante (API)</a:t>
            </a:r>
            <a:endParaRPr lang="es-ES" dirty="0"/>
          </a:p>
          <a:p>
            <a:r>
              <a:rPr lang="es-ES" b="1" dirty="0"/>
              <a:t>Tú (Cliente - </a:t>
            </a:r>
            <a:r>
              <a:rPr lang="es-ES" b="1" dirty="0" err="1"/>
              <a:t>Node</a:t>
            </a:r>
            <a:r>
              <a:rPr lang="es-ES" b="1" dirty="0"/>
              <a:t>-RED):</a:t>
            </a:r>
            <a:r>
              <a:rPr lang="es-ES" dirty="0"/>
              <a:t> Eres el cliente que quiere un servicio.</a:t>
            </a:r>
          </a:p>
          <a:p>
            <a:r>
              <a:rPr lang="es-ES" b="1" dirty="0"/>
              <a:t>La carta (</a:t>
            </a:r>
            <a:r>
              <a:rPr lang="es-ES" b="1" dirty="0" err="1"/>
              <a:t>Endpoints</a:t>
            </a:r>
            <a:r>
              <a:rPr lang="es-ES" b="1" dirty="0"/>
              <a:t>):</a:t>
            </a:r>
            <a:r>
              <a:rPr lang="es-ES" dirty="0"/>
              <a:t> Es la lista de platos (operaciones) que puedes pedir.</a:t>
            </a:r>
          </a:p>
          <a:p>
            <a:r>
              <a:rPr lang="es-ES" b="1" dirty="0"/>
              <a:t>El camarero (API REST):</a:t>
            </a:r>
            <a:r>
              <a:rPr lang="es-ES" dirty="0"/>
              <a:t> Es el intermediario que toma tu pedido (solicitud) y lo lleva a la cocina.</a:t>
            </a:r>
          </a:p>
          <a:p>
            <a:r>
              <a:rPr lang="es-ES" b="1" dirty="0"/>
              <a:t>La cocina (Servidor - MIR 250):</a:t>
            </a:r>
            <a:r>
              <a:rPr lang="es-ES" dirty="0"/>
              <a:t> Es donde se prepara lo que pediste.</a:t>
            </a:r>
          </a:p>
          <a:p>
            <a:r>
              <a:rPr lang="es-ES" b="1" dirty="0"/>
              <a:t>El plato que te sirven (Respuesta):</a:t>
            </a:r>
            <a:r>
              <a:rPr lang="es-ES" dirty="0"/>
              <a:t> Son los datos (en formato JSON o XML) que recibes.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758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9D83B-DA2D-626E-1D99-644B843A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Operaciones basadas en métodos HTTP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4F110-97F2-EFD7-F93F-628C763B5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Cada solicitud indica la acción que quiere realizar usando verbos estándar.</a:t>
            </a:r>
          </a:p>
          <a:p>
            <a:r>
              <a:rPr lang="es-ES" b="1" dirty="0"/>
              <a:t>GET:</a:t>
            </a:r>
            <a:r>
              <a:rPr lang="es-ES" dirty="0"/>
              <a:t> Obtener o leer datos (ej.: pedir el estado actual del robot).</a:t>
            </a:r>
          </a:p>
          <a:p>
            <a:r>
              <a:rPr lang="es-ES" b="1" dirty="0"/>
              <a:t>POST:</a:t>
            </a:r>
            <a:r>
              <a:rPr lang="es-ES" dirty="0"/>
              <a:t> Crear un nuevo recurso (ej.: iniciar una nueva misión).</a:t>
            </a:r>
          </a:p>
          <a:p>
            <a:r>
              <a:rPr lang="es-ES" b="1" dirty="0"/>
              <a:t>PUT:</a:t>
            </a:r>
            <a:r>
              <a:rPr lang="es-ES" dirty="0"/>
              <a:t> Actualizar un recurso existente (ej.: modificar un PLC </a:t>
            </a:r>
            <a:r>
              <a:rPr lang="es-ES" dirty="0" err="1"/>
              <a:t>Register</a:t>
            </a:r>
            <a:r>
              <a:rPr lang="es-ES" dirty="0"/>
              <a:t>).</a:t>
            </a:r>
          </a:p>
          <a:p>
            <a:r>
              <a:rPr lang="es-ES" b="1" dirty="0"/>
              <a:t>DELETE:</a:t>
            </a:r>
            <a:r>
              <a:rPr lang="es-ES" dirty="0"/>
              <a:t> Eliminar un recurso (ej.: cancelar una tarea programada).</a:t>
            </a:r>
          </a:p>
          <a:p>
            <a:pPr marL="0" indent="0">
              <a:buNone/>
            </a:pPr>
            <a:r>
              <a:rPr lang="es-ES" dirty="0"/>
              <a:t>Los datos (el recurso) se intercambian en un formato específico, típicamente </a:t>
            </a:r>
            <a:r>
              <a:rPr lang="es-ES" b="1" dirty="0"/>
              <a:t>JSON</a:t>
            </a:r>
            <a:r>
              <a:rPr lang="es-ES" dirty="0"/>
              <a:t> (el más común).</a:t>
            </a:r>
          </a:p>
        </p:txBody>
      </p:sp>
    </p:spTree>
    <p:extLst>
      <p:ext uri="{BB962C8B-B14F-4D97-AF65-F5344CB8AC3E}">
        <p14:creationId xmlns:p14="http://schemas.microsoft.com/office/powerpoint/2010/main" val="231526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584E9-48DB-7FD4-0970-143FF5B0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E9A3D2-5A1C-EC54-8C75-81D4AD0B8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 través de la misma </a:t>
            </a:r>
            <a:r>
              <a:rPr lang="es-ES" dirty="0" err="1"/>
              <a:t>Rest</a:t>
            </a:r>
            <a:r>
              <a:rPr lang="es-ES" dirty="0"/>
              <a:t> API, podemos hacer pruebas para ver qué información nos devuelve.</a:t>
            </a:r>
          </a:p>
          <a:p>
            <a:r>
              <a:rPr lang="es-ES" dirty="0"/>
              <a:t>Vamos a pedir, que nos de el estado del robot.</a:t>
            </a:r>
          </a:p>
          <a:p>
            <a:pPr marL="0" indent="0">
              <a:buNone/>
            </a:pPr>
            <a:r>
              <a:rPr lang="es-ES" dirty="0"/>
              <a:t>Utilizando CTRL-F, buscamos la palabra Status, hasta llegar aquí.</a:t>
            </a:r>
          </a:p>
          <a:p>
            <a:pPr marL="0" indent="0">
              <a:buNone/>
            </a:pPr>
            <a:r>
              <a:rPr lang="es-ES" dirty="0"/>
              <a:t>Haciendo </a:t>
            </a:r>
            <a:r>
              <a:rPr lang="es-ES" dirty="0" err="1"/>
              <a:t>click</a:t>
            </a:r>
            <a:r>
              <a:rPr lang="es-ES" dirty="0"/>
              <a:t> en cada parte, se abrirá como un desplegable.</a:t>
            </a:r>
          </a:p>
          <a:p>
            <a:pPr marL="0" indent="0">
              <a:buNone/>
            </a:pPr>
            <a:r>
              <a:rPr lang="es-ES" dirty="0"/>
              <a:t>Abrimos GET/status y le damos 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3B87CB-A156-01E9-15D8-FACAE3E3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639" y="2559439"/>
            <a:ext cx="4096322" cy="201005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4AE0B39-2577-EE91-1783-78ABE44C3013}"/>
              </a:ext>
            </a:extLst>
          </p:cNvPr>
          <p:cNvSpPr/>
          <p:nvPr/>
        </p:nvSpPr>
        <p:spPr>
          <a:xfrm>
            <a:off x="7206826" y="4027932"/>
            <a:ext cx="2678854" cy="497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CCC912-E3E4-5D27-EB1C-6619DDB7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710" y="3549227"/>
            <a:ext cx="2076740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3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05AB-2277-D643-480A-65AD4113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GET/status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979A6-7A3F-ADE8-EC89-DCA27B6D1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nos abre el siguiente desplegable. En este caso, no tenemos que escribir nada. Con darle a </a:t>
            </a:r>
            <a:r>
              <a:rPr lang="es-ES" dirty="0" err="1"/>
              <a:t>execute</a:t>
            </a:r>
            <a:r>
              <a:rPr lang="es-ES" dirty="0"/>
              <a:t>, podemos lanzar la petición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C20491-CACD-C5E3-54EA-C2307C91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480" y="2666492"/>
            <a:ext cx="7020560" cy="232471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4B75D83-68A0-D3DC-FADD-CECA6EB7E550}"/>
              </a:ext>
            </a:extLst>
          </p:cNvPr>
          <p:cNvSpPr/>
          <p:nvPr/>
        </p:nvSpPr>
        <p:spPr>
          <a:xfrm>
            <a:off x="4473786" y="4668012"/>
            <a:ext cx="6722534" cy="208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55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BA882-4C98-9A86-675D-08329E2D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GET/status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EFB7E7-D554-8106-5C44-2F7800F48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286376" cy="3849624"/>
          </a:xfrm>
        </p:spPr>
        <p:txBody>
          <a:bodyPr/>
          <a:lstStyle/>
          <a:p>
            <a:r>
              <a:rPr lang="es-ES" dirty="0"/>
              <a:t>Lo primero que vemos, es la petición que ha lanzado.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De aquí sacaremos la estructura que tendrá nuestra petición en </a:t>
            </a:r>
            <a:r>
              <a:rPr lang="es-ES" dirty="0" err="1"/>
              <a:t>node</a:t>
            </a:r>
            <a:r>
              <a:rPr lang="es-ES" dirty="0"/>
              <a:t>-red.</a:t>
            </a:r>
          </a:p>
          <a:p>
            <a:r>
              <a:rPr lang="es-ES" dirty="0"/>
              <a:t>Lo siguiente que vemos es el código de respuesta y la respuesta (si todo ha ido bien).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75EF46-33E7-35E3-85A5-4944369A8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82" y="2450472"/>
            <a:ext cx="9960798" cy="13275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95055C-C5EA-3254-3B28-3A1D8CE3B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281" y="3853819"/>
            <a:ext cx="3551836" cy="247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1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9C8F9-878A-00DE-0323-CB1953A0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Códigos de estado HTTP </a:t>
            </a:r>
            <a:r>
              <a:rPr lang="pt-BR" b="1" dirty="0" err="1"/>
              <a:t>principales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492CC-8E07-1B90-EEAE-C6FD0133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2xx – Éxito:</a:t>
            </a:r>
          </a:p>
          <a:p>
            <a:pPr lvl="1"/>
            <a:r>
              <a:rPr lang="es-ES" dirty="0"/>
              <a:t>Ejemplo: </a:t>
            </a:r>
            <a:r>
              <a:rPr lang="es-ES" b="1" dirty="0"/>
              <a:t>200 Ok</a:t>
            </a:r>
            <a:r>
              <a:rPr lang="es-ES" dirty="0"/>
              <a:t> - Solicitud exitosa.</a:t>
            </a:r>
          </a:p>
          <a:p>
            <a:r>
              <a:rPr lang="es-ES" b="1" dirty="0"/>
              <a:t>4xx - Error del </a:t>
            </a:r>
            <a:r>
              <a:rPr lang="es-ES" altLang="es-ES" sz="1400" b="1" dirty="0">
                <a:latin typeface="Arial" panose="020B0604020202020204" pitchFamily="34" charset="0"/>
              </a:rPr>
              <a:t>400 </a:t>
            </a:r>
            <a:r>
              <a:rPr lang="es-ES" altLang="es-ES" sz="1400" b="1" dirty="0" err="1">
                <a:latin typeface="Arial" panose="020B0604020202020204" pitchFamily="34" charset="0"/>
              </a:rPr>
              <a:t>Bad</a:t>
            </a:r>
            <a:r>
              <a:rPr lang="es-ES" altLang="es-ES" sz="1400" b="1" dirty="0">
                <a:latin typeface="Arial" panose="020B0604020202020204" pitchFamily="34" charset="0"/>
              </a:rPr>
              <a:t> </a:t>
            </a:r>
            <a:r>
              <a:rPr lang="es-ES" altLang="es-ES" sz="1400" b="1" dirty="0" err="1">
                <a:latin typeface="Arial" panose="020B0604020202020204" pitchFamily="34" charset="0"/>
              </a:rPr>
              <a:t>Request</a:t>
            </a:r>
            <a:r>
              <a:rPr lang="es-ES" altLang="es-ES" sz="1400" b="1" dirty="0">
                <a:latin typeface="Arial" panose="020B0604020202020204" pitchFamily="34" charset="0"/>
              </a:rPr>
              <a:t>:</a:t>
            </a:r>
            <a:r>
              <a:rPr lang="es-ES" altLang="es-ES" sz="1400" dirty="0">
                <a:latin typeface="Arial" panose="020B0604020202020204" pitchFamily="34" charset="0"/>
              </a:rPr>
              <a:t> </a:t>
            </a:r>
            <a:r>
              <a:rPr lang="es-ES" altLang="es-ES" sz="1400" dirty="0" err="1">
                <a:latin typeface="Arial" panose="020B0604020202020204" pitchFamily="34" charset="0"/>
              </a:rPr>
              <a:t>S</a:t>
            </a:r>
            <a:r>
              <a:rPr lang="es-ES" sz="1400" b="1" dirty="0" err="1"/>
              <a:t>cliente</a:t>
            </a:r>
            <a:r>
              <a:rPr lang="es-ES" sz="1400" b="1" dirty="0"/>
              <a:t>:</a:t>
            </a:r>
          </a:p>
          <a:p>
            <a:pPr lvl="1"/>
            <a:r>
              <a:rPr lang="es-ES" altLang="es-ES" sz="1400" dirty="0">
                <a:latin typeface="Arial" panose="020B0604020202020204" pitchFamily="34" charset="0"/>
              </a:rPr>
              <a:t>Solicitud mal formada (ej.: JSON inválido).</a:t>
            </a:r>
          </a:p>
          <a:p>
            <a:r>
              <a:rPr lang="es-ES" b="1" dirty="0"/>
              <a:t>5xx - Error del servidor:</a:t>
            </a:r>
          </a:p>
          <a:p>
            <a:pPr lvl="1"/>
            <a:r>
              <a:rPr lang="es-ES" b="1" dirty="0"/>
              <a:t>500 </a:t>
            </a:r>
            <a:r>
              <a:rPr lang="es-ES" b="1" dirty="0" err="1"/>
              <a:t>Internal</a:t>
            </a:r>
            <a:r>
              <a:rPr lang="es-ES" b="1" dirty="0"/>
              <a:t> Server Error:</a:t>
            </a:r>
            <a:r>
              <a:rPr lang="es-ES" dirty="0"/>
              <a:t> Error genérico del servidor (ej.: bug en el MIR 250).</a:t>
            </a:r>
          </a:p>
          <a:p>
            <a:pPr lvl="1"/>
            <a:endParaRPr lang="es-ES" dirty="0"/>
          </a:p>
          <a:p>
            <a:pPr marL="0" indent="0">
              <a:buNone/>
            </a:pPr>
            <a:r>
              <a:rPr lang="es-ES" b="1" dirty="0"/>
              <a:t>Los más comunes en el contexto MIR 250 + </a:t>
            </a:r>
            <a:r>
              <a:rPr lang="es-ES" b="1" dirty="0" err="1"/>
              <a:t>Node</a:t>
            </a:r>
            <a:r>
              <a:rPr lang="es-ES" b="1" dirty="0"/>
              <a:t>-RED:</a:t>
            </a:r>
            <a:r>
              <a:rPr lang="es-ES" dirty="0"/>
              <a:t> 200 (éxito), 400 (petición incorrecta), 404 (ruta/robot no encontrado), 500 (error interno del robot).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162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4A6FD-F389-B957-ED69-8EA0371F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POST/</a:t>
            </a:r>
            <a:r>
              <a:rPr lang="es-ES" dirty="0" err="1"/>
              <a:t>registers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2F02A0-0189-C412-1FD3-A4D78EEA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Vamos a buscar el siguiente </a:t>
            </a:r>
            <a:r>
              <a:rPr lang="es-ES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Le damos a Try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, y se despliega la siguiente pestaña.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98CD27-39D7-7B8C-D4A7-2627B2DB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179" y="2014194"/>
            <a:ext cx="3753374" cy="5048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0C2B2C-41E6-A64C-05F0-CDF1AC20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793" y="3138378"/>
            <a:ext cx="5895473" cy="258103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0C73F07-3387-B796-A4DA-421CE0ACE13E}"/>
              </a:ext>
            </a:extLst>
          </p:cNvPr>
          <p:cNvCxnSpPr>
            <a:cxnSpLocks/>
          </p:cNvCxnSpPr>
          <p:nvPr/>
        </p:nvCxnSpPr>
        <p:spPr>
          <a:xfrm flipH="1">
            <a:off x="6451600" y="3564467"/>
            <a:ext cx="98213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5CB6AE3-4B0C-3835-DA10-BE895265726F}"/>
              </a:ext>
            </a:extLst>
          </p:cNvPr>
          <p:cNvSpPr txBox="1"/>
          <p:nvPr/>
        </p:nvSpPr>
        <p:spPr>
          <a:xfrm>
            <a:off x="7375171" y="3410578"/>
            <a:ext cx="3283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Registro PLC que queremos modificar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A70970-6E96-E8C5-F445-940145225AFA}"/>
              </a:ext>
            </a:extLst>
          </p:cNvPr>
          <p:cNvSpPr txBox="1"/>
          <p:nvPr/>
        </p:nvSpPr>
        <p:spPr>
          <a:xfrm>
            <a:off x="7433733" y="4655178"/>
            <a:ext cx="2312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Valor que queremos darle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5906775-34A8-095F-B59E-6294E0807A10}"/>
              </a:ext>
            </a:extLst>
          </p:cNvPr>
          <p:cNvCxnSpPr>
            <a:cxnSpLocks/>
          </p:cNvCxnSpPr>
          <p:nvPr/>
        </p:nvCxnSpPr>
        <p:spPr>
          <a:xfrm flipH="1">
            <a:off x="4487334" y="4809067"/>
            <a:ext cx="294639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A37311D-D94A-1691-7F49-451C9CF621C4}"/>
              </a:ext>
            </a:extLst>
          </p:cNvPr>
          <p:cNvCxnSpPr>
            <a:cxnSpLocks/>
          </p:cNvCxnSpPr>
          <p:nvPr/>
        </p:nvCxnSpPr>
        <p:spPr>
          <a:xfrm flipH="1" flipV="1">
            <a:off x="5334000" y="4938330"/>
            <a:ext cx="2099733" cy="1501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25F243-C7CF-BAD5-8FB7-1D903492D3D7}"/>
              </a:ext>
            </a:extLst>
          </p:cNvPr>
          <p:cNvSpPr txBox="1"/>
          <p:nvPr/>
        </p:nvSpPr>
        <p:spPr>
          <a:xfrm>
            <a:off x="7375171" y="4916682"/>
            <a:ext cx="2576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Nombre que queremos darle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B89BB7B-9967-EC5C-BF37-265DAF4C1A38}"/>
              </a:ext>
            </a:extLst>
          </p:cNvPr>
          <p:cNvSpPr txBox="1"/>
          <p:nvPr/>
        </p:nvSpPr>
        <p:spPr>
          <a:xfrm>
            <a:off x="1647311" y="5798855"/>
            <a:ext cx="7982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*Si nos interesa cambiar solamente el valor, y no el nombre, podemos quitar el parámetro </a:t>
            </a:r>
            <a:r>
              <a:rPr lang="es-ES" sz="1400" dirty="0" err="1"/>
              <a:t>label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213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4A2E-C447-4A12-26B4-CD3062BE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POST/</a:t>
            </a:r>
            <a:r>
              <a:rPr lang="es-ES" dirty="0" err="1"/>
              <a:t>registers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BA6B06-50A5-33F7-16AD-C2BC70BCE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494867" cy="3849624"/>
          </a:xfrm>
        </p:spPr>
        <p:txBody>
          <a:bodyPr/>
          <a:lstStyle/>
          <a:p>
            <a:r>
              <a:rPr lang="es-ES" dirty="0"/>
              <a:t>Para lanzar el comando </a:t>
            </a:r>
            <a:r>
              <a:rPr lang="es-ES" dirty="0">
                <a:sym typeface="Wingdings" panose="05000000000000000000" pitchFamily="2" charset="2"/>
              </a:rPr>
              <a:t></a:t>
            </a:r>
          </a:p>
          <a:p>
            <a:r>
              <a:rPr lang="es-ES" dirty="0">
                <a:sym typeface="Wingdings" panose="05000000000000000000" pitchFamily="2" charset="2"/>
              </a:rPr>
              <a:t>Nos aparece debajo la respuesta del MIR.</a:t>
            </a:r>
          </a:p>
          <a:p>
            <a:r>
              <a:rPr lang="es-ES" dirty="0">
                <a:sym typeface="Wingdings" panose="05000000000000000000" pitchFamily="2" charset="2"/>
              </a:rPr>
              <a:t>Y más abajo podemos ver las posibles respuestas.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dirty="0">
                <a:sym typeface="Wingdings" panose="05000000000000000000" pitchFamily="2" charset="2"/>
              </a:rPr>
              <a:t>En el panel de PLC </a:t>
            </a:r>
            <a:r>
              <a:rPr lang="es-ES" dirty="0" err="1">
                <a:sym typeface="Wingdings" panose="05000000000000000000" pitchFamily="2" charset="2"/>
              </a:rPr>
              <a:t>registers</a:t>
            </a:r>
            <a:r>
              <a:rPr lang="es-ES" dirty="0">
                <a:sym typeface="Wingdings" panose="05000000000000000000" pitchFamily="2" charset="2"/>
              </a:rPr>
              <a:t> del MIR250, podremos ver que se ha modificado el valor.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E50DC8-79BF-3C8F-7095-139EEC24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618" y="2103120"/>
            <a:ext cx="866896" cy="362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5129B4-6B1F-F52F-6F24-3D1B3F11E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32" y="2465121"/>
            <a:ext cx="4292247" cy="26182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93EFC8-5946-2415-77C9-DF5A0F805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729" y="4519038"/>
            <a:ext cx="4887007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9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C4E5-1C5D-EC21-00E3-E4B83D9E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Node</a:t>
            </a:r>
            <a:r>
              <a:rPr lang="es-ES" dirty="0"/>
              <a:t>-red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A7A99A-36D1-6B92-4E47-745A52E91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 err="1"/>
              <a:t>node</a:t>
            </a:r>
            <a:r>
              <a:rPr lang="es-ES" dirty="0"/>
              <a:t>-red, tenemos que hacer la misma petición. Empezamos con el estado.</a:t>
            </a:r>
          </a:p>
          <a:p>
            <a:r>
              <a:rPr lang="es-ES" dirty="0"/>
              <a:t>Para ello vamos a hacer esta petición a un </a:t>
            </a:r>
            <a:r>
              <a:rPr lang="es-ES" dirty="0" err="1"/>
              <a:t>chatbot</a:t>
            </a:r>
            <a:r>
              <a:rPr lang="es-ES" dirty="0"/>
              <a:t> de nuestra elección.</a:t>
            </a:r>
          </a:p>
          <a:p>
            <a:pPr lvl="1"/>
            <a:r>
              <a:rPr lang="es-ES" dirty="0"/>
              <a:t>Diseña un flujo en </a:t>
            </a:r>
            <a:r>
              <a:rPr lang="es-ES" dirty="0" err="1"/>
              <a:t>Node</a:t>
            </a:r>
            <a:r>
              <a:rPr lang="es-ES" dirty="0"/>
              <a:t>-RED que realice una petición </a:t>
            </a:r>
            <a:r>
              <a:rPr lang="es-ES" b="1" dirty="0"/>
              <a:t>GET</a:t>
            </a:r>
            <a:r>
              <a:rPr lang="es-ES" dirty="0"/>
              <a:t> al </a:t>
            </a:r>
            <a:r>
              <a:rPr lang="es-ES" dirty="0" err="1"/>
              <a:t>endpoint</a:t>
            </a:r>
            <a:r>
              <a:rPr lang="es-ES" dirty="0"/>
              <a:t> </a:t>
            </a:r>
            <a:r>
              <a:rPr lang="es-ES" b="1" dirty="0"/>
              <a:t>/status</a:t>
            </a:r>
            <a:r>
              <a:rPr lang="es-ES" dirty="0"/>
              <a:t> de una API REST (por ejemplo, de un robot MIR 250). Se conciso y no compliques el código, es para un ejemplo didáctico.</a:t>
            </a:r>
          </a:p>
          <a:p>
            <a:r>
              <a:rPr lang="es-ES" dirty="0"/>
              <a:t>Lo mínimo que vamos a necesitas, es un </a:t>
            </a:r>
            <a:r>
              <a:rPr lang="es-ES" dirty="0" err="1"/>
              <a:t>inject</a:t>
            </a:r>
            <a:r>
              <a:rPr lang="es-ES" dirty="0"/>
              <a:t> y el nodo http </a:t>
            </a:r>
            <a:r>
              <a:rPr lang="es-ES" dirty="0" err="1"/>
              <a:t>request</a:t>
            </a:r>
            <a:r>
              <a:rPr lang="es-ES" dirty="0"/>
              <a:t>.</a:t>
            </a:r>
          </a:p>
          <a:p>
            <a:r>
              <a:rPr lang="es-ES" dirty="0"/>
              <a:t>Después, necesitaremos un nodo para sacar/procesar la </a:t>
            </a:r>
            <a:r>
              <a:rPr lang="es-ES" dirty="0" err="1"/>
              <a:t>info</a:t>
            </a:r>
            <a:r>
              <a:rPr lang="es-ES" dirty="0"/>
              <a:t>, o por lo menos verla en el </a:t>
            </a:r>
            <a:r>
              <a:rPr lang="es-ES" dirty="0" err="1"/>
              <a:t>debug</a:t>
            </a:r>
            <a:r>
              <a:rPr lang="es-ES" dirty="0"/>
              <a:t>. El flujo básico será este.</a:t>
            </a:r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E0BD34-D610-8A65-29DC-1ADE2E6C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53" y="4421131"/>
            <a:ext cx="6763694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53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0AAD8-E1FE-C56C-A7C0-2AA2C82F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Node</a:t>
            </a:r>
            <a:r>
              <a:rPr lang="es-ES" dirty="0"/>
              <a:t>-red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5CAFA4-54D5-7531-F3EB-5B6726D4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único nodo que tenemos que modificar aquí es “solicitud http”.</a:t>
            </a:r>
          </a:p>
          <a:p>
            <a:r>
              <a:rPr lang="es-ES" dirty="0"/>
              <a:t> Método: GET/POST/PUT…</a:t>
            </a:r>
          </a:p>
          <a:p>
            <a:r>
              <a:rPr lang="es-ES" dirty="0"/>
              <a:t>URL: Dirección donde hacemos la petición.</a:t>
            </a:r>
          </a:p>
          <a:p>
            <a:r>
              <a:rPr lang="es-ES" dirty="0"/>
              <a:t>Devolver: Queremos un objeto JSON.</a:t>
            </a:r>
          </a:p>
          <a:p>
            <a:r>
              <a:rPr lang="es-ES" dirty="0" err="1"/>
              <a:t>Authorization</a:t>
            </a:r>
            <a:r>
              <a:rPr lang="es-ES" dirty="0"/>
              <a:t>: Basic XXXXX</a:t>
            </a:r>
          </a:p>
          <a:p>
            <a:r>
              <a:rPr lang="es-ES" dirty="0"/>
              <a:t>Content-</a:t>
            </a:r>
            <a:r>
              <a:rPr lang="es-ES" dirty="0" err="1"/>
              <a:t>Type</a:t>
            </a:r>
            <a:r>
              <a:rPr lang="es-ES" dirty="0"/>
              <a:t>: </a:t>
            </a:r>
            <a:r>
              <a:rPr lang="es-ES" dirty="0" err="1"/>
              <a:t>application</a:t>
            </a:r>
            <a:r>
              <a:rPr lang="es-ES" dirty="0"/>
              <a:t>/</a:t>
            </a:r>
            <a:r>
              <a:rPr lang="es-ES" dirty="0" err="1"/>
              <a:t>json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*La </a:t>
            </a:r>
            <a:r>
              <a:rPr lang="es-ES" dirty="0" err="1"/>
              <a:t>info</a:t>
            </a:r>
            <a:r>
              <a:rPr lang="es-ES" dirty="0"/>
              <a:t> está casi toda en las peticiones que hemos visto antes.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B3B1CE-A1D1-3D38-4588-7898712F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70" y="642594"/>
            <a:ext cx="3661303" cy="577088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2A75E69-7B08-63C2-DD77-B97E9A04B15B}"/>
              </a:ext>
            </a:extLst>
          </p:cNvPr>
          <p:cNvSpPr/>
          <p:nvPr/>
        </p:nvSpPr>
        <p:spPr>
          <a:xfrm>
            <a:off x="8569483" y="2014194"/>
            <a:ext cx="2443957" cy="261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FB0183-4B4E-4D66-9539-8115601A0563}"/>
              </a:ext>
            </a:extLst>
          </p:cNvPr>
          <p:cNvSpPr/>
          <p:nvPr/>
        </p:nvSpPr>
        <p:spPr>
          <a:xfrm>
            <a:off x="8569483" y="1666188"/>
            <a:ext cx="2443957" cy="261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89DD619-8DC3-6E43-0187-B1C2ACD64CEE}"/>
              </a:ext>
            </a:extLst>
          </p:cNvPr>
          <p:cNvSpPr/>
          <p:nvPr/>
        </p:nvSpPr>
        <p:spPr>
          <a:xfrm>
            <a:off x="8681243" y="4320515"/>
            <a:ext cx="2332197" cy="261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3FF43A-495B-C44B-41A7-AABBCE1F1C79}"/>
              </a:ext>
            </a:extLst>
          </p:cNvPr>
          <p:cNvSpPr/>
          <p:nvPr/>
        </p:nvSpPr>
        <p:spPr>
          <a:xfrm>
            <a:off x="7858283" y="5397475"/>
            <a:ext cx="3368517" cy="261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6F5E86-DEF8-C0A1-7112-B4D05CAFA7C6}"/>
              </a:ext>
            </a:extLst>
          </p:cNvPr>
          <p:cNvSpPr/>
          <p:nvPr/>
        </p:nvSpPr>
        <p:spPr>
          <a:xfrm>
            <a:off x="7856562" y="5774651"/>
            <a:ext cx="3368517" cy="261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BA8CD9-300A-415C-E0E9-7A1A643F2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82" y="5484753"/>
            <a:ext cx="6313358" cy="84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4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780C886B-A7D5-FAA8-4C35-728505458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845669"/>
            <a:ext cx="2562583" cy="9907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7F14D6-EF2F-0160-D642-DAB50C764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Node</a:t>
            </a:r>
            <a:r>
              <a:rPr lang="es-ES" dirty="0"/>
              <a:t>-red - Status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9F39BB-FF5A-447E-8CA5-698C13E8F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7569200" cy="3849624"/>
          </a:xfrm>
        </p:spPr>
        <p:txBody>
          <a:bodyPr/>
          <a:lstStyle/>
          <a:p>
            <a:r>
              <a:rPr lang="es-ES" dirty="0"/>
              <a:t>Instanciamos, y lanzando el flujo, vemos que nos devuelve mucha </a:t>
            </a:r>
            <a:r>
              <a:rPr lang="es-ES" dirty="0" err="1"/>
              <a:t>info</a:t>
            </a:r>
            <a:r>
              <a:rPr lang="es-ES" dirty="0"/>
              <a:t> sobre el estado del robot.</a:t>
            </a:r>
          </a:p>
          <a:p>
            <a:r>
              <a:rPr lang="es-ES" dirty="0"/>
              <a:t>Puede ser, que sólo necesitemos parte de esta información, para ello, pondremos una función después, que se quede con lo que buscamos.</a:t>
            </a:r>
          </a:p>
          <a:p>
            <a:r>
              <a:rPr lang="es-ES" dirty="0"/>
              <a:t>Vamos a suponer que sólo nos interesa el % de batería y el </a:t>
            </a:r>
            <a:r>
              <a:rPr lang="es-ES" dirty="0" err="1"/>
              <a:t>state_text</a:t>
            </a:r>
            <a:r>
              <a:rPr lang="es-ES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154041-5B80-F8D0-3CBB-89738F995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731520"/>
            <a:ext cx="2963138" cy="55811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47F0C4-B98A-1049-0689-6ED5B08C3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774406"/>
            <a:ext cx="7406011" cy="5070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12E334-D878-AB26-E929-6FEEC8B56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50" y="4369418"/>
            <a:ext cx="3253590" cy="1943240"/>
          </a:xfrm>
          <a:prstGeom prst="rect">
            <a:avLst/>
          </a:prstGeom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2104BF11-FDA3-FC0F-66DB-09B917BF764E}"/>
              </a:ext>
            </a:extLst>
          </p:cNvPr>
          <p:cNvSpPr/>
          <p:nvPr/>
        </p:nvSpPr>
        <p:spPr>
          <a:xfrm>
            <a:off x="4104640" y="5249332"/>
            <a:ext cx="1181947" cy="3128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824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98E84-76B4-1D54-9573-82AB970C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Node</a:t>
            </a:r>
            <a:r>
              <a:rPr lang="es-ES" dirty="0"/>
              <a:t>-red – Modificar registro PLC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82129F-FD5E-D1DF-3977-DDE50458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este caso, por delante del nodo de solicitud http, necesitaremos un nodo función donde le diremos el valor del registro PLC.</a:t>
            </a:r>
          </a:p>
          <a:p>
            <a:r>
              <a:rPr lang="es-ES" dirty="0"/>
              <a:t>El nodo </a:t>
            </a:r>
            <a:r>
              <a:rPr lang="es-ES" dirty="0" err="1"/>
              <a:t>debug</a:t>
            </a:r>
            <a:r>
              <a:rPr lang="es-ES" dirty="0"/>
              <a:t> sólo se pone para comprobar en </a:t>
            </a:r>
            <a:r>
              <a:rPr lang="es-ES" dirty="0" err="1"/>
              <a:t>node</a:t>
            </a:r>
            <a:r>
              <a:rPr lang="es-ES" dirty="0"/>
              <a:t>-red que la conexión es correcta y que se manda el dato.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47BB46-02C9-F7FF-2E78-D7CFB340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87117"/>
            <a:ext cx="10412278" cy="7716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BFF58B-4F12-0E90-33F6-CED9DD66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769" y="4208507"/>
            <a:ext cx="3875441" cy="8466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418AF09-E6A9-0A72-F1C4-75D8ED8E3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500" y="4131681"/>
            <a:ext cx="1905266" cy="100026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4F3627-6C71-456C-9319-7683381D1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3235" y="3958750"/>
            <a:ext cx="2657846" cy="166710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9D6E8C2-A94A-8A39-7EA7-32D1DA05A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583" y="5285238"/>
            <a:ext cx="494416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5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82A36-8AAF-9C2C-C307-7420FB9C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Node</a:t>
            </a:r>
            <a:r>
              <a:rPr lang="es-ES" dirty="0"/>
              <a:t>-red: herramienta de comunicación y programación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18F7CD-42E0-2C57-8BF8-38CF88C55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Podemos llegar a lanzar misiones, parar misiones, comprobar parámetros del robot.</a:t>
            </a:r>
          </a:p>
          <a:p>
            <a:r>
              <a:rPr lang="es-ES" dirty="0"/>
              <a:t>Lo interesante de todo esto, es unirlo con el PLC, para poder comunicar en tiempo real toda la planta.</a:t>
            </a:r>
          </a:p>
          <a:p>
            <a:r>
              <a:rPr lang="es-ES" dirty="0"/>
              <a:t>En </a:t>
            </a:r>
            <a:r>
              <a:rPr lang="es-ES" dirty="0" err="1"/>
              <a:t>node</a:t>
            </a:r>
            <a:r>
              <a:rPr lang="es-ES" dirty="0"/>
              <a:t>-red podemos hacer distintas operaciones, ya que las funciones son sitios donde podemos programar lo </a:t>
            </a:r>
            <a:r>
              <a:rPr lang="es-ES"/>
              <a:t>que queramos.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9821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29_TF56219246.potx" id="{F5AEA1D6-3467-4410-B96B-0D67AC8BB026}" vid="{8035A50F-42EA-4732-82EE-B622A3D2CB2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{2665CB2F-3E54-44B8-8DB4-3A6C3A4D87DC}TF993b3720-55e5-4d3e-ae7c-1ec77a73f5a46051cb8e_win32-06c34901eb4e</Template>
  <TotalTime>2692</TotalTime>
  <Words>1037</Words>
  <Application>Microsoft Office PowerPoint</Application>
  <PresentationFormat>Panorámica</PresentationFormat>
  <Paragraphs>89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Avenir Next LT Pro</vt:lpstr>
      <vt:lpstr>Avenir Next LT Pro Light</vt:lpstr>
      <vt:lpstr>Calibri</vt:lpstr>
      <vt:lpstr>Garamond</vt:lpstr>
      <vt:lpstr>Wingdings</vt:lpstr>
      <vt:lpstr>SavonVTI</vt:lpstr>
      <vt:lpstr>MIR250 API Rest + Conexión node-red</vt:lpstr>
      <vt:lpstr>Cómo acceder a REST API</vt:lpstr>
      <vt:lpstr>¿Qué es una REST API?</vt:lpstr>
      <vt:lpstr>Para que nos entendamos…</vt:lpstr>
      <vt:lpstr>Operaciones basadas en métodos HTTP</vt:lpstr>
      <vt:lpstr>Ejemplo</vt:lpstr>
      <vt:lpstr>Ejemplo GET/status</vt:lpstr>
      <vt:lpstr>Ejemplo GET/status</vt:lpstr>
      <vt:lpstr>Códigos de estado HTTP principales</vt:lpstr>
      <vt:lpstr>Ejemplo POST/registers</vt:lpstr>
      <vt:lpstr>Ejemplo POST/registers</vt:lpstr>
      <vt:lpstr>Node-red</vt:lpstr>
      <vt:lpstr>Node-red</vt:lpstr>
      <vt:lpstr>Node-red - Status</vt:lpstr>
      <vt:lpstr>Node-red – Modificar registro PLC</vt:lpstr>
      <vt:lpstr>Node-red: herramienta de comunicación y programación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Ander Maiz Barba</dc:creator>
  <cp:lastModifiedBy>Jon Ander Maiz Barba</cp:lastModifiedBy>
  <cp:revision>10</cp:revision>
  <dcterms:created xsi:type="dcterms:W3CDTF">2025-12-09T10:25:45Z</dcterms:created>
  <dcterms:modified xsi:type="dcterms:W3CDTF">2025-12-12T11:48:35Z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